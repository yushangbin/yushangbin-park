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7705789" r:id="rId6"/>
    <p:sldId id="7705821" r:id="rId7"/>
    <p:sldId id="7705803" r:id="rId8"/>
    <p:sldId id="7705825" r:id="rId9"/>
    <p:sldId id="7705800" r:id="rId10"/>
    <p:sldId id="7705792" r:id="rId11"/>
    <p:sldId id="7705814" r:id="rId12"/>
    <p:sldId id="7705808" r:id="rId13"/>
    <p:sldId id="7705807" r:id="rId14"/>
    <p:sldId id="7705820" r:id="rId15"/>
    <p:sldId id="7705822" r:id="rId16"/>
    <p:sldId id="7705823" r:id="rId17"/>
    <p:sldId id="7705824" r:id="rId18"/>
    <p:sldId id="7705804" r:id="rId19"/>
    <p:sldId id="7705828" r:id="rId20"/>
    <p:sldId id="7705795" r:id="rId21"/>
    <p:sldId id="7705830" r:id="rId22"/>
    <p:sldId id="7705829" r:id="rId23"/>
    <p:sldId id="7705826" r:id="rId24"/>
    <p:sldId id="366" r:id="rId25"/>
  </p:sldIdLst>
  <p:sldSz cx="24384000" cy="13716000"/>
  <p:notesSz cx="6858000" cy="9144000"/>
  <p:embeddedFontLst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30"/>
    <p:restoredTop sz="84091"/>
  </p:normalViewPr>
  <p:slideViewPr>
    <p:cSldViewPr snapToGrid="0" snapToObjects="1">
      <p:cViewPr varScale="1">
        <p:scale>
          <a:sx n="52" d="100"/>
          <a:sy n="52" d="100"/>
        </p:scale>
        <p:origin x="108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56" name="Shape 15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1pPr>
    <a:lvl2pPr indent="2286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2pPr>
    <a:lvl3pPr indent="4572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3pPr>
    <a:lvl4pPr indent="6858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4pPr>
    <a:lvl5pPr indent="9144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5pPr>
    <a:lvl6pPr indent="11430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6pPr>
    <a:lvl7pPr indent="13716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7pPr>
    <a:lvl8pPr indent="16002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8pPr>
    <a:lvl9pPr indent="18288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r>
              <a:rPr lang="en-US" altLang="zh-CN"/>
              <a:t>NVME-</a:t>
            </a:r>
            <a:r>
              <a:rPr lang="en-US" altLang="zh-CN"/>
              <a:t>OF</a:t>
            </a:r>
            <a:endParaRPr lang="en-US" altLang="zh-CN"/>
          </a:p>
          <a:p>
            <a:r>
              <a:rPr lang="en-US" altLang="zh-CN"/>
              <a:t>AI Network/</a:t>
            </a:r>
            <a:r>
              <a:rPr lang="zh-CN" altLang="en-US"/>
              <a:t>参数网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r>
              <a:rPr lang="en-US" altLang="zh-CN">
                <a:ea typeface="宋体" charset="0"/>
                <a:sym typeface="+mn-ea"/>
              </a:rPr>
              <a:t>DCB(Data Center Bridge) for selected traffic, to eliminate loss due to queue overflow (sometimes called lossless Ethernet) and to be able to allocate bandwidth on links. </a:t>
            </a:r>
            <a:endParaRPr lang="en-US" altLang="zh-CN">
              <a:ea typeface="宋体" charset="0"/>
            </a:endParaRPr>
          </a:p>
          <a:p>
            <a:r>
              <a:rPr lang="en-US" altLang="zh-CN">
                <a:ea typeface="宋体" charset="0"/>
                <a:sym typeface="+mn-ea"/>
              </a:rPr>
              <a:t>ETS is a DCB feature that allows allocation of bandwidth on a NIC to applications based on their DCB priority.</a:t>
            </a:r>
            <a:endParaRPr lang="en-US" altLang="zh-CN">
              <a:ea typeface="宋体" charset="0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r>
              <a:rPr lang="en-US" altLang="zh-CN"/>
              <a:t>COS: Class of Service in VLAN TCI</a:t>
            </a:r>
            <a:endParaRPr lang="en-US" altLang="zh-CN"/>
          </a:p>
          <a:p>
            <a:r>
              <a:rPr lang="en-US" altLang="zh-CN">
                <a:ea typeface="宋体" charset="0"/>
              </a:rPr>
              <a:t>DSCP: Differentiated Services Code Point in IP</a:t>
            </a:r>
            <a:endParaRPr lang="en-US" altLang="zh-CN">
              <a:ea typeface="宋体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r>
              <a:rPr lang="en-US" altLang="zh-CN"/>
              <a:t>COS: Class of Service in VLAN TCI</a:t>
            </a:r>
            <a:endParaRPr lang="en-US" altLang="zh-CN"/>
          </a:p>
          <a:p>
            <a:r>
              <a:rPr lang="en-US" altLang="zh-CN">
                <a:ea typeface="宋体" charset="0"/>
              </a:rPr>
              <a:t>DSCP: Differentiated Services Code Point in IP</a:t>
            </a:r>
            <a:endParaRPr lang="en-US" altLang="zh-CN">
              <a:ea typeface="宋体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r>
              <a:rPr lang="en-US" altLang="zh-CN"/>
              <a:t>COS: Class of Service in VLAN TCI</a:t>
            </a:r>
            <a:endParaRPr lang="en-US" altLang="zh-CN"/>
          </a:p>
          <a:p>
            <a:r>
              <a:rPr lang="en-US" altLang="zh-CN">
                <a:ea typeface="宋体" charset="0"/>
              </a:rPr>
              <a:t>DSCP: Differentiated Services Code Point in IP</a:t>
            </a:r>
            <a:endParaRPr lang="en-US" altLang="zh-CN">
              <a:ea typeface="宋体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r>
              <a:rPr lang="en-US" altLang="zh-CN"/>
              <a:t>COS: Class of Service in VLAN TCI</a:t>
            </a:r>
            <a:endParaRPr lang="en-US" altLang="zh-CN"/>
          </a:p>
          <a:p>
            <a:r>
              <a:rPr lang="en-US" altLang="zh-CN">
                <a:ea typeface="宋体" charset="0"/>
              </a:rPr>
              <a:t>DSCP: Differentiated Services Code Point in IP</a:t>
            </a:r>
            <a:endParaRPr lang="en-US" altLang="zh-CN">
              <a:ea typeface="宋体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r>
              <a:rPr lang="en-US" altLang="zh-CN">
                <a:ea typeface="宋体" charset="0"/>
              </a:rPr>
              <a:t>DCB(Data Center Bridge) for selected traffic, to eliminate loss due to queue overflow (sometimes called lossless Ethernet) and to be able to allocate bandwidth on links. </a:t>
            </a:r>
            <a:endParaRPr lang="en-US" altLang="zh-CN">
              <a:ea typeface="宋体" charset="0"/>
            </a:endParaRPr>
          </a:p>
          <a:p>
            <a:r>
              <a:rPr lang="en-US" altLang="zh-CN">
                <a:ea typeface="宋体" charset="0"/>
              </a:rPr>
              <a:t>ETS is a DCB feature that allows allocation of bandwidth on a NIC to applications based on their DCB priority.</a:t>
            </a:r>
            <a:endParaRPr lang="en-US" altLang="zh-CN">
              <a:ea typeface="宋体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"/>
          <p:cNvSpPr/>
          <p:nvPr/>
        </p:nvSpPr>
        <p:spPr>
          <a:xfrm>
            <a:off x="0" y="0"/>
            <a:ext cx="24384000" cy="11179969"/>
          </a:xfrm>
          <a:prstGeom prst="rect">
            <a:avLst/>
          </a:prstGeom>
          <a:gradFill>
            <a:gsLst>
              <a:gs pos="1408">
                <a:srgbClr val="69A7C8"/>
              </a:gs>
              <a:gs pos="100000">
                <a:srgbClr val="5A2EC3"/>
              </a:gs>
            </a:gsLst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>
                    <a:alpha val="63813"/>
                  </a:srgbClr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pic>
        <p:nvPicPr>
          <p:cNvPr id="19" name="图像" descr="图像"/>
          <p:cNvPicPr>
            <a:picLocks noChangeAspect="1"/>
          </p:cNvPicPr>
          <p:nvPr/>
        </p:nvPicPr>
        <p:blipFill>
          <a:blip r:embed="rId2">
            <a:alphaModFix amt="10000"/>
          </a:blip>
          <a:srcRect l="4977" t="5000" r="1925" b="19116"/>
          <a:stretch>
            <a:fillRect/>
          </a:stretch>
        </p:blipFill>
        <p:spPr>
          <a:xfrm>
            <a:off x="0" y="-7011"/>
            <a:ext cx="24384000" cy="1117983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" name="EASYSTACK CONFIDENTIAL"/>
          <p:cNvSpPr txBox="1"/>
          <p:nvPr/>
        </p:nvSpPr>
        <p:spPr>
          <a:xfrm>
            <a:off x="10071348" y="12702449"/>
            <a:ext cx="4241304" cy="469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2400" b="0">
                <a:solidFill>
                  <a:srgbClr val="424242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EASYSTACK CONFIDENTIAL</a:t>
            </a:r>
          </a:p>
        </p:txBody>
      </p:sp>
      <p:sp>
        <p:nvSpPr>
          <p:cNvPr id="2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422400" y="2772833"/>
            <a:ext cx="20828000" cy="4648201"/>
          </a:xfrm>
          <a:prstGeom prst="rect">
            <a:avLst/>
          </a:prstGeom>
        </p:spPr>
        <p:txBody>
          <a:bodyPr anchor="t"/>
          <a:lstStyle>
            <a:lvl1pPr algn="l">
              <a:defRPr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标题文本</a:t>
            </a:r>
          </a:p>
        </p:txBody>
      </p:sp>
      <p:pic>
        <p:nvPicPr>
          <p:cNvPr id="22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480" y="11982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 - 居中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线条"/>
          <p:cNvSpPr/>
          <p:nvPr/>
        </p:nvSpPr>
        <p:spPr>
          <a:xfrm>
            <a:off x="3445933" y="2904066"/>
            <a:ext cx="9511047" cy="1"/>
          </a:xfrm>
          <a:prstGeom prst="line">
            <a:avLst/>
          </a:prstGeom>
          <a:ln w="25400">
            <a:solidFill>
              <a:srgbClr val="775CDE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sp>
        <p:nvSpPr>
          <p:cNvPr id="38" name="线条"/>
          <p:cNvSpPr/>
          <p:nvPr/>
        </p:nvSpPr>
        <p:spPr>
          <a:xfrm flipH="1">
            <a:off x="5596466" y="1465698"/>
            <a:ext cx="1" cy="2506574"/>
          </a:xfrm>
          <a:prstGeom prst="line">
            <a:avLst/>
          </a:prstGeom>
          <a:ln w="25400">
            <a:solidFill>
              <a:srgbClr val="775CDE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sp>
        <p:nvSpPr>
          <p:cNvPr id="39" name="线条"/>
          <p:cNvSpPr/>
          <p:nvPr/>
        </p:nvSpPr>
        <p:spPr>
          <a:xfrm>
            <a:off x="12302066" y="10772868"/>
            <a:ext cx="9511048" cy="1"/>
          </a:xfrm>
          <a:prstGeom prst="line">
            <a:avLst/>
          </a:prstGeom>
          <a:ln w="25400">
            <a:solidFill>
              <a:srgbClr val="775CDE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sp>
        <p:nvSpPr>
          <p:cNvPr id="40" name="线条"/>
          <p:cNvSpPr/>
          <p:nvPr/>
        </p:nvSpPr>
        <p:spPr>
          <a:xfrm>
            <a:off x="19701934" y="9334499"/>
            <a:ext cx="1" cy="2506574"/>
          </a:xfrm>
          <a:prstGeom prst="line">
            <a:avLst/>
          </a:prstGeom>
          <a:ln w="25400">
            <a:solidFill>
              <a:srgbClr val="775CDE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sp>
        <p:nvSpPr>
          <p:cNvPr id="41" name="EASYSTACK CONFIDENTIAL"/>
          <p:cNvSpPr txBox="1"/>
          <p:nvPr/>
        </p:nvSpPr>
        <p:spPr>
          <a:xfrm>
            <a:off x="10071348" y="12702449"/>
            <a:ext cx="4241304" cy="469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2400" b="0">
                <a:solidFill>
                  <a:srgbClr val="424242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EASYSTACK CONFIDENTIAL</a:t>
            </a:r>
          </a:p>
        </p:txBody>
      </p:sp>
      <p:sp>
        <p:nvSpPr>
          <p:cNvPr id="42" name="线条"/>
          <p:cNvSpPr/>
          <p:nvPr/>
        </p:nvSpPr>
        <p:spPr>
          <a:xfrm>
            <a:off x="9802010" y="6062133"/>
            <a:ext cx="4779980" cy="1"/>
          </a:xfrm>
          <a:prstGeom prst="line">
            <a:avLst/>
          </a:prstGeom>
          <a:ln w="25400">
            <a:solidFill>
              <a:srgbClr val="A9A9A9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sp>
        <p:nvSpPr>
          <p:cNvPr id="43" name="线条"/>
          <p:cNvSpPr/>
          <p:nvPr/>
        </p:nvSpPr>
        <p:spPr>
          <a:xfrm>
            <a:off x="9802010" y="7162800"/>
            <a:ext cx="4779980" cy="0"/>
          </a:xfrm>
          <a:prstGeom prst="line">
            <a:avLst/>
          </a:prstGeom>
          <a:ln w="25400">
            <a:solidFill>
              <a:srgbClr val="A9A9A9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sp>
        <p:nvSpPr>
          <p:cNvPr id="44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778000" y="6104130"/>
            <a:ext cx="20828000" cy="1016673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r>
              <a:t>标题文本</a:t>
            </a:r>
          </a:p>
        </p:txBody>
      </p:sp>
      <p:pic>
        <p:nvPicPr>
          <p:cNvPr id="45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左边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"/>
          <p:cNvSpPr/>
          <p:nvPr/>
        </p:nvSpPr>
        <p:spPr>
          <a:xfrm>
            <a:off x="0" y="0"/>
            <a:ext cx="377362" cy="13716000"/>
          </a:xfrm>
          <a:prstGeom prst="rect">
            <a:avLst/>
          </a:prstGeom>
          <a:solidFill>
            <a:srgbClr val="775C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sp>
        <p:nvSpPr>
          <p:cNvPr id="54" name="EASYSTACK CONFIDENTIAL"/>
          <p:cNvSpPr txBox="1"/>
          <p:nvPr/>
        </p:nvSpPr>
        <p:spPr>
          <a:xfrm>
            <a:off x="10071348" y="12702449"/>
            <a:ext cx="4241304" cy="469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2400" b="0">
                <a:solidFill>
                  <a:srgbClr val="424242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EASYSTACK CONFIDENTIAL</a:t>
            </a:r>
          </a:p>
        </p:txBody>
      </p:sp>
      <p:sp>
        <p:nvSpPr>
          <p:cNvPr id="55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016000" y="512233"/>
            <a:ext cx="21005800" cy="741628"/>
          </a:xfrm>
          <a:prstGeom prst="rect">
            <a:avLst/>
          </a:prstGeom>
        </p:spPr>
        <p:txBody>
          <a:bodyPr anchor="t"/>
          <a:lstStyle>
            <a:lvl1pPr algn="l">
              <a:defRPr sz="340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r>
              <a:t>标题文本</a:t>
            </a:r>
          </a:p>
        </p:txBody>
      </p:sp>
      <p:pic>
        <p:nvPicPr>
          <p:cNvPr id="56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照片 - 水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图像"/>
          <p:cNvSpPr>
            <a:spLocks noGrp="1"/>
          </p:cNvSpPr>
          <p:nvPr>
            <p:ph type="pic" idx="21"/>
          </p:nvPr>
        </p:nvSpPr>
        <p:spPr>
          <a:xfrm>
            <a:off x="3123224" y="-38100"/>
            <a:ext cx="18135601" cy="1209669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84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标题文本</a:t>
            </a:r>
          </a:p>
        </p:txBody>
      </p:sp>
      <p:sp>
        <p:nvSpPr>
          <p:cNvPr id="85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 - 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9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照片 - 垂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图像"/>
          <p:cNvSpPr>
            <a:spLocks noGrp="1"/>
          </p:cNvSpPr>
          <p:nvPr>
            <p:ph type="pic" idx="21"/>
          </p:nvPr>
        </p:nvSpPr>
        <p:spPr>
          <a:xfrm>
            <a:off x="7950200" y="1104900"/>
            <a:ext cx="17259302" cy="115062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0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标题文本</a:t>
            </a:r>
          </a:p>
        </p:txBody>
      </p:sp>
      <p:sp>
        <p:nvSpPr>
          <p:cNvPr id="10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0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12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图像"/>
          <p:cNvSpPr>
            <a:spLocks noGrp="1"/>
          </p:cNvSpPr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21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22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图像"/>
          <p:cNvSpPr>
            <a:spLocks noGrp="1"/>
          </p:cNvSpPr>
          <p:nvPr>
            <p:ph type="pic" sz="quarter" idx="21"/>
          </p:nvPr>
        </p:nvSpPr>
        <p:spPr>
          <a:xfrm>
            <a:off x="15681340" y="7035800"/>
            <a:ext cx="8396678" cy="56007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39" name="图像"/>
          <p:cNvSpPr>
            <a:spLocks noGrp="1"/>
          </p:cNvSpPr>
          <p:nvPr>
            <p:ph type="pic" sz="quarter" idx="22"/>
          </p:nvPr>
        </p:nvSpPr>
        <p:spPr>
          <a:xfrm>
            <a:off x="15290800" y="1130300"/>
            <a:ext cx="8331200" cy="55541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40" name="图像"/>
          <p:cNvSpPr>
            <a:spLocks noGrp="1"/>
          </p:cNvSpPr>
          <p:nvPr>
            <p:ph type="pic" idx="23"/>
          </p:nvPr>
        </p:nvSpPr>
        <p:spPr>
          <a:xfrm>
            <a:off x="-3048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4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图像"/>
          <p:cNvSpPr>
            <a:spLocks noGrp="1"/>
          </p:cNvSpPr>
          <p:nvPr>
            <p:ph type="pic" idx="21"/>
          </p:nvPr>
        </p:nvSpPr>
        <p:spPr>
          <a:xfrm>
            <a:off x="0" y="0"/>
            <a:ext cx="24384000" cy="162644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4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"/>
          <p:cNvSpPr/>
          <p:nvPr/>
        </p:nvSpPr>
        <p:spPr>
          <a:xfrm>
            <a:off x="0" y="0"/>
            <a:ext cx="24384000" cy="11179969"/>
          </a:xfrm>
          <a:prstGeom prst="rect">
            <a:avLst/>
          </a:prstGeom>
          <a:gradFill>
            <a:gsLst>
              <a:gs pos="1408">
                <a:srgbClr val="69A7C8"/>
              </a:gs>
              <a:gs pos="100000">
                <a:srgbClr val="5A2EC3"/>
              </a:gs>
            </a:gsLst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>
                    <a:alpha val="63813"/>
                  </a:srgbClr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pic>
        <p:nvPicPr>
          <p:cNvPr id="18" name="图像" descr="图像"/>
          <p:cNvPicPr>
            <a:picLocks noChangeAspect="1"/>
          </p:cNvPicPr>
          <p:nvPr/>
        </p:nvPicPr>
        <p:blipFill>
          <a:blip r:embed="rId2">
            <a:alphaModFix amt="10000"/>
          </a:blip>
          <a:srcRect l="4977" t="5000" r="1925" b="19116"/>
          <a:stretch>
            <a:fillRect/>
          </a:stretch>
        </p:blipFill>
        <p:spPr>
          <a:xfrm>
            <a:off x="0" y="-7011"/>
            <a:ext cx="24384000" cy="1117983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" name="标题文本"/>
          <p:cNvSpPr txBox="1"/>
          <p:nvPr>
            <p:ph type="title" hasCustomPrompt="1"/>
          </p:nvPr>
        </p:nvSpPr>
        <p:spPr>
          <a:xfrm>
            <a:off x="1422400" y="2772833"/>
            <a:ext cx="20828000" cy="4648201"/>
          </a:xfrm>
          <a:prstGeom prst="rect">
            <a:avLst/>
          </a:prstGeom>
        </p:spPr>
        <p:txBody>
          <a:bodyPr anchor="t"/>
          <a:lstStyle>
            <a:lvl1pPr algn="l">
              <a:defRPr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标题文本</a:t>
            </a:r>
          </a:p>
        </p:txBody>
      </p:sp>
      <p:pic>
        <p:nvPicPr>
          <p:cNvPr id="20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480" y="11982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 - 居中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线条"/>
          <p:cNvSpPr/>
          <p:nvPr/>
        </p:nvSpPr>
        <p:spPr>
          <a:xfrm>
            <a:off x="3445933" y="2904066"/>
            <a:ext cx="9511047" cy="1"/>
          </a:xfrm>
          <a:prstGeom prst="line">
            <a:avLst/>
          </a:prstGeom>
          <a:ln w="25400">
            <a:solidFill>
              <a:srgbClr val="775CDE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sp>
        <p:nvSpPr>
          <p:cNvPr id="36" name="线条"/>
          <p:cNvSpPr/>
          <p:nvPr/>
        </p:nvSpPr>
        <p:spPr>
          <a:xfrm flipH="1">
            <a:off x="5596466" y="1465698"/>
            <a:ext cx="1" cy="2506574"/>
          </a:xfrm>
          <a:prstGeom prst="line">
            <a:avLst/>
          </a:prstGeom>
          <a:ln w="25400">
            <a:solidFill>
              <a:srgbClr val="775CDE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sp>
        <p:nvSpPr>
          <p:cNvPr id="37" name="线条"/>
          <p:cNvSpPr/>
          <p:nvPr/>
        </p:nvSpPr>
        <p:spPr>
          <a:xfrm>
            <a:off x="12302066" y="10772868"/>
            <a:ext cx="9511048" cy="1"/>
          </a:xfrm>
          <a:prstGeom prst="line">
            <a:avLst/>
          </a:prstGeom>
          <a:ln w="25400">
            <a:solidFill>
              <a:srgbClr val="775CDE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sp>
        <p:nvSpPr>
          <p:cNvPr id="38" name="线条"/>
          <p:cNvSpPr/>
          <p:nvPr/>
        </p:nvSpPr>
        <p:spPr>
          <a:xfrm>
            <a:off x="19701934" y="9334499"/>
            <a:ext cx="1" cy="2506574"/>
          </a:xfrm>
          <a:prstGeom prst="line">
            <a:avLst/>
          </a:prstGeom>
          <a:ln w="25400">
            <a:solidFill>
              <a:srgbClr val="775CDE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sp>
        <p:nvSpPr>
          <p:cNvPr id="39" name="线条"/>
          <p:cNvSpPr/>
          <p:nvPr/>
        </p:nvSpPr>
        <p:spPr>
          <a:xfrm>
            <a:off x="9802010" y="6062133"/>
            <a:ext cx="4779980" cy="1"/>
          </a:xfrm>
          <a:prstGeom prst="line">
            <a:avLst/>
          </a:prstGeom>
          <a:ln w="25400">
            <a:solidFill>
              <a:srgbClr val="A9A9A9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sp>
        <p:nvSpPr>
          <p:cNvPr id="40" name="线条"/>
          <p:cNvSpPr/>
          <p:nvPr/>
        </p:nvSpPr>
        <p:spPr>
          <a:xfrm>
            <a:off x="9802010" y="7162800"/>
            <a:ext cx="4779980" cy="0"/>
          </a:xfrm>
          <a:prstGeom prst="line">
            <a:avLst/>
          </a:prstGeom>
          <a:ln w="25400">
            <a:solidFill>
              <a:srgbClr val="A9A9A9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sp>
        <p:nvSpPr>
          <p:cNvPr id="41" name="标题文本"/>
          <p:cNvSpPr txBox="1"/>
          <p:nvPr>
            <p:ph type="title" hasCustomPrompt="1"/>
          </p:nvPr>
        </p:nvSpPr>
        <p:spPr>
          <a:xfrm>
            <a:off x="1778000" y="6104130"/>
            <a:ext cx="20828000" cy="1016673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r>
              <a:t>标题文本</a:t>
            </a:r>
          </a:p>
        </p:txBody>
      </p:sp>
      <p:pic>
        <p:nvPicPr>
          <p:cNvPr id="42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左边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"/>
          <p:cNvSpPr/>
          <p:nvPr/>
        </p:nvSpPr>
        <p:spPr>
          <a:xfrm>
            <a:off x="0" y="0"/>
            <a:ext cx="377362" cy="13716000"/>
          </a:xfrm>
          <a:prstGeom prst="rect">
            <a:avLst/>
          </a:prstGeom>
          <a:solidFill>
            <a:srgbClr val="775C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sp>
        <p:nvSpPr>
          <p:cNvPr id="51" name="标题文本"/>
          <p:cNvSpPr txBox="1"/>
          <p:nvPr>
            <p:ph type="title" hasCustomPrompt="1"/>
          </p:nvPr>
        </p:nvSpPr>
        <p:spPr>
          <a:xfrm>
            <a:off x="1016000" y="512233"/>
            <a:ext cx="21005800" cy="741628"/>
          </a:xfrm>
          <a:prstGeom prst="rect">
            <a:avLst/>
          </a:prstGeom>
        </p:spPr>
        <p:txBody>
          <a:bodyPr anchor="t"/>
          <a:lstStyle>
            <a:lvl1pPr algn="l">
              <a:defRPr sz="340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r>
              <a:t>标题文本</a:t>
            </a:r>
          </a:p>
        </p:txBody>
      </p:sp>
      <p:pic>
        <p:nvPicPr>
          <p:cNvPr id="52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"/>
          <p:cNvSpPr/>
          <p:nvPr/>
        </p:nvSpPr>
        <p:spPr>
          <a:xfrm>
            <a:off x="762000" y="1346200"/>
            <a:ext cx="22860000" cy="25400"/>
          </a:xfrm>
          <a:prstGeom prst="rect">
            <a:avLst/>
          </a:prstGeom>
          <a:solidFill>
            <a:srgbClr val="775C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sp>
        <p:nvSpPr>
          <p:cNvPr id="61" name="标题文本"/>
          <p:cNvSpPr txBox="1"/>
          <p:nvPr>
            <p:ph type="title" hasCustomPrompt="1"/>
          </p:nvPr>
        </p:nvSpPr>
        <p:spPr>
          <a:xfrm>
            <a:off x="901700" y="508000"/>
            <a:ext cx="21005800" cy="728597"/>
          </a:xfrm>
          <a:prstGeom prst="rect">
            <a:avLst/>
          </a:prstGeom>
        </p:spPr>
        <p:txBody>
          <a:bodyPr anchor="t"/>
          <a:lstStyle>
            <a:lvl1pPr algn="l">
              <a:defRPr sz="340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r>
              <a:t>标题文本</a:t>
            </a:r>
          </a:p>
        </p:txBody>
      </p:sp>
      <p:pic>
        <p:nvPicPr>
          <p:cNvPr id="62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照片 - 水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图像"/>
          <p:cNvSpPr/>
          <p:nvPr>
            <p:ph type="pic" idx="21"/>
          </p:nvPr>
        </p:nvSpPr>
        <p:spPr>
          <a:xfrm>
            <a:off x="3123224" y="-38100"/>
            <a:ext cx="18135601" cy="1209669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78" name="标题文本"/>
          <p:cNvSpPr txBox="1"/>
          <p:nvPr>
            <p:ph type="title" hasCustomPrompt="1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标题文本</a:t>
            </a:r>
          </a:p>
        </p:txBody>
      </p:sp>
      <p:sp>
        <p:nvSpPr>
          <p:cNvPr id="79" name="正文级别 1…"/>
          <p:cNvSpPr txBox="1"/>
          <p:nvPr>
            <p:ph type="body" sz="quarter" idx="1" hasCustomPrompt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 - 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标题文本"/>
          <p:cNvSpPr txBox="1"/>
          <p:nvPr>
            <p:ph type="title" hasCustomPrompt="1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8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照片 - 垂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图像"/>
          <p:cNvSpPr/>
          <p:nvPr>
            <p:ph type="pic" idx="21"/>
          </p:nvPr>
        </p:nvSpPr>
        <p:spPr>
          <a:xfrm>
            <a:off x="7950200" y="1104900"/>
            <a:ext cx="17259302" cy="115062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96" name="标题文本"/>
          <p:cNvSpPr txBox="1"/>
          <p:nvPr>
            <p:ph type="title" hasCustomPrompt="1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标题文本</a:t>
            </a:r>
          </a:p>
        </p:txBody>
      </p:sp>
      <p:sp>
        <p:nvSpPr>
          <p:cNvPr id="97" name="正文级别 1…"/>
          <p:cNvSpPr txBox="1"/>
          <p:nvPr>
            <p:ph type="body" sz="quarter" idx="1" hasCustomPrompt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标题文本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06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0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图像"/>
          <p:cNvSpPr/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15" name="标题文本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16" name="正文级别 1…"/>
          <p:cNvSpPr txBox="1"/>
          <p:nvPr>
            <p:ph type="body" sz="half" idx="1" hasCustomPrompt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1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正文级别 1…"/>
          <p:cNvSpPr txBox="1"/>
          <p:nvPr>
            <p:ph type="body" idx="1" hasCustomPrompt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图像"/>
          <p:cNvSpPr/>
          <p:nvPr>
            <p:ph type="pic" sz="quarter" idx="21"/>
          </p:nvPr>
        </p:nvSpPr>
        <p:spPr>
          <a:xfrm>
            <a:off x="15681340" y="7035800"/>
            <a:ext cx="8396678" cy="56007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33" name="图像"/>
          <p:cNvSpPr/>
          <p:nvPr>
            <p:ph type="pic" sz="quarter" idx="22"/>
          </p:nvPr>
        </p:nvSpPr>
        <p:spPr>
          <a:xfrm>
            <a:off x="15290800" y="1130300"/>
            <a:ext cx="8331200" cy="55541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34" name="图像"/>
          <p:cNvSpPr/>
          <p:nvPr>
            <p:ph type="pic" idx="23"/>
          </p:nvPr>
        </p:nvSpPr>
        <p:spPr>
          <a:xfrm>
            <a:off x="-3048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3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图像"/>
          <p:cNvSpPr/>
          <p:nvPr>
            <p:ph type="pic" idx="21"/>
          </p:nvPr>
        </p:nvSpPr>
        <p:spPr>
          <a:xfrm>
            <a:off x="0" y="0"/>
            <a:ext cx="24384000" cy="162644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14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/>
        </p:nvSpPr>
        <p:spPr>
          <a:xfrm>
            <a:off x="-1" y="932590"/>
            <a:ext cx="377363" cy="1013024"/>
          </a:xfrm>
          <a:prstGeom prst="rect">
            <a:avLst/>
          </a:prstGeom>
          <a:solidFill>
            <a:srgbClr val="775C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sp>
        <p:nvSpPr>
          <p:cNvPr id="3" name="CONTENTS"/>
          <p:cNvSpPr txBox="1"/>
          <p:nvPr/>
        </p:nvSpPr>
        <p:spPr>
          <a:xfrm>
            <a:off x="693208" y="937451"/>
            <a:ext cx="4235451" cy="10033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59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CONTENTS</a:t>
            </a:r>
          </a:p>
        </p:txBody>
      </p:sp>
      <p:sp>
        <p:nvSpPr>
          <p:cNvPr id="4" name="目录"/>
          <p:cNvSpPr txBox="1"/>
          <p:nvPr/>
        </p:nvSpPr>
        <p:spPr>
          <a:xfrm>
            <a:off x="656072" y="2002366"/>
            <a:ext cx="876301" cy="635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79797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目录</a:t>
            </a:r>
          </a:p>
        </p:txBody>
      </p:sp>
      <p:sp>
        <p:nvSpPr>
          <p:cNvPr id="5" name="EASYSTACK CONFIDENTIAL"/>
          <p:cNvSpPr txBox="1"/>
          <p:nvPr/>
        </p:nvSpPr>
        <p:spPr>
          <a:xfrm>
            <a:off x="10071348" y="12702449"/>
            <a:ext cx="4241304" cy="469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2400" b="0">
                <a:solidFill>
                  <a:srgbClr val="424242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EASYSTACK CONFIDENTIAL</a:t>
            </a:r>
          </a:p>
        </p:txBody>
      </p:sp>
      <p:sp>
        <p:nvSpPr>
          <p:cNvPr id="6" name="线条"/>
          <p:cNvSpPr/>
          <p:nvPr/>
        </p:nvSpPr>
        <p:spPr>
          <a:xfrm>
            <a:off x="2006600" y="3632200"/>
            <a:ext cx="5178295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sp>
        <p:nvSpPr>
          <p:cNvPr id="7" name="线条"/>
          <p:cNvSpPr/>
          <p:nvPr/>
        </p:nvSpPr>
        <p:spPr>
          <a:xfrm flipV="1">
            <a:off x="5461000" y="1499312"/>
            <a:ext cx="1" cy="882155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pic>
        <p:nvPicPr>
          <p:cNvPr id="8" name="图像" descr="图像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10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1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1pPr>
      <a:lvl2pPr marL="127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2pPr>
      <a:lvl3pPr marL="190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3pPr>
      <a:lvl4pPr marL="254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4pPr>
      <a:lvl5pPr marL="317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5pPr>
      <a:lvl6pPr marL="381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6pPr>
      <a:lvl7pPr marL="444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7pPr>
      <a:lvl8pPr marL="508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8pPr>
      <a:lvl9pPr marL="571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/>
        </p:nvSpPr>
        <p:spPr>
          <a:xfrm>
            <a:off x="-1" y="932590"/>
            <a:ext cx="377363" cy="1013024"/>
          </a:xfrm>
          <a:prstGeom prst="rect">
            <a:avLst/>
          </a:prstGeom>
          <a:solidFill>
            <a:srgbClr val="775C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sp>
        <p:nvSpPr>
          <p:cNvPr id="3" name="CONTENTS"/>
          <p:cNvSpPr txBox="1"/>
          <p:nvPr/>
        </p:nvSpPr>
        <p:spPr>
          <a:xfrm>
            <a:off x="693208" y="937451"/>
            <a:ext cx="4235451" cy="10033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59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CONTENTS</a:t>
            </a:r>
          </a:p>
        </p:txBody>
      </p:sp>
      <p:sp>
        <p:nvSpPr>
          <p:cNvPr id="4" name="目录"/>
          <p:cNvSpPr txBox="1"/>
          <p:nvPr/>
        </p:nvSpPr>
        <p:spPr>
          <a:xfrm>
            <a:off x="656072" y="2002366"/>
            <a:ext cx="876301" cy="635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79797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目录</a:t>
            </a:r>
          </a:p>
        </p:txBody>
      </p:sp>
      <p:sp>
        <p:nvSpPr>
          <p:cNvPr id="5" name="线条"/>
          <p:cNvSpPr/>
          <p:nvPr/>
        </p:nvSpPr>
        <p:spPr>
          <a:xfrm>
            <a:off x="2006600" y="3632200"/>
            <a:ext cx="5178295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sp>
        <p:nvSpPr>
          <p:cNvPr id="6" name="线条"/>
          <p:cNvSpPr/>
          <p:nvPr/>
        </p:nvSpPr>
        <p:spPr>
          <a:xfrm flipV="1">
            <a:off x="5461000" y="1499312"/>
            <a:ext cx="1" cy="882155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pic>
        <p:nvPicPr>
          <p:cNvPr id="7" name="图像" descr="图像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标题文本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9" name="正文级别 1…"/>
          <p:cNvSpPr txBox="1"/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0" name="幻灯片编号"/>
          <p:cNvSpPr txBox="1"/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1pPr>
      <a:lvl2pPr marL="127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2pPr>
      <a:lvl3pPr marL="190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3pPr>
      <a:lvl4pPr marL="254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4pPr>
      <a:lvl5pPr marL="317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5pPr>
      <a:lvl6pPr marL="381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6pPr>
      <a:lvl7pPr marL="444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7pPr>
      <a:lvl8pPr marL="508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8pPr>
      <a:lvl9pPr marL="571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4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4.png"/><Relationship Id="rId2" Type="http://schemas.openxmlformats.org/officeDocument/2006/relationships/tags" Target="../tags/tag5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5.png"/><Relationship Id="rId2" Type="http://schemas.openxmlformats.org/officeDocument/2006/relationships/tags" Target="../tags/tag6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99" Type="http://schemas.openxmlformats.org/officeDocument/2006/relationships/tags" Target="../tags/tag101.xml"/><Relationship Id="rId98" Type="http://schemas.openxmlformats.org/officeDocument/2006/relationships/tags" Target="../tags/tag100.xml"/><Relationship Id="rId97" Type="http://schemas.openxmlformats.org/officeDocument/2006/relationships/tags" Target="../tags/tag99.xml"/><Relationship Id="rId96" Type="http://schemas.openxmlformats.org/officeDocument/2006/relationships/tags" Target="../tags/tag98.xml"/><Relationship Id="rId95" Type="http://schemas.openxmlformats.org/officeDocument/2006/relationships/tags" Target="../tags/tag97.xml"/><Relationship Id="rId94" Type="http://schemas.openxmlformats.org/officeDocument/2006/relationships/tags" Target="../tags/tag96.xml"/><Relationship Id="rId93" Type="http://schemas.openxmlformats.org/officeDocument/2006/relationships/tags" Target="../tags/tag95.xml"/><Relationship Id="rId92" Type="http://schemas.openxmlformats.org/officeDocument/2006/relationships/tags" Target="../tags/tag94.xml"/><Relationship Id="rId91" Type="http://schemas.openxmlformats.org/officeDocument/2006/relationships/tags" Target="../tags/tag93.xml"/><Relationship Id="rId90" Type="http://schemas.openxmlformats.org/officeDocument/2006/relationships/tags" Target="../tags/tag92.xml"/><Relationship Id="rId9" Type="http://schemas.openxmlformats.org/officeDocument/2006/relationships/tags" Target="../tags/tag12.xml"/><Relationship Id="rId89" Type="http://schemas.openxmlformats.org/officeDocument/2006/relationships/tags" Target="../tags/tag91.xml"/><Relationship Id="rId88" Type="http://schemas.openxmlformats.org/officeDocument/2006/relationships/tags" Target="../tags/tag90.xml"/><Relationship Id="rId87" Type="http://schemas.openxmlformats.org/officeDocument/2006/relationships/tags" Target="../tags/tag89.xml"/><Relationship Id="rId86" Type="http://schemas.openxmlformats.org/officeDocument/2006/relationships/tags" Target="../tags/tag88.xml"/><Relationship Id="rId85" Type="http://schemas.openxmlformats.org/officeDocument/2006/relationships/tags" Target="../tags/tag87.xml"/><Relationship Id="rId84" Type="http://schemas.openxmlformats.org/officeDocument/2006/relationships/tags" Target="../tags/tag86.xml"/><Relationship Id="rId83" Type="http://schemas.openxmlformats.org/officeDocument/2006/relationships/tags" Target="../tags/tag85.xml"/><Relationship Id="rId82" Type="http://schemas.openxmlformats.org/officeDocument/2006/relationships/tags" Target="../tags/tag84.xml"/><Relationship Id="rId81" Type="http://schemas.openxmlformats.org/officeDocument/2006/relationships/tags" Target="../tags/tag83.xml"/><Relationship Id="rId80" Type="http://schemas.openxmlformats.org/officeDocument/2006/relationships/tags" Target="../tags/tag82.xml"/><Relationship Id="rId8" Type="http://schemas.openxmlformats.org/officeDocument/2006/relationships/image" Target="../media/image7.png"/><Relationship Id="rId79" Type="http://schemas.openxmlformats.org/officeDocument/2006/relationships/tags" Target="../tags/tag81.xml"/><Relationship Id="rId78" Type="http://schemas.openxmlformats.org/officeDocument/2006/relationships/tags" Target="../tags/tag80.xml"/><Relationship Id="rId77" Type="http://schemas.openxmlformats.org/officeDocument/2006/relationships/tags" Target="../tags/tag79.xml"/><Relationship Id="rId76" Type="http://schemas.openxmlformats.org/officeDocument/2006/relationships/tags" Target="../tags/tag78.xml"/><Relationship Id="rId75" Type="http://schemas.openxmlformats.org/officeDocument/2006/relationships/tags" Target="../tags/tag77.xml"/><Relationship Id="rId74" Type="http://schemas.openxmlformats.org/officeDocument/2006/relationships/tags" Target="../tags/tag76.xml"/><Relationship Id="rId73" Type="http://schemas.openxmlformats.org/officeDocument/2006/relationships/tags" Target="../tags/tag75.xml"/><Relationship Id="rId72" Type="http://schemas.openxmlformats.org/officeDocument/2006/relationships/tags" Target="../tags/tag74.xml"/><Relationship Id="rId71" Type="http://schemas.openxmlformats.org/officeDocument/2006/relationships/tags" Target="../tags/tag73.xml"/><Relationship Id="rId70" Type="http://schemas.openxmlformats.org/officeDocument/2006/relationships/tags" Target="../tags/tag72.xml"/><Relationship Id="rId7" Type="http://schemas.openxmlformats.org/officeDocument/2006/relationships/tags" Target="../tags/tag11.xml"/><Relationship Id="rId69" Type="http://schemas.openxmlformats.org/officeDocument/2006/relationships/tags" Target="../tags/tag71.xml"/><Relationship Id="rId68" Type="http://schemas.openxmlformats.org/officeDocument/2006/relationships/tags" Target="../tags/tag70.xml"/><Relationship Id="rId67" Type="http://schemas.openxmlformats.org/officeDocument/2006/relationships/tags" Target="../tags/tag69.xml"/><Relationship Id="rId66" Type="http://schemas.openxmlformats.org/officeDocument/2006/relationships/tags" Target="../tags/tag68.xml"/><Relationship Id="rId65" Type="http://schemas.openxmlformats.org/officeDocument/2006/relationships/tags" Target="../tags/tag67.xml"/><Relationship Id="rId64" Type="http://schemas.openxmlformats.org/officeDocument/2006/relationships/tags" Target="../tags/tag66.xml"/><Relationship Id="rId63" Type="http://schemas.openxmlformats.org/officeDocument/2006/relationships/tags" Target="../tags/tag65.xml"/><Relationship Id="rId62" Type="http://schemas.openxmlformats.org/officeDocument/2006/relationships/tags" Target="../tags/tag64.xml"/><Relationship Id="rId61" Type="http://schemas.openxmlformats.org/officeDocument/2006/relationships/tags" Target="../tags/tag63.xml"/><Relationship Id="rId60" Type="http://schemas.openxmlformats.org/officeDocument/2006/relationships/tags" Target="../tags/tag62.xml"/><Relationship Id="rId6" Type="http://schemas.openxmlformats.org/officeDocument/2006/relationships/tags" Target="../tags/tag10.xml"/><Relationship Id="rId59" Type="http://schemas.openxmlformats.org/officeDocument/2006/relationships/tags" Target="../tags/tag61.xml"/><Relationship Id="rId58" Type="http://schemas.openxmlformats.org/officeDocument/2006/relationships/tags" Target="../tags/tag60.xml"/><Relationship Id="rId57" Type="http://schemas.openxmlformats.org/officeDocument/2006/relationships/tags" Target="../tags/tag59.xml"/><Relationship Id="rId56" Type="http://schemas.openxmlformats.org/officeDocument/2006/relationships/tags" Target="../tags/tag58.xml"/><Relationship Id="rId55" Type="http://schemas.openxmlformats.org/officeDocument/2006/relationships/tags" Target="../tags/tag57.xml"/><Relationship Id="rId54" Type="http://schemas.openxmlformats.org/officeDocument/2006/relationships/tags" Target="../tags/tag56.xml"/><Relationship Id="rId53" Type="http://schemas.openxmlformats.org/officeDocument/2006/relationships/tags" Target="../tags/tag55.xml"/><Relationship Id="rId52" Type="http://schemas.openxmlformats.org/officeDocument/2006/relationships/tags" Target="../tags/tag54.xml"/><Relationship Id="rId51" Type="http://schemas.openxmlformats.org/officeDocument/2006/relationships/tags" Target="../tags/tag53.xml"/><Relationship Id="rId50" Type="http://schemas.openxmlformats.org/officeDocument/2006/relationships/tags" Target="../tags/tag52.xml"/><Relationship Id="rId5" Type="http://schemas.openxmlformats.org/officeDocument/2006/relationships/tags" Target="../tags/tag9.xml"/><Relationship Id="rId49" Type="http://schemas.openxmlformats.org/officeDocument/2006/relationships/tags" Target="../tags/tag51.xml"/><Relationship Id="rId48" Type="http://schemas.openxmlformats.org/officeDocument/2006/relationships/tags" Target="../tags/tag50.xml"/><Relationship Id="rId47" Type="http://schemas.openxmlformats.org/officeDocument/2006/relationships/tags" Target="../tags/tag49.xml"/><Relationship Id="rId46" Type="http://schemas.openxmlformats.org/officeDocument/2006/relationships/tags" Target="../tags/tag48.xml"/><Relationship Id="rId45" Type="http://schemas.openxmlformats.org/officeDocument/2006/relationships/tags" Target="../tags/tag47.xml"/><Relationship Id="rId44" Type="http://schemas.openxmlformats.org/officeDocument/2006/relationships/tags" Target="../tags/tag46.xml"/><Relationship Id="rId43" Type="http://schemas.openxmlformats.org/officeDocument/2006/relationships/tags" Target="../tags/tag45.xml"/><Relationship Id="rId42" Type="http://schemas.openxmlformats.org/officeDocument/2006/relationships/tags" Target="../tags/tag44.xml"/><Relationship Id="rId41" Type="http://schemas.openxmlformats.org/officeDocument/2006/relationships/tags" Target="../tags/tag43.xml"/><Relationship Id="rId40" Type="http://schemas.openxmlformats.org/officeDocument/2006/relationships/tags" Target="../tags/tag42.xml"/><Relationship Id="rId4" Type="http://schemas.openxmlformats.org/officeDocument/2006/relationships/image" Target="../media/image6.png"/><Relationship Id="rId39" Type="http://schemas.openxmlformats.org/officeDocument/2006/relationships/tags" Target="../tags/tag41.xml"/><Relationship Id="rId38" Type="http://schemas.openxmlformats.org/officeDocument/2006/relationships/tags" Target="../tags/tag40.xml"/><Relationship Id="rId37" Type="http://schemas.openxmlformats.org/officeDocument/2006/relationships/tags" Target="../tags/tag39.xml"/><Relationship Id="rId36" Type="http://schemas.openxmlformats.org/officeDocument/2006/relationships/tags" Target="../tags/tag38.xml"/><Relationship Id="rId35" Type="http://schemas.openxmlformats.org/officeDocument/2006/relationships/tags" Target="../tags/tag37.xml"/><Relationship Id="rId34" Type="http://schemas.openxmlformats.org/officeDocument/2006/relationships/tags" Target="../tags/tag36.xml"/><Relationship Id="rId33" Type="http://schemas.openxmlformats.org/officeDocument/2006/relationships/tags" Target="../tags/tag35.xml"/><Relationship Id="rId32" Type="http://schemas.openxmlformats.org/officeDocument/2006/relationships/tags" Target="../tags/tag34.xml"/><Relationship Id="rId31" Type="http://schemas.openxmlformats.org/officeDocument/2006/relationships/tags" Target="../tags/tag33.xml"/><Relationship Id="rId30" Type="http://schemas.openxmlformats.org/officeDocument/2006/relationships/tags" Target="../tags/tag32.xml"/><Relationship Id="rId3" Type="http://schemas.openxmlformats.org/officeDocument/2006/relationships/tags" Target="../tags/tag8.xml"/><Relationship Id="rId29" Type="http://schemas.openxmlformats.org/officeDocument/2006/relationships/tags" Target="../tags/tag31.xml"/><Relationship Id="rId28" Type="http://schemas.openxmlformats.org/officeDocument/2006/relationships/tags" Target="../tags/tag30.xml"/><Relationship Id="rId27" Type="http://schemas.openxmlformats.org/officeDocument/2006/relationships/tags" Target="../tags/tag29.xml"/><Relationship Id="rId26" Type="http://schemas.openxmlformats.org/officeDocument/2006/relationships/tags" Target="../tags/tag28.xml"/><Relationship Id="rId25" Type="http://schemas.openxmlformats.org/officeDocument/2006/relationships/tags" Target="../tags/tag27.xml"/><Relationship Id="rId24" Type="http://schemas.openxmlformats.org/officeDocument/2006/relationships/tags" Target="../tags/tag26.xml"/><Relationship Id="rId23" Type="http://schemas.openxmlformats.org/officeDocument/2006/relationships/tags" Target="../tags/tag25.xml"/><Relationship Id="rId22" Type="http://schemas.openxmlformats.org/officeDocument/2006/relationships/tags" Target="../tags/tag24.xml"/><Relationship Id="rId21" Type="http://schemas.openxmlformats.org/officeDocument/2006/relationships/tags" Target="../tags/tag23.xml"/><Relationship Id="rId20" Type="http://schemas.openxmlformats.org/officeDocument/2006/relationships/tags" Target="../tags/tag22.xml"/><Relationship Id="rId2" Type="http://schemas.openxmlformats.org/officeDocument/2006/relationships/tags" Target="../tags/tag7.xml"/><Relationship Id="rId19" Type="http://schemas.openxmlformats.org/officeDocument/2006/relationships/tags" Target="../tags/tag21.xml"/><Relationship Id="rId18" Type="http://schemas.openxmlformats.org/officeDocument/2006/relationships/tags" Target="../tags/tag20.xml"/><Relationship Id="rId17" Type="http://schemas.openxmlformats.org/officeDocument/2006/relationships/tags" Target="../tags/tag19.xml"/><Relationship Id="rId16" Type="http://schemas.openxmlformats.org/officeDocument/2006/relationships/tags" Target="../tags/tag18.xml"/><Relationship Id="rId15" Type="http://schemas.openxmlformats.org/officeDocument/2006/relationships/tags" Target="../tags/tag17.xml"/><Relationship Id="rId143" Type="http://schemas.openxmlformats.org/officeDocument/2006/relationships/notesSlide" Target="../notesSlides/notesSlide8.xml"/><Relationship Id="rId142" Type="http://schemas.openxmlformats.org/officeDocument/2006/relationships/slideLayout" Target="../slideLayouts/slideLayout17.xml"/><Relationship Id="rId141" Type="http://schemas.openxmlformats.org/officeDocument/2006/relationships/tags" Target="../tags/tag141.xml"/><Relationship Id="rId140" Type="http://schemas.openxmlformats.org/officeDocument/2006/relationships/tags" Target="../tags/tag140.xml"/><Relationship Id="rId14" Type="http://schemas.openxmlformats.org/officeDocument/2006/relationships/image" Target="../media/image8.png"/><Relationship Id="rId139" Type="http://schemas.openxmlformats.org/officeDocument/2006/relationships/tags" Target="../tags/tag139.xml"/><Relationship Id="rId138" Type="http://schemas.openxmlformats.org/officeDocument/2006/relationships/tags" Target="../tags/tag138.xml"/><Relationship Id="rId137" Type="http://schemas.openxmlformats.org/officeDocument/2006/relationships/tags" Target="../tags/tag137.xml"/><Relationship Id="rId136" Type="http://schemas.openxmlformats.org/officeDocument/2006/relationships/tags" Target="../tags/tag136.xml"/><Relationship Id="rId135" Type="http://schemas.openxmlformats.org/officeDocument/2006/relationships/tags" Target="../tags/tag135.xml"/><Relationship Id="rId134" Type="http://schemas.openxmlformats.org/officeDocument/2006/relationships/tags" Target="../tags/tag134.xml"/><Relationship Id="rId133" Type="http://schemas.openxmlformats.org/officeDocument/2006/relationships/tags" Target="../tags/tag133.xml"/><Relationship Id="rId132" Type="http://schemas.openxmlformats.org/officeDocument/2006/relationships/tags" Target="../tags/tag132.xml"/><Relationship Id="rId131" Type="http://schemas.openxmlformats.org/officeDocument/2006/relationships/tags" Target="../tags/tag131.xml"/><Relationship Id="rId130" Type="http://schemas.openxmlformats.org/officeDocument/2006/relationships/tags" Target="../tags/tag130.xml"/><Relationship Id="rId13" Type="http://schemas.openxmlformats.org/officeDocument/2006/relationships/tags" Target="../tags/tag16.xml"/><Relationship Id="rId129" Type="http://schemas.openxmlformats.org/officeDocument/2006/relationships/tags" Target="../tags/tag129.xml"/><Relationship Id="rId128" Type="http://schemas.openxmlformats.org/officeDocument/2006/relationships/tags" Target="../tags/tag128.xml"/><Relationship Id="rId127" Type="http://schemas.openxmlformats.org/officeDocument/2006/relationships/tags" Target="../tags/tag127.xml"/><Relationship Id="rId126" Type="http://schemas.openxmlformats.org/officeDocument/2006/relationships/tags" Target="../tags/tag126.xml"/><Relationship Id="rId125" Type="http://schemas.openxmlformats.org/officeDocument/2006/relationships/tags" Target="../tags/tag125.xml"/><Relationship Id="rId124" Type="http://schemas.openxmlformats.org/officeDocument/2006/relationships/tags" Target="../tags/tag124.xml"/><Relationship Id="rId123" Type="http://schemas.openxmlformats.org/officeDocument/2006/relationships/tags" Target="../tags/tag123.xml"/><Relationship Id="rId122" Type="http://schemas.openxmlformats.org/officeDocument/2006/relationships/tags" Target="../tags/tag122.xml"/><Relationship Id="rId121" Type="http://schemas.openxmlformats.org/officeDocument/2006/relationships/tags" Target="../tags/tag121.xml"/><Relationship Id="rId120" Type="http://schemas.openxmlformats.org/officeDocument/2006/relationships/tags" Target="../tags/tag120.xml"/><Relationship Id="rId12" Type="http://schemas.openxmlformats.org/officeDocument/2006/relationships/tags" Target="../tags/tag15.xml"/><Relationship Id="rId119" Type="http://schemas.openxmlformats.org/officeDocument/2006/relationships/tags" Target="../tags/tag119.xml"/><Relationship Id="rId118" Type="http://schemas.openxmlformats.org/officeDocument/2006/relationships/tags" Target="../tags/tag118.xml"/><Relationship Id="rId117" Type="http://schemas.openxmlformats.org/officeDocument/2006/relationships/tags" Target="../tags/tag117.xml"/><Relationship Id="rId116" Type="http://schemas.openxmlformats.org/officeDocument/2006/relationships/tags" Target="../tags/tag116.xml"/><Relationship Id="rId115" Type="http://schemas.openxmlformats.org/officeDocument/2006/relationships/tags" Target="../tags/tag115.xml"/><Relationship Id="rId114" Type="http://schemas.openxmlformats.org/officeDocument/2006/relationships/tags" Target="../tags/tag114.xml"/><Relationship Id="rId113" Type="http://schemas.openxmlformats.org/officeDocument/2006/relationships/tags" Target="../tags/tag113.xml"/><Relationship Id="rId112" Type="http://schemas.openxmlformats.org/officeDocument/2006/relationships/tags" Target="../tags/tag112.xml"/><Relationship Id="rId111" Type="http://schemas.openxmlformats.org/officeDocument/2006/relationships/tags" Target="../tags/tag111.xml"/><Relationship Id="rId110" Type="http://schemas.openxmlformats.org/officeDocument/2006/relationships/tags" Target="../tags/tag110.xml"/><Relationship Id="rId11" Type="http://schemas.openxmlformats.org/officeDocument/2006/relationships/tags" Target="../tags/tag14.xml"/><Relationship Id="rId109" Type="http://schemas.openxmlformats.org/officeDocument/2006/relationships/tags" Target="../tags/tag109.xml"/><Relationship Id="rId108" Type="http://schemas.openxmlformats.org/officeDocument/2006/relationships/tags" Target="../tags/tag108.xml"/><Relationship Id="rId107" Type="http://schemas.openxmlformats.org/officeDocument/2006/relationships/image" Target="../media/image10.svg"/><Relationship Id="rId106" Type="http://schemas.openxmlformats.org/officeDocument/2006/relationships/image" Target="../media/image9.png"/><Relationship Id="rId105" Type="http://schemas.openxmlformats.org/officeDocument/2006/relationships/tags" Target="../tags/tag107.xml"/><Relationship Id="rId104" Type="http://schemas.openxmlformats.org/officeDocument/2006/relationships/tags" Target="../tags/tag106.xml"/><Relationship Id="rId103" Type="http://schemas.openxmlformats.org/officeDocument/2006/relationships/tags" Target="../tags/tag105.xml"/><Relationship Id="rId102" Type="http://schemas.openxmlformats.org/officeDocument/2006/relationships/tags" Target="../tags/tag104.xml"/><Relationship Id="rId101" Type="http://schemas.openxmlformats.org/officeDocument/2006/relationships/tags" Target="../tags/tag103.xml"/><Relationship Id="rId100" Type="http://schemas.openxmlformats.org/officeDocument/2006/relationships/tags" Target="../tags/tag102.xml"/><Relationship Id="rId10" Type="http://schemas.openxmlformats.org/officeDocument/2006/relationships/tags" Target="../tags/tag13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145.xml"/><Relationship Id="rId3" Type="http://schemas.openxmlformats.org/officeDocument/2006/relationships/image" Target="../media/image11.png"/><Relationship Id="rId2" Type="http://schemas.openxmlformats.org/officeDocument/2006/relationships/tags" Target="../tags/tag144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12.png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150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151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14.png"/><Relationship Id="rId2" Type="http://schemas.openxmlformats.org/officeDocument/2006/relationships/tags" Target="../tags/tag152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154.xml"/><Relationship Id="rId3" Type="http://schemas.openxmlformats.org/officeDocument/2006/relationships/image" Target="../media/image15.png"/><Relationship Id="rId2" Type="http://schemas.openxmlformats.org/officeDocument/2006/relationships/tags" Target="../tags/tag153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62.xml"/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2" Type="http://schemas.openxmlformats.org/officeDocument/2006/relationships/notesSlide" Target="../notesSlides/notesSlide18.xml"/><Relationship Id="rId11" Type="http://schemas.openxmlformats.org/officeDocument/2006/relationships/slideLayout" Target="../slideLayouts/slideLayout17.xml"/><Relationship Id="rId10" Type="http://schemas.openxmlformats.org/officeDocument/2006/relationships/tags" Target="../tags/tag163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连按此项以编辑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159" name="矩形"/>
          <p:cNvSpPr/>
          <p:nvPr/>
        </p:nvSpPr>
        <p:spPr>
          <a:xfrm>
            <a:off x="0" y="0"/>
            <a:ext cx="24384000" cy="11179969"/>
          </a:xfrm>
          <a:prstGeom prst="rect">
            <a:avLst/>
          </a:prstGeom>
          <a:gradFill>
            <a:gsLst>
              <a:gs pos="1408">
                <a:srgbClr val="69A7C8"/>
              </a:gs>
              <a:gs pos="100000">
                <a:srgbClr val="5A2EC3"/>
              </a:gs>
            </a:gsLst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>
                    <a:alpha val="63813"/>
                  </a:srgbClr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pic>
        <p:nvPicPr>
          <p:cNvPr id="160" name="图像" descr="图像"/>
          <p:cNvPicPr>
            <a:picLocks noChangeAspect="1"/>
          </p:cNvPicPr>
          <p:nvPr/>
        </p:nvPicPr>
        <p:blipFill>
          <a:blip r:embed="rId1">
            <a:alphaModFix amt="10000"/>
          </a:blip>
          <a:srcRect l="4977" t="5000" r="1925" b="19116"/>
          <a:stretch>
            <a:fillRect/>
          </a:stretch>
        </p:blipFill>
        <p:spPr>
          <a:xfrm>
            <a:off x="0" y="-7011"/>
            <a:ext cx="24384000" cy="1117983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1" name="Shape 120"/>
          <p:cNvSpPr txBox="1"/>
          <p:nvPr/>
        </p:nvSpPr>
        <p:spPr>
          <a:xfrm>
            <a:off x="4628515" y="3227705"/>
            <a:ext cx="12452985" cy="182499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12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RoCE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网络技术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分享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ONTENTS"/>
          <p:cNvSpPr txBox="1"/>
          <p:nvPr/>
        </p:nvSpPr>
        <p:spPr>
          <a:xfrm>
            <a:off x="9414509" y="749300"/>
            <a:ext cx="5554981" cy="1143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6800" spc="68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CONTENTS</a:t>
            </a:r>
          </a:p>
        </p:txBody>
      </p:sp>
      <p:pic>
        <p:nvPicPr>
          <p:cNvPr id="184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cxnSp>
        <p:nvCxnSpPr>
          <p:cNvPr id="2" name="Straight Connector 17"/>
          <p:cNvCxnSpPr/>
          <p:nvPr>
            <p:custDataLst>
              <p:tags r:id="rId2"/>
            </p:custDataLst>
          </p:nvPr>
        </p:nvCxnSpPr>
        <p:spPr>
          <a:xfrm>
            <a:off x="8230665" y="3106804"/>
            <a:ext cx="0" cy="884745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9414510" y="3107055"/>
            <a:ext cx="8450580" cy="8123555"/>
          </a:xfrm>
          <a:prstGeom prst="rect">
            <a:avLst/>
          </a:prstGeom>
        </p:spPr>
        <p:txBody>
          <a:bodyPr wrap="square" lIns="91433" tIns="45716" rIns="91433" bIns="45716">
            <a:noAutofit/>
          </a:bodyPr>
          <a:p>
            <a:pPr marL="457200" indent="-4572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3600" dirty="0">
                <a:latin typeface="微软雅黑" charset="0"/>
                <a:ea typeface="微软雅黑" charset="0"/>
                <a:cs typeface="微软雅黑" charset="0"/>
              </a:rPr>
              <a:t>什么是</a:t>
            </a:r>
            <a:r>
              <a:rPr lang="en-US" altLang="zh-CN" sz="3600" dirty="0">
                <a:latin typeface="微软雅黑" charset="0"/>
                <a:ea typeface="微软雅黑" charset="0"/>
                <a:cs typeface="微软雅黑" charset="0"/>
              </a:rPr>
              <a:t>RDMA</a:t>
            </a:r>
            <a:endParaRPr lang="en-US" altLang="zh-CN" sz="3600" dirty="0">
              <a:latin typeface="微软雅黑" charset="0"/>
              <a:ea typeface="微软雅黑" charset="0"/>
              <a:cs typeface="微软雅黑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3600" dirty="0">
                <a:latin typeface="微软雅黑" charset="0"/>
                <a:ea typeface="微软雅黑" charset="0"/>
                <a:cs typeface="微软雅黑" charset="0"/>
              </a:rPr>
              <a:t>什么是</a:t>
            </a:r>
            <a:r>
              <a:rPr lang="en-US" altLang="zh-CN" sz="3600" dirty="0">
                <a:latin typeface="微软雅黑" charset="0"/>
                <a:ea typeface="微软雅黑" charset="0"/>
                <a:cs typeface="微软雅黑" charset="0"/>
              </a:rPr>
              <a:t>RoCE</a:t>
            </a:r>
            <a:r>
              <a:rPr lang="zh-CN" altLang="en-US" sz="3600" dirty="0">
                <a:latin typeface="微软雅黑" charset="0"/>
                <a:ea typeface="微软雅黑" charset="0"/>
                <a:cs typeface="微软雅黑" charset="0"/>
              </a:rPr>
              <a:t>网络</a:t>
            </a:r>
            <a:endParaRPr lang="en-US" altLang="zh-CN" sz="3600" dirty="0">
              <a:latin typeface="微软雅黑" charset="0"/>
              <a:ea typeface="微软雅黑" charset="0"/>
              <a:cs typeface="微软雅黑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dirty="0">
                <a:latin typeface="微软雅黑" charset="0"/>
                <a:ea typeface="微软雅黑" charset="0"/>
                <a:cs typeface="微软雅黑" charset="0"/>
              </a:rPr>
              <a:t>RoCE</a:t>
            </a:r>
            <a:r>
              <a:rPr lang="zh-CN" altLang="en-US" sz="3600" dirty="0">
                <a:latin typeface="微软雅黑" charset="0"/>
                <a:ea typeface="微软雅黑" charset="0"/>
                <a:cs typeface="微软雅黑" charset="0"/>
              </a:rPr>
              <a:t>的使用场景</a:t>
            </a:r>
            <a:endParaRPr lang="zh-CN" altLang="en-US" sz="3600" dirty="0">
              <a:latin typeface="微软雅黑" charset="0"/>
              <a:ea typeface="微软雅黑" charset="0"/>
              <a:cs typeface="微软雅黑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3600" dirty="0">
                <a:latin typeface="微软雅黑" charset="0"/>
                <a:ea typeface="微软雅黑" charset="0"/>
                <a:cs typeface="微软雅黑" charset="0"/>
              </a:rPr>
              <a:t>为什么</a:t>
            </a:r>
            <a:r>
              <a:rPr lang="zh-CN" altLang="en-US" sz="3600" dirty="0">
                <a:latin typeface="微软雅黑" charset="0"/>
                <a:ea typeface="微软雅黑" charset="0"/>
                <a:cs typeface="微软雅黑" charset="0"/>
              </a:rPr>
              <a:t>要无损保障</a:t>
            </a:r>
            <a:endParaRPr lang="zh-CN" altLang="en-US" sz="3600" dirty="0">
              <a:latin typeface="微软雅黑" charset="0"/>
              <a:ea typeface="微软雅黑" charset="0"/>
              <a:cs typeface="微软雅黑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3600" dirty="0">
                <a:latin typeface="微软雅黑" charset="0"/>
                <a:ea typeface="微软雅黑" charset="0"/>
                <a:cs typeface="微软雅黑" charset="0"/>
              </a:rPr>
              <a:t>如何保障不丢包</a:t>
            </a:r>
            <a:endParaRPr lang="zh-CN" altLang="en-US" sz="3600" dirty="0">
              <a:latin typeface="微软雅黑" charset="0"/>
              <a:ea typeface="微软雅黑" charset="0"/>
              <a:cs typeface="微软雅黑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3600" dirty="0">
                <a:latin typeface="微软雅黑" charset="0"/>
                <a:ea typeface="微软雅黑" charset="0"/>
                <a:cs typeface="微软雅黑" charset="0"/>
              </a:rPr>
              <a:t>如何配置</a:t>
            </a:r>
            <a:r>
              <a:rPr lang="en-US" altLang="zh-CN" sz="3600" dirty="0">
                <a:latin typeface="微软雅黑" charset="0"/>
                <a:ea typeface="微软雅黑" charset="0"/>
                <a:cs typeface="微软雅黑" charset="0"/>
              </a:rPr>
              <a:t>RoCE</a:t>
            </a:r>
            <a:r>
              <a:rPr lang="zh-CN" altLang="en-US" sz="3600" dirty="0">
                <a:latin typeface="微软雅黑" charset="0"/>
                <a:ea typeface="微软雅黑" charset="0"/>
                <a:cs typeface="微软雅黑" charset="0"/>
              </a:rPr>
              <a:t>网络</a:t>
            </a:r>
            <a:endParaRPr lang="zh-CN" altLang="en-US" sz="3600" dirty="0">
              <a:latin typeface="微软雅黑" charset="0"/>
              <a:ea typeface="微软雅黑" charset="0"/>
              <a:cs typeface="微软雅黑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3600" dirty="0">
                <a:latin typeface="微软雅黑" charset="0"/>
                <a:ea typeface="微软雅黑" charset="0"/>
                <a:cs typeface="微软雅黑" charset="0"/>
              </a:rPr>
              <a:t>如何实现</a:t>
            </a:r>
            <a:r>
              <a:rPr lang="en-US" altLang="zh-CN" sz="3600" dirty="0">
                <a:latin typeface="微软雅黑" charset="0"/>
                <a:ea typeface="微软雅黑" charset="0"/>
                <a:cs typeface="微软雅黑" charset="0"/>
              </a:rPr>
              <a:t>Bond</a:t>
            </a:r>
            <a:endParaRPr lang="zh-CN" altLang="en-US" sz="3600" dirty="0">
              <a:latin typeface="微软雅黑" charset="0"/>
              <a:ea typeface="微软雅黑" charset="0"/>
              <a:cs typeface="微软雅黑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RDMA vs </a:t>
            </a:r>
            <a:r>
              <a:rPr lang="en-US" altLang="zh-CN" sz="3600" dirty="0">
                <a:latin typeface="微软雅黑" charset="0"/>
                <a:ea typeface="微软雅黑" charset="0"/>
                <a:cs typeface="微软雅黑" charset="0"/>
              </a:rPr>
              <a:t>TCPIP</a:t>
            </a:r>
            <a:endParaRPr lang="en-US" altLang="zh-CN" sz="3600" dirty="0">
              <a:latin typeface="微软雅黑" charset="0"/>
              <a:ea typeface="微软雅黑" charset="0"/>
              <a:cs typeface="微软雅黑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RDMA vs </a:t>
            </a:r>
            <a:r>
              <a:rPr lang="en-US" altLang="zh-CN" sz="3600" dirty="0">
                <a:latin typeface="微软雅黑" charset="0"/>
                <a:ea typeface="微软雅黑" charset="0"/>
                <a:cs typeface="微软雅黑" charset="0"/>
              </a:rPr>
              <a:t>DPDK</a:t>
            </a:r>
            <a:endParaRPr lang="en-US" altLang="zh-CN" sz="3600" dirty="0">
              <a:latin typeface="微软雅黑" charset="0"/>
              <a:ea typeface="微软雅黑" charset="0"/>
              <a:cs typeface="微软雅黑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3600">
                <a:sym typeface="+mn-ea"/>
              </a:rPr>
              <a:t>RoCE</a:t>
            </a:r>
            <a:r>
              <a:rPr lang="zh-CN" altLang="en-US" sz="3600">
                <a:sym typeface="+mn-ea"/>
              </a:rPr>
              <a:t>测试工具</a:t>
            </a:r>
            <a:endParaRPr lang="en-US" altLang="zh-CN" sz="3600" dirty="0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ES 品牌视觉规范  |  ES Visual Identity Guideline"/>
          <p:cNvSpPr txBox="1"/>
          <p:nvPr/>
        </p:nvSpPr>
        <p:spPr>
          <a:xfrm>
            <a:off x="762000" y="332422"/>
            <a:ext cx="2857500" cy="101155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7100"/>
              </a:lnSpc>
              <a:spcBef>
                <a:spcPts val="1200"/>
              </a:spcBef>
              <a:defRPr sz="3400" b="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rPr lang="zh-CN" b="1"/>
              <a:t>什么是</a:t>
            </a:r>
            <a:r>
              <a:rPr lang="en-US" altLang="zh-CN" b="1"/>
              <a:t>RDMA</a:t>
            </a:r>
            <a:r>
              <a:rPr b="1"/>
              <a:t> </a:t>
            </a:r>
            <a:endParaRPr b="1"/>
          </a:p>
        </p:txBody>
      </p:sp>
      <p:sp>
        <p:nvSpPr>
          <p:cNvPr id="467" name="矩形"/>
          <p:cNvSpPr/>
          <p:nvPr/>
        </p:nvSpPr>
        <p:spPr>
          <a:xfrm>
            <a:off x="762000" y="1346200"/>
            <a:ext cx="22860000" cy="25400"/>
          </a:xfrm>
          <a:prstGeom prst="rect">
            <a:avLst/>
          </a:prstGeom>
          <a:solidFill>
            <a:srgbClr val="775C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pic>
        <p:nvPicPr>
          <p:cNvPr id="469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608580" y="4304665"/>
            <a:ext cx="19166840" cy="78130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16635" y="1825625"/>
            <a:ext cx="22581870" cy="22396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RDMA</a:t>
            </a:r>
            <a:r>
              <a:rPr kumimoji="0" lang="zh-CN" altLang="en-US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介绍</a:t>
            </a:r>
            <a:endParaRPr kumimoji="0" lang="zh-CN" altLang="en-US" sz="320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0" marR="0" indent="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RDMA（Remote Direct Memory Access）技术全称远程直接内存访问，为了解决网络传输中服务器端数据处理的</a:t>
            </a:r>
            <a:r>
              <a:rPr kumimoji="0" lang="zh-CN" altLang="en-US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延迟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而产生的。它将数据直接从一台计算机的内存传输到另一台计算机，无需双方操作系统的介入。这允许</a:t>
            </a:r>
            <a:r>
              <a:rPr kumimoji="0" lang="zh-CN" altLang="en-US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高吞吐、低延迟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的网络通信，尤其适合在大规模并行计算机集群中使用。</a:t>
            </a: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ES 品牌视觉规范  |  ES Visual Identity Guideline"/>
          <p:cNvSpPr txBox="1"/>
          <p:nvPr/>
        </p:nvSpPr>
        <p:spPr>
          <a:xfrm>
            <a:off x="762000" y="332422"/>
            <a:ext cx="4648835" cy="101155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7100"/>
              </a:lnSpc>
              <a:spcBef>
                <a:spcPts val="1200"/>
              </a:spcBef>
              <a:defRPr sz="3400" b="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rPr lang="zh-CN" b="1"/>
              <a:t>什么是</a:t>
            </a:r>
            <a:r>
              <a:rPr lang="en-US" altLang="zh-CN" b="1"/>
              <a:t>RDMA - </a:t>
            </a:r>
            <a:r>
              <a:rPr lang="zh-CN" altLang="en-US" b="1"/>
              <a:t>缩略语</a:t>
            </a:r>
            <a:r>
              <a:rPr b="1"/>
              <a:t> </a:t>
            </a:r>
            <a:endParaRPr b="1"/>
          </a:p>
        </p:txBody>
      </p:sp>
      <p:sp>
        <p:nvSpPr>
          <p:cNvPr id="467" name="矩形"/>
          <p:cNvSpPr/>
          <p:nvPr/>
        </p:nvSpPr>
        <p:spPr>
          <a:xfrm>
            <a:off x="762000" y="1346200"/>
            <a:ext cx="22860000" cy="25400"/>
          </a:xfrm>
          <a:prstGeom prst="rect">
            <a:avLst/>
          </a:prstGeom>
          <a:solidFill>
            <a:srgbClr val="775C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pic>
        <p:nvPicPr>
          <p:cNvPr id="469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929005" y="2622550"/>
          <a:ext cx="22545040" cy="694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3365"/>
                <a:gridCol w="18481675"/>
              </a:tblGrid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3200">
                          <a:latin typeface="微软雅黑" charset="0"/>
                          <a:ea typeface="微软雅黑" charset="0"/>
                        </a:rPr>
                        <a:t>缩略语</a:t>
                      </a:r>
                      <a:endParaRPr lang="zh-CN" altLang="en-US" sz="32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3200">
                          <a:latin typeface="微软雅黑" charset="0"/>
                          <a:ea typeface="微软雅黑" charset="0"/>
                        </a:rPr>
                        <a:t>解释</a:t>
                      </a:r>
                      <a:endParaRPr lang="zh-CN" altLang="en-US" sz="320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latin typeface="微软雅黑" charset="0"/>
                          <a:ea typeface="微软雅黑" charset="0"/>
                        </a:rPr>
                        <a:t>QP</a:t>
                      </a:r>
                      <a:endParaRPr lang="en-US" altLang="zh-CN" sz="32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>
                          <a:latin typeface="微软雅黑" charset="0"/>
                          <a:ea typeface="微软雅黑" charset="0"/>
                        </a:rPr>
                        <a:t>（Queue Pair）一对工作队列可以理解</a:t>
                      </a:r>
                      <a:r>
                        <a:rPr lang="zh-CN" altLang="en-US" sz="3200">
                          <a:latin typeface="微软雅黑" charset="0"/>
                          <a:ea typeface="微软雅黑" charset="0"/>
                        </a:rPr>
                        <a:t>成一个</a:t>
                      </a:r>
                      <a:r>
                        <a:rPr lang="zh-CN" altLang="en-US" sz="3200">
                          <a:latin typeface="微软雅黑" charset="0"/>
                          <a:ea typeface="微软雅黑" charset="0"/>
                        </a:rPr>
                        <a:t>连接</a:t>
                      </a:r>
                      <a:endParaRPr lang="zh-CN" altLang="en-US" sz="32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latin typeface="微软雅黑" charset="0"/>
                          <a:ea typeface="微软雅黑" charset="0"/>
                        </a:rPr>
                        <a:t>PSN</a:t>
                      </a:r>
                      <a:endParaRPr lang="en-US" altLang="zh-CN" sz="32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>
                          <a:latin typeface="微软雅黑" charset="0"/>
                          <a:ea typeface="微软雅黑" charset="0"/>
                        </a:rPr>
                        <a:t>（Packet Serial Number）报文序列号建立连接是随机</a:t>
                      </a:r>
                      <a:r>
                        <a:rPr lang="zh-CN" altLang="en-US" sz="3200">
                          <a:latin typeface="微软雅黑" charset="0"/>
                          <a:ea typeface="微软雅黑" charset="0"/>
                        </a:rPr>
                        <a:t>生成</a:t>
                      </a:r>
                      <a:endParaRPr lang="zh-CN" altLang="en-US" sz="32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latin typeface="微软雅黑" charset="0"/>
                          <a:ea typeface="微软雅黑" charset="0"/>
                        </a:rPr>
                        <a:t>HCA</a:t>
                      </a:r>
                      <a:endParaRPr lang="en-US" altLang="zh-CN" sz="32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>
                          <a:latin typeface="微软雅黑" charset="0"/>
                          <a:ea typeface="微软雅黑" charset="0"/>
                        </a:rPr>
                        <a:t>（Host Channel Adapter）主机网卡</a:t>
                      </a:r>
                      <a:endParaRPr lang="zh-CN" altLang="en-US" sz="32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latin typeface="微软雅黑" charset="0"/>
                          <a:ea typeface="微软雅黑" charset="0"/>
                        </a:rPr>
                        <a:t>SACK</a:t>
                      </a:r>
                      <a:endParaRPr lang="en-US" altLang="zh-CN" sz="32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>
                          <a:latin typeface="微软雅黑" charset="0"/>
                          <a:ea typeface="微软雅黑" charset="0"/>
                        </a:rPr>
                        <a:t>（Selective ACK） TCP协议中用于检测连续报文中的一小段丢包的</a:t>
                      </a:r>
                      <a:r>
                        <a:rPr lang="zh-CN" altLang="en-US" sz="3200">
                          <a:latin typeface="微软雅黑" charset="0"/>
                          <a:ea typeface="微软雅黑" charset="0"/>
                        </a:rPr>
                        <a:t>高效机制</a:t>
                      </a:r>
                      <a:endParaRPr lang="zh-CN" altLang="en-US" sz="32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latin typeface="微软雅黑" charset="0"/>
                          <a:ea typeface="微软雅黑" charset="0"/>
                        </a:rPr>
                        <a:t>NACK</a:t>
                      </a:r>
                      <a:endParaRPr lang="en-US" altLang="zh-CN" sz="32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>
                          <a:latin typeface="微软雅黑" charset="0"/>
                          <a:ea typeface="微软雅黑" charset="0"/>
                        </a:rPr>
                        <a:t>（Negative ACK）当PSN发现丢包</a:t>
                      </a:r>
                      <a:r>
                        <a:rPr lang="zh-CN" altLang="en-US" sz="3200">
                          <a:latin typeface="微软雅黑" charset="0"/>
                          <a:ea typeface="微软雅黑" charset="0"/>
                        </a:rPr>
                        <a:t>重复后发送NACK通知重传</a:t>
                      </a:r>
                      <a:endParaRPr lang="zh-CN" altLang="en-US" sz="32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latin typeface="微软雅黑" charset="0"/>
                          <a:ea typeface="微软雅黑" charset="0"/>
                        </a:rPr>
                        <a:t>COS</a:t>
                      </a:r>
                      <a:endParaRPr lang="en-US" altLang="zh-CN" sz="32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>
                          <a:latin typeface="微软雅黑" charset="0"/>
                          <a:ea typeface="微软雅黑" charset="0"/>
                        </a:rPr>
                        <a:t>（</a:t>
                      </a:r>
                      <a:r>
                        <a:rPr lang="en-US" altLang="zh-CN" sz="3200">
                          <a:latin typeface="微软雅黑" charset="0"/>
                          <a:ea typeface="微软雅黑" charset="0"/>
                        </a:rPr>
                        <a:t>Class of Service</a:t>
                      </a:r>
                      <a:r>
                        <a:rPr lang="zh-CN" altLang="en-US" sz="3200">
                          <a:latin typeface="微软雅黑" charset="0"/>
                          <a:ea typeface="微软雅黑" charset="0"/>
                        </a:rPr>
                        <a:t>）在</a:t>
                      </a:r>
                      <a:r>
                        <a:rPr lang="en-US" altLang="zh-CN" sz="3200">
                          <a:latin typeface="微软雅黑" charset="0"/>
                          <a:ea typeface="微软雅黑" charset="0"/>
                        </a:rPr>
                        <a:t>VLAN/802.1q</a:t>
                      </a:r>
                      <a:r>
                        <a:rPr lang="zh-CN" altLang="en-US" sz="3200">
                          <a:latin typeface="微软雅黑" charset="0"/>
                          <a:ea typeface="微软雅黑" charset="0"/>
                        </a:rPr>
                        <a:t>报文头部占用</a:t>
                      </a:r>
                      <a:r>
                        <a:rPr lang="en-US" altLang="zh-CN" sz="3200">
                          <a:latin typeface="微软雅黑" charset="0"/>
                          <a:ea typeface="微软雅黑" charset="0"/>
                        </a:rPr>
                        <a:t>3</a:t>
                      </a:r>
                      <a:r>
                        <a:rPr lang="zh-CN" altLang="en-US" sz="3200">
                          <a:latin typeface="微软雅黑" charset="0"/>
                          <a:ea typeface="微软雅黑" charset="0"/>
                        </a:rPr>
                        <a:t>个</a:t>
                      </a:r>
                      <a:r>
                        <a:rPr lang="zh-CN" altLang="en-US" sz="3200">
                          <a:latin typeface="微软雅黑" charset="0"/>
                          <a:ea typeface="微软雅黑" charset="0"/>
                        </a:rPr>
                        <a:t>比特表示</a:t>
                      </a:r>
                      <a:r>
                        <a:rPr lang="en-US" altLang="zh-CN" sz="3200">
                          <a:latin typeface="微软雅黑" charset="0"/>
                          <a:ea typeface="微软雅黑" charset="0"/>
                        </a:rPr>
                        <a:t>8</a:t>
                      </a:r>
                      <a:r>
                        <a:rPr lang="zh-CN" altLang="en-US" sz="3200">
                          <a:latin typeface="微软雅黑" charset="0"/>
                          <a:ea typeface="微软雅黑" charset="0"/>
                        </a:rPr>
                        <a:t>中不同服务</a:t>
                      </a:r>
                      <a:r>
                        <a:rPr lang="zh-CN" altLang="en-US" sz="3200">
                          <a:latin typeface="微软雅黑" charset="0"/>
                          <a:ea typeface="微软雅黑" charset="0"/>
                        </a:rPr>
                        <a:t>质量</a:t>
                      </a:r>
                      <a:endParaRPr lang="zh-CN" altLang="en-US" sz="32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latin typeface="微软雅黑" charset="0"/>
                          <a:ea typeface="微软雅黑" charset="0"/>
                        </a:rPr>
                        <a:t>ToS/DSCP</a:t>
                      </a:r>
                      <a:endParaRPr lang="en-US" altLang="zh-CN" sz="32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>
                          <a:latin typeface="微软雅黑" charset="0"/>
                          <a:ea typeface="微软雅黑" charset="0"/>
                        </a:rPr>
                        <a:t>（</a:t>
                      </a:r>
                      <a:r>
                        <a:rPr lang="en-US" altLang="zh-CN" sz="3200">
                          <a:latin typeface="微软雅黑" charset="0"/>
                          <a:ea typeface="微软雅黑" charset="0"/>
                        </a:rPr>
                        <a:t>Differentiated Services Code Point</a:t>
                      </a:r>
                      <a:r>
                        <a:rPr lang="zh-CN" altLang="en-US" sz="3200">
                          <a:latin typeface="微软雅黑" charset="0"/>
                          <a:ea typeface="微软雅黑" charset="0"/>
                        </a:rPr>
                        <a:t>）定义在</a:t>
                      </a:r>
                      <a:r>
                        <a:rPr lang="en-US" altLang="zh-CN" sz="3200">
                          <a:latin typeface="微软雅黑" charset="0"/>
                          <a:ea typeface="微软雅黑" charset="0"/>
                        </a:rPr>
                        <a:t>IP</a:t>
                      </a:r>
                      <a:r>
                        <a:rPr lang="zh-CN" altLang="en-US" sz="3200">
                          <a:latin typeface="微软雅黑" charset="0"/>
                          <a:ea typeface="微软雅黑" charset="0"/>
                        </a:rPr>
                        <a:t>头部占用</a:t>
                      </a:r>
                      <a:r>
                        <a:rPr lang="en-US" altLang="zh-CN" sz="3200">
                          <a:latin typeface="微软雅黑" charset="0"/>
                          <a:ea typeface="微软雅黑" charset="0"/>
                        </a:rPr>
                        <a:t>8</a:t>
                      </a:r>
                      <a:r>
                        <a:rPr lang="zh-CN" altLang="en-US" sz="3200">
                          <a:latin typeface="微软雅黑" charset="0"/>
                          <a:ea typeface="微软雅黑" charset="0"/>
                        </a:rPr>
                        <a:t>个</a:t>
                      </a:r>
                      <a:r>
                        <a:rPr lang="zh-CN" altLang="en-US" sz="3200">
                          <a:latin typeface="微软雅黑" charset="0"/>
                          <a:ea typeface="微软雅黑" charset="0"/>
                        </a:rPr>
                        <a:t>比特用于区分服务</a:t>
                      </a:r>
                      <a:r>
                        <a:rPr lang="zh-CN" altLang="en-US" sz="3200">
                          <a:latin typeface="微软雅黑" charset="0"/>
                          <a:ea typeface="微软雅黑" charset="0"/>
                        </a:rPr>
                        <a:t>质量</a:t>
                      </a:r>
                      <a:endParaRPr lang="zh-CN" altLang="en-US" sz="32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latin typeface="微软雅黑" charset="0"/>
                          <a:ea typeface="微软雅黑" charset="0"/>
                        </a:rPr>
                        <a:t>DCQCN</a:t>
                      </a:r>
                      <a:endParaRPr lang="en-US" altLang="zh-CN" sz="32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（Data Center Quantized Congestion Notification）是一种基于速率的拥塞控制算法</a:t>
                      </a:r>
                      <a:endParaRPr lang="zh-CN" altLang="en-US" sz="32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latin typeface="微软雅黑" charset="0"/>
                          <a:ea typeface="微软雅黑" charset="0"/>
                        </a:rPr>
                        <a:t>PFC</a:t>
                      </a:r>
                      <a:endParaRPr lang="en-US" altLang="zh-CN" sz="32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（Priority-based Flow Control）</a:t>
                      </a:r>
                      <a:r>
                        <a:rPr lang="en-US" altLang="zh-CN" sz="320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基于优先级的流量控制</a:t>
                      </a:r>
                      <a:r>
                        <a:rPr lang="zh-CN" altLang="en-US" sz="320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，</a:t>
                      </a:r>
                      <a:r>
                        <a:rPr lang="en-US" altLang="zh-CN" sz="320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应用最广泛有效避免丢包的流量控制技术</a:t>
                      </a:r>
                      <a:endParaRPr lang="zh-CN" altLang="en-US" sz="32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latin typeface="微软雅黑" charset="0"/>
                          <a:ea typeface="微软雅黑" charset="0"/>
                        </a:rPr>
                        <a:t>CNP</a:t>
                      </a:r>
                      <a:endParaRPr lang="en-US" altLang="zh-CN" sz="32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（</a:t>
                      </a:r>
                      <a:r>
                        <a:rPr lang="en-US" altLang="zh-CN" sz="320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Congestion Notification Packet</a:t>
                      </a:r>
                      <a:r>
                        <a:rPr lang="zh-CN" altLang="en-US" sz="320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）快速拥塞通知</a:t>
                      </a:r>
                      <a:r>
                        <a:rPr lang="zh-CN" altLang="en-US" sz="320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报文</a:t>
                      </a:r>
                      <a:endParaRPr lang="zh-CN" altLang="en-US" sz="3200">
                        <a:latin typeface="微软雅黑" charset="0"/>
                        <a:ea typeface="微软雅黑" charset="0"/>
                        <a:cs typeface="微软雅黑" charset="0"/>
                        <a:sym typeface="+mn-ea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3200">
                          <a:latin typeface="微软雅黑" charset="0"/>
                          <a:ea typeface="微软雅黑" charset="0"/>
                        </a:rPr>
                        <a:t>ECN</a:t>
                      </a:r>
                      <a:endParaRPr lang="en-US" altLang="zh-CN" sz="32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（Explicit Congestion Notification）显示拥塞通知允许拥塞控制的端对端通知而避免丢包</a:t>
                      </a:r>
                      <a:endParaRPr lang="zh-CN" altLang="en-US" sz="3200">
                        <a:latin typeface="微软雅黑" charset="0"/>
                        <a:ea typeface="微软雅黑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ES 品牌视觉规范  |  ES Visual Identity Guideline"/>
          <p:cNvSpPr txBox="1"/>
          <p:nvPr/>
        </p:nvSpPr>
        <p:spPr>
          <a:xfrm>
            <a:off x="762000" y="332422"/>
            <a:ext cx="5081270" cy="101155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7100"/>
              </a:lnSpc>
              <a:spcBef>
                <a:spcPts val="1200"/>
              </a:spcBef>
              <a:defRPr sz="3400" b="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rPr lang="zh-CN" b="1"/>
              <a:t>什么是</a:t>
            </a:r>
            <a:r>
              <a:rPr lang="en-US" altLang="zh-CN" b="1"/>
              <a:t>RDMA - </a:t>
            </a:r>
            <a:r>
              <a:rPr lang="zh-CN" altLang="en-US" b="1"/>
              <a:t>传输服务</a:t>
            </a:r>
            <a:r>
              <a:rPr b="1"/>
              <a:t> </a:t>
            </a:r>
            <a:endParaRPr b="1"/>
          </a:p>
        </p:txBody>
      </p:sp>
      <p:sp>
        <p:nvSpPr>
          <p:cNvPr id="467" name="矩形"/>
          <p:cNvSpPr/>
          <p:nvPr/>
        </p:nvSpPr>
        <p:spPr>
          <a:xfrm>
            <a:off x="762000" y="1346200"/>
            <a:ext cx="22860000" cy="25400"/>
          </a:xfrm>
          <a:prstGeom prst="rect">
            <a:avLst/>
          </a:prstGeom>
          <a:solidFill>
            <a:srgbClr val="775C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pic>
        <p:nvPicPr>
          <p:cNvPr id="469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b="60239"/>
          <a:stretch>
            <a:fillRect/>
          </a:stretch>
        </p:blipFill>
        <p:spPr>
          <a:xfrm>
            <a:off x="3314065" y="1715135"/>
            <a:ext cx="17755870" cy="41884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557655" y="6824345"/>
            <a:ext cx="21489670" cy="40411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zh-CN" altLang="en-US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RC（</a:t>
            </a:r>
            <a:r>
              <a:rPr kumimoji="0" lang="en-US" altLang="zh-CN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Rel</a:t>
            </a:r>
            <a:r>
              <a:rPr kumimoji="0" lang="en-US" altLang="zh-CN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iable Con</a:t>
            </a:r>
            <a:r>
              <a:rPr kumimoji="0" lang="en-US" altLang="zh-CN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nection</a:t>
            </a:r>
            <a:r>
              <a:rPr kumimoji="0" lang="zh-CN" altLang="en-US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）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：通信前先建立连接，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交换PSN/QPN信息，消息会被可靠传输，当接收端检测到丢包，发送NACK给发送端，从ACK开始重新传送数据（有别于TCP连接的SACK），一个连接只能关联一个QP；</a:t>
            </a: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zh-CN" altLang="en-US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UC（</a:t>
            </a:r>
            <a:r>
              <a:rPr kumimoji="0" lang="en-US" altLang="zh-CN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Unreliable Connection</a:t>
            </a:r>
            <a:r>
              <a:rPr kumimoji="0" lang="zh-CN" altLang="en-US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）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：通信前先建立连接，交换PSN/QPN信息，消息会被传输，但是可靠性得不到保障，一个连接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只能关联一个QP，数据包丢失只能依靠上层应用感知处理；</a:t>
            </a: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zh-CN" altLang="en-US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UD（</a:t>
            </a:r>
            <a:r>
              <a:rPr kumimoji="0" lang="en-US" altLang="zh-CN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Unreliable Datagram</a:t>
            </a:r>
            <a:r>
              <a:rPr kumimoji="0" lang="zh-CN" altLang="en-US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）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：在没有建立连接情况下，单个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报文可以被传输到任何远端（类似组播的点到多点通信），但是消息的可靠性得不到保障（参考UDP连接）；</a:t>
            </a: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3200">
                <a:solidFill>
                  <a:schemeClr val="tx2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RD（</a:t>
            </a:r>
            <a:r>
              <a:rPr lang="en-US" altLang="zh-CN" sz="3200">
                <a:solidFill>
                  <a:schemeClr val="tx2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Reliable Datagram</a:t>
            </a:r>
            <a:r>
              <a:rPr lang="zh-CN" altLang="en-US" sz="3200">
                <a:solidFill>
                  <a:schemeClr val="tx2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）</a:t>
            </a:r>
            <a:r>
              <a:rPr lang="zh-CN" altLang="en-US" sz="3200" b="0">
                <a:solidFill>
                  <a:schemeClr val="tx2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：在没有建立连接情况下，单个报文可以被可靠的传送到任何远端，所以该模式减少连接的开销，但是目前还没有被实现；</a:t>
            </a: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ES 品牌视觉规范  |  ES Visual Identity Guideline"/>
          <p:cNvSpPr txBox="1"/>
          <p:nvPr/>
        </p:nvSpPr>
        <p:spPr>
          <a:xfrm>
            <a:off x="762000" y="303847"/>
            <a:ext cx="2554605" cy="101155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7100"/>
              </a:lnSpc>
              <a:spcBef>
                <a:spcPts val="1200"/>
              </a:spcBef>
              <a:defRPr sz="3400" b="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rPr lang="zh-CN" b="1"/>
              <a:t>什么是</a:t>
            </a:r>
            <a:r>
              <a:rPr lang="en-US" altLang="zh-CN" b="1"/>
              <a:t>RoCE</a:t>
            </a:r>
            <a:endParaRPr lang="en-US" altLang="zh-CN" b="1"/>
          </a:p>
        </p:txBody>
      </p:sp>
      <p:sp>
        <p:nvSpPr>
          <p:cNvPr id="467" name="矩形"/>
          <p:cNvSpPr/>
          <p:nvPr/>
        </p:nvSpPr>
        <p:spPr>
          <a:xfrm>
            <a:off x="762000" y="1346200"/>
            <a:ext cx="22860000" cy="25400"/>
          </a:xfrm>
          <a:prstGeom prst="rect">
            <a:avLst/>
          </a:prstGeom>
          <a:solidFill>
            <a:srgbClr val="775C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pic>
        <p:nvPicPr>
          <p:cNvPr id="469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文本框 2"/>
          <p:cNvSpPr txBox="1"/>
          <p:nvPr/>
        </p:nvSpPr>
        <p:spPr>
          <a:xfrm>
            <a:off x="1015365" y="5664835"/>
            <a:ext cx="22387560" cy="45681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RoCE</a:t>
            </a: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 vs </a:t>
            </a: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InfiniBand</a:t>
            </a:r>
            <a:endParaRPr kumimoji="0" lang="zh-CN" altLang="en-US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链路级流量控制：InfiniBand使用一个积分算法来保证无损的HCA到HCA通信。RoCE运行在以太网之上，需要无损以太网以达到类似于InfiniBand的性能特征，无损以太网一般通过以太网流量控制或</a:t>
            </a:r>
            <a:r>
              <a:rPr kumimoji="0" lang="zh-CN" altLang="en-US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优先流量控制（PFC）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配置。配置一个数据中心桥接（DCB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/PFC/ETS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）以太网网络可能比配置InfiniBand网络更为复杂。</a:t>
            </a: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拥塞控制：Infiniband定义了基于FECN/BECN标记的拥塞控制，RoCEv2则定义了一个拥塞控制协议，它使用ECN标记在标准交换机中的实现，以及</a:t>
            </a:r>
            <a:r>
              <a:rPr kumimoji="0" lang="zh-CN" altLang="en-US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CNP帧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用于送达确认。</a:t>
            </a: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InfiniBand交换机始终有比以太网交换机更低的延迟。一台特定类型以太网交换机的端口至端口延迟为</a:t>
            </a:r>
            <a:r>
              <a:rPr kumimoji="0" lang="zh-CN" altLang="en-US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230纳秒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，而有相同端口数量的一台InfiniBand交换机为</a:t>
            </a:r>
            <a:r>
              <a:rPr kumimoji="0" lang="zh-CN" altLang="en-US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100纳秒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。</a:t>
            </a: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15365" y="1936750"/>
            <a:ext cx="22420580" cy="31629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R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en-US" altLang="zh-CN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RoCE</a:t>
            </a:r>
            <a:r>
              <a:rPr kumimoji="0" lang="zh-CN" altLang="en-US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介绍</a:t>
            </a:r>
            <a:endParaRPr kumimoji="0" lang="zh-CN" altLang="en-US" sz="320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indent="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RDMA over Converged Ethernet (RoCE) or InfiniBand over Ethernet (IBoE)是一个网络协议，允许在一个以太网网络上使用远程直接内存访问（RDMA）。RoCE有RoCEv1和RoCEv2两个版本。RoCEv1是一个以太网链路层协议，因此允许同一个以太网广播域中的任意两台主机间进行通信。RoCEv2是一个网络层协议，因而RoCEv2数据包可以被路由。虽然RoCE协议受益于融合以太网网络的特征，但该协议也可用于传统或非融合的以太网网络。</a:t>
            </a: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ES 品牌视觉规范  |  ES Visual Identity Guideline"/>
          <p:cNvSpPr txBox="1"/>
          <p:nvPr/>
        </p:nvSpPr>
        <p:spPr>
          <a:xfrm>
            <a:off x="1016000" y="332422"/>
            <a:ext cx="241935" cy="101155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7100"/>
              </a:lnSpc>
              <a:spcBef>
                <a:spcPts val="1200"/>
              </a:spcBef>
              <a:defRPr sz="3400" b="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t> </a:t>
            </a:r>
          </a:p>
        </p:txBody>
      </p:sp>
      <p:sp>
        <p:nvSpPr>
          <p:cNvPr id="467" name="矩形"/>
          <p:cNvSpPr/>
          <p:nvPr/>
        </p:nvSpPr>
        <p:spPr>
          <a:xfrm>
            <a:off x="762000" y="1346200"/>
            <a:ext cx="22860000" cy="25400"/>
          </a:xfrm>
          <a:prstGeom prst="rect">
            <a:avLst/>
          </a:prstGeom>
          <a:solidFill>
            <a:srgbClr val="775C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pic>
        <p:nvPicPr>
          <p:cNvPr id="469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ES 品牌视觉规范  |  ES Visual Identity Guideline"/>
          <p:cNvSpPr txBox="1"/>
          <p:nvPr>
            <p:custDataLst>
              <p:tags r:id="rId2"/>
            </p:custDataLst>
          </p:nvPr>
        </p:nvSpPr>
        <p:spPr>
          <a:xfrm>
            <a:off x="762000" y="332422"/>
            <a:ext cx="4052570" cy="101155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7100"/>
              </a:lnSpc>
              <a:spcBef>
                <a:spcPts val="1200"/>
              </a:spcBef>
              <a:defRPr sz="3400" b="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rPr lang="zh-CN" b="1"/>
              <a:t>什么是</a:t>
            </a:r>
            <a:r>
              <a:rPr lang="en-US" altLang="zh-CN" b="1"/>
              <a:t>RoCE - vs IB</a:t>
            </a:r>
            <a:endParaRPr lang="en-US" altLang="zh-CN" b="1"/>
          </a:p>
        </p:txBody>
      </p:sp>
      <p:sp>
        <p:nvSpPr>
          <p:cNvPr id="2" name="文本框 1"/>
          <p:cNvSpPr txBox="1"/>
          <p:nvPr/>
        </p:nvSpPr>
        <p:spPr>
          <a:xfrm>
            <a:off x="3329305" y="9670733"/>
            <a:ext cx="17725390" cy="35483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320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RoCEv1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使用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MAC VLAN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取代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IB Link Layer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的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Subnet Routing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，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IB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可以工作在以太网之上成为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可能。</a:t>
            </a:r>
            <a:endParaRPr kumimoji="0" lang="en-US" altLang="zh-CN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RoCEv2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在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RoCEv1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的基础上，使用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IP UDP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取代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IB Network Layer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的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Inter-Subnet Routing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，充分利用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ECMP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的多条网络路径的进行数据传输，并且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RoCE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更加灵活的部署在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Spine-Leaf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架构的网络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中。</a:t>
            </a:r>
            <a:endParaRPr kumimoji="0" lang="en-US" altLang="zh-CN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</p:txBody>
      </p:sp>
      <p:pic>
        <p:nvPicPr>
          <p:cNvPr id="3" name="图片 2" descr="Roce-Arh.draw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430" y="2020570"/>
            <a:ext cx="16849090" cy="757872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ES 品牌视觉规范  |  ES Visual Identity Guideline"/>
          <p:cNvSpPr txBox="1"/>
          <p:nvPr/>
        </p:nvSpPr>
        <p:spPr>
          <a:xfrm>
            <a:off x="1016000" y="332422"/>
            <a:ext cx="241935" cy="101155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7100"/>
              </a:lnSpc>
              <a:spcBef>
                <a:spcPts val="1200"/>
              </a:spcBef>
              <a:defRPr sz="3400" b="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t> </a:t>
            </a:r>
          </a:p>
        </p:txBody>
      </p:sp>
      <p:sp>
        <p:nvSpPr>
          <p:cNvPr id="467" name="矩形"/>
          <p:cNvSpPr/>
          <p:nvPr/>
        </p:nvSpPr>
        <p:spPr>
          <a:xfrm>
            <a:off x="762000" y="1346200"/>
            <a:ext cx="22860000" cy="25400"/>
          </a:xfrm>
          <a:prstGeom prst="rect">
            <a:avLst/>
          </a:prstGeom>
          <a:solidFill>
            <a:srgbClr val="775C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pic>
        <p:nvPicPr>
          <p:cNvPr id="469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ES 品牌视觉规范  |  ES Visual Identity Guideline"/>
          <p:cNvSpPr txBox="1"/>
          <p:nvPr>
            <p:custDataLst>
              <p:tags r:id="rId2"/>
            </p:custDataLst>
          </p:nvPr>
        </p:nvSpPr>
        <p:spPr>
          <a:xfrm>
            <a:off x="762000" y="332422"/>
            <a:ext cx="3419475" cy="101155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7100"/>
              </a:lnSpc>
              <a:spcBef>
                <a:spcPts val="1200"/>
              </a:spcBef>
              <a:defRPr sz="3400" b="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rPr lang="en-US" altLang="zh-CN" b="1"/>
              <a:t>RoCE</a:t>
            </a:r>
            <a:r>
              <a:rPr lang="zh-CN" altLang="en-US" b="1"/>
              <a:t>的使用</a:t>
            </a:r>
            <a:r>
              <a:rPr lang="zh-CN" altLang="en-US" b="1"/>
              <a:t>场景</a:t>
            </a:r>
            <a:endParaRPr lang="zh-CN" altLang="en-US" b="1"/>
          </a:p>
        </p:txBody>
      </p:sp>
      <p:grpSp>
        <p:nvGrpSpPr>
          <p:cNvPr id="21" name="组合 20"/>
          <p:cNvGrpSpPr/>
          <p:nvPr/>
        </p:nvGrpSpPr>
        <p:grpSpPr>
          <a:xfrm>
            <a:off x="852170" y="1913255"/>
            <a:ext cx="14540865" cy="10241918"/>
            <a:chOff x="299325" y="1458024"/>
            <a:chExt cx="5782520" cy="3748497"/>
          </a:xfrm>
        </p:grpSpPr>
        <p:pic>
          <p:nvPicPr>
            <p:cNvPr id="64" name="图片 63" descr="CE12800交换机-蓝.png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 cstate="print"/>
            <a:stretch>
              <a:fillRect/>
            </a:stretch>
          </p:blipFill>
          <p:spPr>
            <a:xfrm>
              <a:off x="3263978" y="1675973"/>
              <a:ext cx="251752" cy="213622"/>
            </a:xfrm>
            <a:prstGeom prst="rect">
              <a:avLst/>
            </a:prstGeom>
          </p:spPr>
        </p:pic>
        <p:pic>
          <p:nvPicPr>
            <p:cNvPr id="65" name="图片 64" descr="CE12800交换机-蓝.png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4" cstate="print"/>
            <a:stretch>
              <a:fillRect/>
            </a:stretch>
          </p:blipFill>
          <p:spPr>
            <a:xfrm>
              <a:off x="2770226" y="1675974"/>
              <a:ext cx="251752" cy="213622"/>
            </a:xfrm>
            <a:prstGeom prst="rect">
              <a:avLst/>
            </a:prstGeom>
          </p:spPr>
        </p:pic>
        <p:cxnSp>
          <p:nvCxnSpPr>
            <p:cNvPr id="66" name="直接连接符 17"/>
            <p:cNvCxnSpPr>
              <a:stCxn id="65" idx="3"/>
              <a:endCxn id="64" idx="1"/>
            </p:cNvCxnSpPr>
            <p:nvPr>
              <p:custDataLst>
                <p:tags r:id="rId6"/>
              </p:custDataLst>
            </p:nvPr>
          </p:nvCxnSpPr>
          <p:spPr bwMode="auto">
            <a:xfrm flipV="1">
              <a:off x="3021977" y="1782784"/>
              <a:ext cx="242001" cy="0"/>
            </a:xfrm>
            <a:prstGeom prst="line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67" name="图片 66" descr="TOR交换机-蓝.png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print"/>
            <a:stretch>
              <a:fillRect/>
            </a:stretch>
          </p:blipFill>
          <p:spPr>
            <a:xfrm>
              <a:off x="2771424" y="2113405"/>
              <a:ext cx="252058" cy="231907"/>
            </a:xfrm>
            <a:prstGeom prst="rect">
              <a:avLst/>
            </a:prstGeom>
          </p:spPr>
        </p:pic>
        <p:pic>
          <p:nvPicPr>
            <p:cNvPr id="68" name="图片 67" descr="TOR交换机-蓝.png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8" cstate="print"/>
            <a:stretch>
              <a:fillRect/>
            </a:stretch>
          </p:blipFill>
          <p:spPr>
            <a:xfrm>
              <a:off x="3265176" y="2113405"/>
              <a:ext cx="252058" cy="231907"/>
            </a:xfrm>
            <a:prstGeom prst="rect">
              <a:avLst/>
            </a:prstGeom>
          </p:spPr>
        </p:pic>
        <p:cxnSp>
          <p:nvCxnSpPr>
            <p:cNvPr id="69" name="直接连接符 20"/>
            <p:cNvCxnSpPr>
              <a:stCxn id="67" idx="2"/>
              <a:endCxn id="72" idx="0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2678231" y="2345312"/>
              <a:ext cx="219222" cy="26178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" name="直接连接符 21"/>
            <p:cNvCxnSpPr>
              <a:stCxn id="68" idx="2"/>
              <a:endCxn id="72" idx="0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2678231" y="2345312"/>
              <a:ext cx="712974" cy="26178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直接连接符 22"/>
            <p:cNvCxnSpPr>
              <a:stCxn id="67" idx="3"/>
              <a:endCxn id="68" idx="1"/>
            </p:cNvCxnSpPr>
            <p:nvPr>
              <p:custDataLst>
                <p:tags r:id="rId12"/>
              </p:custDataLst>
            </p:nvPr>
          </p:nvCxnSpPr>
          <p:spPr bwMode="auto">
            <a:xfrm>
              <a:off x="3023482" y="2229358"/>
              <a:ext cx="241695" cy="0"/>
            </a:xfrm>
            <a:prstGeom prst="line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72" name="图片 71" descr="接入交换机.png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 cstate="print"/>
            <a:stretch>
              <a:fillRect/>
            </a:stretch>
          </p:blipFill>
          <p:spPr>
            <a:xfrm>
              <a:off x="2602175" y="2607092"/>
              <a:ext cx="152112" cy="139951"/>
            </a:xfrm>
            <a:prstGeom prst="rect">
              <a:avLst/>
            </a:prstGeom>
          </p:spPr>
        </p:pic>
        <p:cxnSp>
          <p:nvCxnSpPr>
            <p:cNvPr id="73" name="直接连接符 24"/>
            <p:cNvCxnSpPr>
              <a:stCxn id="67" idx="2"/>
              <a:endCxn id="76" idx="0"/>
            </p:cNvCxnSpPr>
            <p:nvPr>
              <p:custDataLst>
                <p:tags r:id="rId15"/>
              </p:custDataLst>
            </p:nvPr>
          </p:nvCxnSpPr>
          <p:spPr bwMode="auto">
            <a:xfrm>
              <a:off x="2897453" y="2345312"/>
              <a:ext cx="379406" cy="26685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4" name="矩形 73"/>
            <p:cNvSpPr/>
            <p:nvPr>
              <p:custDataLst>
                <p:tags r:id="rId16"/>
              </p:custDataLst>
            </p:nvPr>
          </p:nvSpPr>
          <p:spPr>
            <a:xfrm>
              <a:off x="3628526" y="2570003"/>
              <a:ext cx="615874" cy="14595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defTabSz="86423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微软雅黑" charset="0"/>
                  <a:sym typeface="Helvetica Neue" panose="02000503000000020004"/>
                </a:rPr>
                <a:t>管理</a:t>
              </a:r>
              <a:r>
                <a:rPr lang="en-US" altLang="zh-CN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微软雅黑" charset="0"/>
                  <a:sym typeface="Helvetica Neue" panose="02000503000000020004"/>
                </a:rPr>
                <a:t>leaf</a:t>
              </a:r>
              <a:endParaRPr lang="zh-CN" altLang="en-US" sz="2000" b="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endParaRPr>
            </a:p>
          </p:txBody>
        </p:sp>
        <p:pic>
          <p:nvPicPr>
            <p:cNvPr id="75" name="图片 74" descr="接入交换机.png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4" cstate="print"/>
            <a:stretch>
              <a:fillRect/>
            </a:stretch>
          </p:blipFill>
          <p:spPr>
            <a:xfrm>
              <a:off x="2901489" y="2607092"/>
              <a:ext cx="152112" cy="139951"/>
            </a:xfrm>
            <a:prstGeom prst="rect">
              <a:avLst/>
            </a:prstGeom>
          </p:spPr>
        </p:pic>
        <p:pic>
          <p:nvPicPr>
            <p:cNvPr id="76" name="图片 75" descr="接入交换机.png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4" cstate="print"/>
            <a:stretch>
              <a:fillRect/>
            </a:stretch>
          </p:blipFill>
          <p:spPr>
            <a:xfrm>
              <a:off x="3200803" y="2612165"/>
              <a:ext cx="152112" cy="139951"/>
            </a:xfrm>
            <a:prstGeom prst="rect">
              <a:avLst/>
            </a:prstGeom>
          </p:spPr>
        </p:pic>
        <p:pic>
          <p:nvPicPr>
            <p:cNvPr id="77" name="图片 76" descr="接入交换机.png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4" cstate="print"/>
            <a:stretch>
              <a:fillRect/>
            </a:stretch>
          </p:blipFill>
          <p:spPr>
            <a:xfrm>
              <a:off x="3500117" y="2612165"/>
              <a:ext cx="152112" cy="139951"/>
            </a:xfrm>
            <a:prstGeom prst="rect">
              <a:avLst/>
            </a:prstGeom>
          </p:spPr>
        </p:pic>
        <p:cxnSp>
          <p:nvCxnSpPr>
            <p:cNvPr id="78" name="直接连接符 29"/>
            <p:cNvCxnSpPr>
              <a:stCxn id="67" idx="2"/>
              <a:endCxn id="75" idx="0"/>
            </p:cNvCxnSpPr>
            <p:nvPr>
              <p:custDataLst>
                <p:tags r:id="rId20"/>
              </p:custDataLst>
            </p:nvPr>
          </p:nvCxnSpPr>
          <p:spPr bwMode="auto">
            <a:xfrm>
              <a:off x="2897453" y="2345312"/>
              <a:ext cx="80092" cy="26178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9" name="直接连接符 30"/>
            <p:cNvCxnSpPr>
              <a:stCxn id="68" idx="2"/>
              <a:endCxn id="75" idx="0"/>
            </p:cNvCxnSpPr>
            <p:nvPr>
              <p:custDataLst>
                <p:tags r:id="rId21"/>
              </p:custDataLst>
            </p:nvPr>
          </p:nvCxnSpPr>
          <p:spPr bwMode="auto">
            <a:xfrm flipH="1">
              <a:off x="2977545" y="2345312"/>
              <a:ext cx="413660" cy="26178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0" name="直接连接符 31"/>
            <p:cNvCxnSpPr>
              <a:stCxn id="68" idx="2"/>
              <a:endCxn id="76" idx="0"/>
            </p:cNvCxnSpPr>
            <p:nvPr>
              <p:custDataLst>
                <p:tags r:id="rId22"/>
              </p:custDataLst>
            </p:nvPr>
          </p:nvCxnSpPr>
          <p:spPr bwMode="auto">
            <a:xfrm flipH="1">
              <a:off x="3276859" y="2345312"/>
              <a:ext cx="114346" cy="26685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1" name="直接连接符 32"/>
            <p:cNvCxnSpPr>
              <a:stCxn id="68" idx="2"/>
              <a:endCxn id="77" idx="0"/>
            </p:cNvCxnSpPr>
            <p:nvPr>
              <p:custDataLst>
                <p:tags r:id="rId23"/>
              </p:custDataLst>
            </p:nvPr>
          </p:nvCxnSpPr>
          <p:spPr bwMode="auto">
            <a:xfrm>
              <a:off x="3391205" y="2345312"/>
              <a:ext cx="184968" cy="26685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" name="直接连接符 33"/>
            <p:cNvCxnSpPr>
              <a:stCxn id="67" idx="2"/>
              <a:endCxn id="77" idx="0"/>
            </p:cNvCxnSpPr>
            <p:nvPr>
              <p:custDataLst>
                <p:tags r:id="rId24"/>
              </p:custDataLst>
            </p:nvPr>
          </p:nvCxnSpPr>
          <p:spPr bwMode="auto">
            <a:xfrm>
              <a:off x="2897453" y="2345312"/>
              <a:ext cx="678720" cy="26685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3" name="矩形 82"/>
            <p:cNvSpPr/>
            <p:nvPr>
              <p:custDataLst>
                <p:tags r:id="rId25"/>
              </p:custDataLst>
            </p:nvPr>
          </p:nvSpPr>
          <p:spPr>
            <a:xfrm>
              <a:off x="1341608" y="3326216"/>
              <a:ext cx="987356" cy="622613"/>
            </a:xfrm>
            <a:prstGeom prst="rect">
              <a:avLst/>
            </a:prstGeom>
            <a:noFill/>
            <a:ln w="9525" cap="flat">
              <a:solidFill>
                <a:schemeClr val="tx1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p>
              <a:pPr algn="ctr" defTabSz="389890" hangingPunct="0"/>
              <a:endParaRPr lang="zh-CN" altLang="en-US" sz="2000" b="0" kern="0">
                <a:solidFill>
                  <a:srgbClr val="000000"/>
                </a:solidFill>
                <a:latin typeface="微软雅黑" charset="0"/>
                <a:ea typeface="微软雅黑" charset="0"/>
                <a:sym typeface="Helvetica Neue Medium" panose="02000503000000020004"/>
              </a:endParaRPr>
            </a:p>
          </p:txBody>
        </p:sp>
        <p:sp>
          <p:nvSpPr>
            <p:cNvPr id="84" name="矩形 83"/>
            <p:cNvSpPr/>
            <p:nvPr>
              <p:custDataLst>
                <p:tags r:id="rId26"/>
              </p:custDataLst>
            </p:nvPr>
          </p:nvSpPr>
          <p:spPr>
            <a:xfrm>
              <a:off x="1327311" y="3331070"/>
              <a:ext cx="530915" cy="14595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defTabSz="86423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Helvetica Neue" panose="02000503000000020004" charset="0"/>
                  <a:sym typeface="Helvetica Neue" panose="02000503000000020004"/>
                </a:rPr>
                <a:t>管理区</a:t>
              </a:r>
              <a:endParaRPr lang="zh-CN" altLang="en-US" sz="2000" b="0" dirty="0">
                <a:solidFill>
                  <a:srgbClr val="000000"/>
                </a:solidFill>
                <a:latin typeface="微软雅黑" charset="0"/>
                <a:ea typeface="微软雅黑" charset="0"/>
                <a:cs typeface="Helvetica Neue" panose="02000503000000020004" charset="0"/>
                <a:sym typeface="Helvetica Neue" panose="02000503000000020004"/>
              </a:endParaRPr>
            </a:p>
          </p:txBody>
        </p:sp>
        <p:sp>
          <p:nvSpPr>
            <p:cNvPr id="85" name="矩形 84"/>
            <p:cNvSpPr/>
            <p:nvPr>
              <p:custDataLst>
                <p:tags r:id="rId27"/>
              </p:custDataLst>
            </p:nvPr>
          </p:nvSpPr>
          <p:spPr>
            <a:xfrm>
              <a:off x="3577784" y="2128792"/>
              <a:ext cx="723275" cy="14595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defTabSz="86423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微软雅黑" charset="0"/>
                  <a:sym typeface="Helvetica Neue" panose="02000503000000020004"/>
                </a:rPr>
                <a:t>管理</a:t>
              </a:r>
              <a:r>
                <a:rPr lang="en-US" altLang="zh-CN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微软雅黑" charset="0"/>
                  <a:sym typeface="Helvetica Neue" panose="02000503000000020004"/>
                </a:rPr>
                <a:t>Spine</a:t>
              </a:r>
              <a:endParaRPr lang="zh-CN" altLang="en-US" sz="2000" b="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endParaRPr>
            </a:p>
          </p:txBody>
        </p:sp>
        <p:sp>
          <p:nvSpPr>
            <p:cNvPr id="86" name="矩形 85"/>
            <p:cNvSpPr/>
            <p:nvPr>
              <p:custDataLst>
                <p:tags r:id="rId28"/>
              </p:custDataLst>
            </p:nvPr>
          </p:nvSpPr>
          <p:spPr>
            <a:xfrm>
              <a:off x="3557985" y="1687581"/>
              <a:ext cx="698622" cy="14595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defTabSz="86423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微软雅黑" charset="0"/>
                  <a:sym typeface="Helvetica Neue" panose="02000503000000020004"/>
                </a:rPr>
                <a:t>管理</a:t>
              </a:r>
              <a:r>
                <a:rPr lang="en-US" altLang="zh-CN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微软雅黑" charset="0"/>
                  <a:sym typeface="Helvetica Neue" panose="02000503000000020004"/>
                </a:rPr>
                <a:t>Border</a:t>
              </a:r>
              <a:endParaRPr lang="zh-CN" altLang="en-US" sz="2000" b="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endParaRPr>
            </a:p>
          </p:txBody>
        </p:sp>
        <p:cxnSp>
          <p:nvCxnSpPr>
            <p:cNvPr id="87" name="直接连接符 38"/>
            <p:cNvCxnSpPr>
              <a:stCxn id="68" idx="0"/>
              <a:endCxn id="65" idx="2"/>
            </p:cNvCxnSpPr>
            <p:nvPr>
              <p:custDataLst>
                <p:tags r:id="rId29"/>
              </p:custDataLst>
            </p:nvPr>
          </p:nvCxnSpPr>
          <p:spPr bwMode="auto">
            <a:xfrm flipH="1" flipV="1">
              <a:off x="2896102" y="1889596"/>
              <a:ext cx="495104" cy="223809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直接连接符 39"/>
            <p:cNvCxnSpPr>
              <a:stCxn id="65" idx="2"/>
              <a:endCxn id="67" idx="0"/>
            </p:cNvCxnSpPr>
            <p:nvPr>
              <p:custDataLst>
                <p:tags r:id="rId30"/>
              </p:custDataLst>
            </p:nvPr>
          </p:nvCxnSpPr>
          <p:spPr bwMode="auto">
            <a:xfrm>
              <a:off x="2896102" y="1889596"/>
              <a:ext cx="1351" cy="223809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直接连接符 40"/>
            <p:cNvCxnSpPr>
              <a:stCxn id="64" idx="2"/>
              <a:endCxn id="67" idx="0"/>
            </p:cNvCxnSpPr>
            <p:nvPr>
              <p:custDataLst>
                <p:tags r:id="rId31"/>
              </p:custDataLst>
            </p:nvPr>
          </p:nvCxnSpPr>
          <p:spPr bwMode="auto">
            <a:xfrm flipH="1">
              <a:off x="2897453" y="1889595"/>
              <a:ext cx="492401" cy="22381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" name="直接连接符 41"/>
            <p:cNvCxnSpPr>
              <a:stCxn id="68" idx="0"/>
              <a:endCxn id="64" idx="2"/>
            </p:cNvCxnSpPr>
            <p:nvPr>
              <p:custDataLst>
                <p:tags r:id="rId32"/>
              </p:custDataLst>
            </p:nvPr>
          </p:nvCxnSpPr>
          <p:spPr bwMode="auto">
            <a:xfrm flipH="1" flipV="1">
              <a:off x="3389854" y="1889595"/>
              <a:ext cx="1351" cy="22381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91" name="图片 90" descr="CE12800交换机-蓝.png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4" cstate="print"/>
            <a:stretch>
              <a:fillRect/>
            </a:stretch>
          </p:blipFill>
          <p:spPr>
            <a:xfrm>
              <a:off x="1269744" y="1668098"/>
              <a:ext cx="251752" cy="213622"/>
            </a:xfrm>
            <a:prstGeom prst="rect">
              <a:avLst/>
            </a:prstGeom>
          </p:spPr>
        </p:pic>
        <p:pic>
          <p:nvPicPr>
            <p:cNvPr id="92" name="图片 91" descr="CE12800交换机-蓝.png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4" cstate="print"/>
            <a:stretch>
              <a:fillRect/>
            </a:stretch>
          </p:blipFill>
          <p:spPr>
            <a:xfrm>
              <a:off x="775992" y="1668099"/>
              <a:ext cx="251752" cy="213622"/>
            </a:xfrm>
            <a:prstGeom prst="rect">
              <a:avLst/>
            </a:prstGeom>
          </p:spPr>
        </p:pic>
        <p:cxnSp>
          <p:nvCxnSpPr>
            <p:cNvPr id="93" name="直接连接符 44"/>
            <p:cNvCxnSpPr>
              <a:stCxn id="92" idx="3"/>
              <a:endCxn id="91" idx="1"/>
            </p:cNvCxnSpPr>
            <p:nvPr>
              <p:custDataLst>
                <p:tags r:id="rId35"/>
              </p:custDataLst>
            </p:nvPr>
          </p:nvCxnSpPr>
          <p:spPr bwMode="auto">
            <a:xfrm flipV="1">
              <a:off x="1027744" y="1774909"/>
              <a:ext cx="242001" cy="0"/>
            </a:xfrm>
            <a:prstGeom prst="line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94" name="图片 93" descr="TOR交换机-蓝.png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8" cstate="print"/>
            <a:stretch>
              <a:fillRect/>
            </a:stretch>
          </p:blipFill>
          <p:spPr>
            <a:xfrm>
              <a:off x="777190" y="2105530"/>
              <a:ext cx="252058" cy="231907"/>
            </a:xfrm>
            <a:prstGeom prst="rect">
              <a:avLst/>
            </a:prstGeom>
          </p:spPr>
        </p:pic>
        <p:pic>
          <p:nvPicPr>
            <p:cNvPr id="95" name="图片 94" descr="TOR交换机-蓝.png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8" cstate="print"/>
            <a:stretch>
              <a:fillRect/>
            </a:stretch>
          </p:blipFill>
          <p:spPr>
            <a:xfrm>
              <a:off x="1270943" y="2105530"/>
              <a:ext cx="252058" cy="231907"/>
            </a:xfrm>
            <a:prstGeom prst="rect">
              <a:avLst/>
            </a:prstGeom>
          </p:spPr>
        </p:pic>
        <p:cxnSp>
          <p:nvCxnSpPr>
            <p:cNvPr id="96" name="直接连接符 47"/>
            <p:cNvCxnSpPr>
              <a:stCxn id="94" idx="2"/>
              <a:endCxn id="99" idx="0"/>
            </p:cNvCxnSpPr>
            <p:nvPr>
              <p:custDataLst>
                <p:tags r:id="rId38"/>
              </p:custDataLst>
            </p:nvPr>
          </p:nvCxnSpPr>
          <p:spPr bwMode="auto">
            <a:xfrm flipH="1">
              <a:off x="683997" y="2337437"/>
              <a:ext cx="219222" cy="26178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7" name="直接连接符 48"/>
            <p:cNvCxnSpPr>
              <a:stCxn id="95" idx="2"/>
              <a:endCxn id="99" idx="0"/>
            </p:cNvCxnSpPr>
            <p:nvPr>
              <p:custDataLst>
                <p:tags r:id="rId39"/>
              </p:custDataLst>
            </p:nvPr>
          </p:nvCxnSpPr>
          <p:spPr bwMode="auto">
            <a:xfrm flipH="1">
              <a:off x="683997" y="2337437"/>
              <a:ext cx="712974" cy="26178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8" name="直接连接符 49"/>
            <p:cNvCxnSpPr>
              <a:stCxn id="94" idx="3"/>
              <a:endCxn id="95" idx="1"/>
            </p:cNvCxnSpPr>
            <p:nvPr>
              <p:custDataLst>
                <p:tags r:id="rId40"/>
              </p:custDataLst>
            </p:nvPr>
          </p:nvCxnSpPr>
          <p:spPr bwMode="auto">
            <a:xfrm>
              <a:off x="1029248" y="2221483"/>
              <a:ext cx="241695" cy="0"/>
            </a:xfrm>
            <a:prstGeom prst="line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99" name="图片 98" descr="接入交换机.png"/>
            <p:cNvPicPr>
              <a:picLocks noChangeAspect="1"/>
            </p:cNvPicPr>
            <p:nvPr>
              <p:custDataLst>
                <p:tags r:id="rId41"/>
              </p:custDataLst>
            </p:nvPr>
          </p:nvPicPr>
          <p:blipFill>
            <a:blip r:embed="rId14" cstate="print"/>
            <a:stretch>
              <a:fillRect/>
            </a:stretch>
          </p:blipFill>
          <p:spPr>
            <a:xfrm>
              <a:off x="607941" y="2599217"/>
              <a:ext cx="152112" cy="139951"/>
            </a:xfrm>
            <a:prstGeom prst="rect">
              <a:avLst/>
            </a:prstGeom>
          </p:spPr>
        </p:pic>
        <p:cxnSp>
          <p:nvCxnSpPr>
            <p:cNvPr id="100" name="直接连接符 51"/>
            <p:cNvCxnSpPr>
              <a:stCxn id="94" idx="2"/>
              <a:endCxn id="103" idx="0"/>
            </p:cNvCxnSpPr>
            <p:nvPr>
              <p:custDataLst>
                <p:tags r:id="rId42"/>
              </p:custDataLst>
            </p:nvPr>
          </p:nvCxnSpPr>
          <p:spPr bwMode="auto">
            <a:xfrm>
              <a:off x="903219" y="2337437"/>
              <a:ext cx="379406" cy="26685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1" name="矩形 100"/>
            <p:cNvSpPr/>
            <p:nvPr>
              <p:custDataLst>
                <p:tags r:id="rId43"/>
              </p:custDataLst>
            </p:nvPr>
          </p:nvSpPr>
          <p:spPr>
            <a:xfrm>
              <a:off x="1634293" y="2562129"/>
              <a:ext cx="615874" cy="14595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defTabSz="86423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微软雅黑" charset="0"/>
                  <a:sym typeface="Helvetica Neue" panose="02000503000000020004"/>
                </a:rPr>
                <a:t>业务</a:t>
              </a:r>
              <a:r>
                <a:rPr lang="en-US" altLang="zh-CN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微软雅黑" charset="0"/>
                  <a:sym typeface="Helvetica Neue" panose="02000503000000020004"/>
                </a:rPr>
                <a:t>leaf</a:t>
              </a:r>
              <a:endParaRPr lang="zh-CN" altLang="en-US" sz="2000" b="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endParaRPr>
            </a:p>
          </p:txBody>
        </p:sp>
        <p:pic>
          <p:nvPicPr>
            <p:cNvPr id="102" name="图片 101" descr="接入交换机.png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14" cstate="print"/>
            <a:stretch>
              <a:fillRect/>
            </a:stretch>
          </p:blipFill>
          <p:spPr>
            <a:xfrm>
              <a:off x="907255" y="2599217"/>
              <a:ext cx="152112" cy="139951"/>
            </a:xfrm>
            <a:prstGeom prst="rect">
              <a:avLst/>
            </a:prstGeom>
          </p:spPr>
        </p:pic>
        <p:pic>
          <p:nvPicPr>
            <p:cNvPr id="103" name="图片 102" descr="接入交换机.png"/>
            <p:cNvPicPr>
              <a:picLocks noChangeAspect="1"/>
            </p:cNvPicPr>
            <p:nvPr>
              <p:custDataLst>
                <p:tags r:id="rId45"/>
              </p:custDataLst>
            </p:nvPr>
          </p:nvPicPr>
          <p:blipFill>
            <a:blip r:embed="rId14" cstate="print"/>
            <a:stretch>
              <a:fillRect/>
            </a:stretch>
          </p:blipFill>
          <p:spPr>
            <a:xfrm>
              <a:off x="1206569" y="2604290"/>
              <a:ext cx="152112" cy="139951"/>
            </a:xfrm>
            <a:prstGeom prst="rect">
              <a:avLst/>
            </a:prstGeom>
          </p:spPr>
        </p:pic>
        <p:pic>
          <p:nvPicPr>
            <p:cNvPr id="104" name="图片 103" descr="接入交换机.png"/>
            <p:cNvPicPr>
              <a:picLocks noChangeAspect="1"/>
            </p:cNvPicPr>
            <p:nvPr>
              <p:custDataLst>
                <p:tags r:id="rId46"/>
              </p:custDataLst>
            </p:nvPr>
          </p:nvPicPr>
          <p:blipFill>
            <a:blip r:embed="rId14" cstate="print"/>
            <a:stretch>
              <a:fillRect/>
            </a:stretch>
          </p:blipFill>
          <p:spPr>
            <a:xfrm>
              <a:off x="1505883" y="2604290"/>
              <a:ext cx="152112" cy="139951"/>
            </a:xfrm>
            <a:prstGeom prst="rect">
              <a:avLst/>
            </a:prstGeom>
          </p:spPr>
        </p:pic>
        <p:cxnSp>
          <p:nvCxnSpPr>
            <p:cNvPr id="105" name="直接连接符 56"/>
            <p:cNvCxnSpPr>
              <a:stCxn id="94" idx="2"/>
              <a:endCxn id="102" idx="0"/>
            </p:cNvCxnSpPr>
            <p:nvPr>
              <p:custDataLst>
                <p:tags r:id="rId47"/>
              </p:custDataLst>
            </p:nvPr>
          </p:nvCxnSpPr>
          <p:spPr bwMode="auto">
            <a:xfrm>
              <a:off x="903219" y="2337437"/>
              <a:ext cx="80092" cy="26178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6" name="直接连接符 57"/>
            <p:cNvCxnSpPr>
              <a:stCxn id="95" idx="2"/>
              <a:endCxn id="102" idx="0"/>
            </p:cNvCxnSpPr>
            <p:nvPr>
              <p:custDataLst>
                <p:tags r:id="rId48"/>
              </p:custDataLst>
            </p:nvPr>
          </p:nvCxnSpPr>
          <p:spPr bwMode="auto">
            <a:xfrm flipH="1">
              <a:off x="983311" y="2337437"/>
              <a:ext cx="413660" cy="26178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7" name="直接连接符 58"/>
            <p:cNvCxnSpPr>
              <a:stCxn id="95" idx="2"/>
              <a:endCxn id="103" idx="0"/>
            </p:cNvCxnSpPr>
            <p:nvPr>
              <p:custDataLst>
                <p:tags r:id="rId49"/>
              </p:custDataLst>
            </p:nvPr>
          </p:nvCxnSpPr>
          <p:spPr bwMode="auto">
            <a:xfrm flipH="1">
              <a:off x="1282625" y="2337437"/>
              <a:ext cx="114346" cy="26685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8" name="直接连接符 59"/>
            <p:cNvCxnSpPr>
              <a:stCxn id="95" idx="2"/>
              <a:endCxn id="104" idx="0"/>
            </p:cNvCxnSpPr>
            <p:nvPr>
              <p:custDataLst>
                <p:tags r:id="rId50"/>
              </p:custDataLst>
            </p:nvPr>
          </p:nvCxnSpPr>
          <p:spPr bwMode="auto">
            <a:xfrm>
              <a:off x="1396971" y="2337437"/>
              <a:ext cx="184968" cy="26685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9" name="直接连接符 60"/>
            <p:cNvCxnSpPr>
              <a:stCxn id="94" idx="2"/>
              <a:endCxn id="104" idx="0"/>
            </p:cNvCxnSpPr>
            <p:nvPr>
              <p:custDataLst>
                <p:tags r:id="rId51"/>
              </p:custDataLst>
            </p:nvPr>
          </p:nvCxnSpPr>
          <p:spPr bwMode="auto">
            <a:xfrm>
              <a:off x="903219" y="2337437"/>
              <a:ext cx="678720" cy="26685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0" name="矩形 109"/>
            <p:cNvSpPr/>
            <p:nvPr>
              <p:custDataLst>
                <p:tags r:id="rId52"/>
              </p:custDataLst>
            </p:nvPr>
          </p:nvSpPr>
          <p:spPr>
            <a:xfrm>
              <a:off x="1583551" y="2120917"/>
              <a:ext cx="723275" cy="14595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defTabSz="86423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微软雅黑" charset="0"/>
                  <a:sym typeface="Helvetica Neue" panose="02000503000000020004"/>
                </a:rPr>
                <a:t>业务</a:t>
              </a:r>
              <a:r>
                <a:rPr lang="en-US" altLang="zh-CN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微软雅黑" charset="0"/>
                  <a:sym typeface="Helvetica Neue" panose="02000503000000020004"/>
                </a:rPr>
                <a:t>Spine</a:t>
              </a:r>
              <a:endParaRPr lang="zh-CN" altLang="en-US" sz="2000" b="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endParaRPr>
            </a:p>
          </p:txBody>
        </p:sp>
        <p:sp>
          <p:nvSpPr>
            <p:cNvPr id="111" name="矩形 110"/>
            <p:cNvSpPr/>
            <p:nvPr>
              <p:custDataLst>
                <p:tags r:id="rId53"/>
              </p:custDataLst>
            </p:nvPr>
          </p:nvSpPr>
          <p:spPr>
            <a:xfrm>
              <a:off x="1563752" y="1679706"/>
              <a:ext cx="698622" cy="14595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defTabSz="86423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微软雅黑" charset="0"/>
                  <a:sym typeface="Helvetica Neue" panose="02000503000000020004"/>
                </a:rPr>
                <a:t>业务</a:t>
              </a:r>
              <a:r>
                <a:rPr lang="en-US" altLang="zh-CN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微软雅黑" charset="0"/>
                  <a:sym typeface="Helvetica Neue" panose="02000503000000020004"/>
                </a:rPr>
                <a:t>Border</a:t>
              </a:r>
              <a:endParaRPr lang="zh-CN" altLang="en-US" sz="2000" b="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endParaRPr>
            </a:p>
          </p:txBody>
        </p:sp>
        <p:cxnSp>
          <p:nvCxnSpPr>
            <p:cNvPr id="112" name="直接连接符 1151"/>
            <p:cNvCxnSpPr>
              <a:stCxn id="95" idx="0"/>
              <a:endCxn id="92" idx="2"/>
            </p:cNvCxnSpPr>
            <p:nvPr>
              <p:custDataLst>
                <p:tags r:id="rId54"/>
              </p:custDataLst>
            </p:nvPr>
          </p:nvCxnSpPr>
          <p:spPr bwMode="auto">
            <a:xfrm flipH="1" flipV="1">
              <a:off x="901868" y="1881721"/>
              <a:ext cx="495104" cy="223809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3" name="直接连接符 1152"/>
            <p:cNvCxnSpPr>
              <a:stCxn id="92" idx="2"/>
              <a:endCxn id="94" idx="0"/>
            </p:cNvCxnSpPr>
            <p:nvPr>
              <p:custDataLst>
                <p:tags r:id="rId55"/>
              </p:custDataLst>
            </p:nvPr>
          </p:nvCxnSpPr>
          <p:spPr bwMode="auto">
            <a:xfrm>
              <a:off x="901868" y="1881721"/>
              <a:ext cx="1351" cy="223809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4" name="直接连接符 1153"/>
            <p:cNvCxnSpPr>
              <a:stCxn id="91" idx="2"/>
              <a:endCxn id="94" idx="0"/>
            </p:cNvCxnSpPr>
            <p:nvPr>
              <p:custDataLst>
                <p:tags r:id="rId56"/>
              </p:custDataLst>
            </p:nvPr>
          </p:nvCxnSpPr>
          <p:spPr bwMode="auto">
            <a:xfrm flipH="1">
              <a:off x="903219" y="1881720"/>
              <a:ext cx="492401" cy="22381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5" name="直接连接符 1154"/>
            <p:cNvCxnSpPr>
              <a:stCxn id="95" idx="0"/>
              <a:endCxn id="91" idx="2"/>
            </p:cNvCxnSpPr>
            <p:nvPr>
              <p:custDataLst>
                <p:tags r:id="rId57"/>
              </p:custDataLst>
            </p:nvPr>
          </p:nvCxnSpPr>
          <p:spPr bwMode="auto">
            <a:xfrm flipH="1" flipV="1">
              <a:off x="1395620" y="1881720"/>
              <a:ext cx="1351" cy="22381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116" name="图片 115" descr="TOR交换机-蓝.png"/>
            <p:cNvPicPr>
              <a:picLocks noChangeAspect="1"/>
            </p:cNvPicPr>
            <p:nvPr>
              <p:custDataLst>
                <p:tags r:id="rId58"/>
              </p:custDataLst>
            </p:nvPr>
          </p:nvPicPr>
          <p:blipFill>
            <a:blip r:embed="rId8" cstate="print"/>
            <a:stretch>
              <a:fillRect/>
            </a:stretch>
          </p:blipFill>
          <p:spPr>
            <a:xfrm>
              <a:off x="4584106" y="2110772"/>
              <a:ext cx="252058" cy="231907"/>
            </a:xfrm>
            <a:prstGeom prst="rect">
              <a:avLst/>
            </a:prstGeom>
          </p:spPr>
        </p:pic>
        <p:pic>
          <p:nvPicPr>
            <p:cNvPr id="117" name="图片 116" descr="TOR交换机-蓝.png"/>
            <p:cNvPicPr>
              <a:picLocks noChangeAspect="1"/>
            </p:cNvPicPr>
            <p:nvPr>
              <p:custDataLst>
                <p:tags r:id="rId59"/>
              </p:custDataLst>
            </p:nvPr>
          </p:nvPicPr>
          <p:blipFill>
            <a:blip r:embed="rId8" cstate="print"/>
            <a:stretch>
              <a:fillRect/>
            </a:stretch>
          </p:blipFill>
          <p:spPr>
            <a:xfrm>
              <a:off x="5077859" y="2110772"/>
              <a:ext cx="252058" cy="231907"/>
            </a:xfrm>
            <a:prstGeom prst="rect">
              <a:avLst/>
            </a:prstGeom>
          </p:spPr>
        </p:pic>
        <p:cxnSp>
          <p:nvCxnSpPr>
            <p:cNvPr id="118" name="直接连接符 1157"/>
            <p:cNvCxnSpPr>
              <a:stCxn id="116" idx="2"/>
              <a:endCxn id="121" idx="0"/>
            </p:cNvCxnSpPr>
            <p:nvPr>
              <p:custDataLst>
                <p:tags r:id="rId60"/>
              </p:custDataLst>
            </p:nvPr>
          </p:nvCxnSpPr>
          <p:spPr bwMode="auto">
            <a:xfrm flipH="1">
              <a:off x="4490913" y="2342679"/>
              <a:ext cx="219222" cy="261780"/>
            </a:xfrm>
            <a:prstGeom prst="line">
              <a:avLst/>
            </a:prstGeom>
            <a:noFill/>
            <a:ln w="9525" cap="flat" cmpd="sng" algn="ctr">
              <a:solidFill>
                <a:srgbClr val="08634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" name="直接连接符 1158"/>
            <p:cNvCxnSpPr>
              <a:stCxn id="117" idx="2"/>
              <a:endCxn id="121" idx="0"/>
            </p:cNvCxnSpPr>
            <p:nvPr>
              <p:custDataLst>
                <p:tags r:id="rId61"/>
              </p:custDataLst>
            </p:nvPr>
          </p:nvCxnSpPr>
          <p:spPr bwMode="auto">
            <a:xfrm flipH="1">
              <a:off x="4490913" y="2342679"/>
              <a:ext cx="712974" cy="261780"/>
            </a:xfrm>
            <a:prstGeom prst="line">
              <a:avLst/>
            </a:prstGeom>
            <a:noFill/>
            <a:ln w="9525" cap="flat" cmpd="sng" algn="ctr">
              <a:solidFill>
                <a:srgbClr val="08634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0" name="直接连接符 1159"/>
            <p:cNvCxnSpPr>
              <a:stCxn id="116" idx="3"/>
              <a:endCxn id="117" idx="1"/>
            </p:cNvCxnSpPr>
            <p:nvPr>
              <p:custDataLst>
                <p:tags r:id="rId62"/>
              </p:custDataLst>
            </p:nvPr>
          </p:nvCxnSpPr>
          <p:spPr bwMode="auto">
            <a:xfrm>
              <a:off x="4836164" y="2226725"/>
              <a:ext cx="241695" cy="0"/>
            </a:xfrm>
            <a:prstGeom prst="line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121" name="图片 120" descr="接入交换机.png"/>
            <p:cNvPicPr>
              <a:picLocks noChangeAspect="1"/>
            </p:cNvPicPr>
            <p:nvPr>
              <p:custDataLst>
                <p:tags r:id="rId63"/>
              </p:custDataLst>
            </p:nvPr>
          </p:nvPicPr>
          <p:blipFill>
            <a:blip r:embed="rId14" cstate="print"/>
            <a:stretch>
              <a:fillRect/>
            </a:stretch>
          </p:blipFill>
          <p:spPr>
            <a:xfrm>
              <a:off x="4414857" y="2604459"/>
              <a:ext cx="152112" cy="139951"/>
            </a:xfrm>
            <a:prstGeom prst="rect">
              <a:avLst/>
            </a:prstGeom>
          </p:spPr>
        </p:pic>
        <p:cxnSp>
          <p:nvCxnSpPr>
            <p:cNvPr id="122" name="直接连接符 1161"/>
            <p:cNvCxnSpPr>
              <a:stCxn id="116" idx="2"/>
              <a:endCxn id="125" idx="0"/>
            </p:cNvCxnSpPr>
            <p:nvPr>
              <p:custDataLst>
                <p:tags r:id="rId64"/>
              </p:custDataLst>
            </p:nvPr>
          </p:nvCxnSpPr>
          <p:spPr bwMode="auto">
            <a:xfrm>
              <a:off x="4710135" y="2342679"/>
              <a:ext cx="379406" cy="266853"/>
            </a:xfrm>
            <a:prstGeom prst="line">
              <a:avLst/>
            </a:prstGeom>
            <a:noFill/>
            <a:ln w="9525" cap="flat" cmpd="sng" algn="ctr">
              <a:solidFill>
                <a:srgbClr val="08634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3" name="矩形 122"/>
            <p:cNvSpPr/>
            <p:nvPr>
              <p:custDataLst>
                <p:tags r:id="rId65"/>
              </p:custDataLst>
            </p:nvPr>
          </p:nvSpPr>
          <p:spPr>
            <a:xfrm>
              <a:off x="5640144" y="2574991"/>
              <a:ext cx="385042" cy="14595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defTabSz="86423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Helvetica Neue" panose="02000503000000020004" charset="0"/>
                  <a:sym typeface="Helvetica Neue" panose="02000503000000020004"/>
                </a:rPr>
                <a:t>leaf</a:t>
              </a:r>
              <a:endParaRPr lang="en-US" altLang="zh-CN" sz="2000" b="0" dirty="0">
                <a:solidFill>
                  <a:srgbClr val="000000"/>
                </a:solidFill>
                <a:latin typeface="微软雅黑" charset="0"/>
                <a:ea typeface="微软雅黑" charset="0"/>
                <a:cs typeface="Helvetica Neue" panose="02000503000000020004" charset="0"/>
                <a:sym typeface="Helvetica Neue" panose="02000503000000020004"/>
              </a:endParaRPr>
            </a:p>
          </p:txBody>
        </p:sp>
        <p:pic>
          <p:nvPicPr>
            <p:cNvPr id="124" name="图片 123" descr="接入交换机.png"/>
            <p:cNvPicPr>
              <a:picLocks noChangeAspect="1"/>
            </p:cNvPicPr>
            <p:nvPr>
              <p:custDataLst>
                <p:tags r:id="rId66"/>
              </p:custDataLst>
            </p:nvPr>
          </p:nvPicPr>
          <p:blipFill>
            <a:blip r:embed="rId14" cstate="print"/>
            <a:stretch>
              <a:fillRect/>
            </a:stretch>
          </p:blipFill>
          <p:spPr>
            <a:xfrm>
              <a:off x="4714171" y="2604459"/>
              <a:ext cx="152112" cy="139951"/>
            </a:xfrm>
            <a:prstGeom prst="rect">
              <a:avLst/>
            </a:prstGeom>
          </p:spPr>
        </p:pic>
        <p:pic>
          <p:nvPicPr>
            <p:cNvPr id="125" name="图片 124" descr="接入交换机.png"/>
            <p:cNvPicPr>
              <a:picLocks noChangeAspect="1"/>
            </p:cNvPicPr>
            <p:nvPr>
              <p:custDataLst>
                <p:tags r:id="rId67"/>
              </p:custDataLst>
            </p:nvPr>
          </p:nvPicPr>
          <p:blipFill>
            <a:blip r:embed="rId14" cstate="print"/>
            <a:stretch>
              <a:fillRect/>
            </a:stretch>
          </p:blipFill>
          <p:spPr bwMode="auto">
            <a:xfrm>
              <a:off x="5013485" y="2609532"/>
              <a:ext cx="152112" cy="139951"/>
            </a:xfrm>
            <a:prstGeom prst="rect">
              <a:avLst/>
            </a:prstGeom>
            <a:noFill/>
            <a:ln w="9525" cap="flat" cmpd="sng" algn="ctr">
              <a:solidFill>
                <a:srgbClr val="08634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6" name="图片 125" descr="接入交换机.png"/>
            <p:cNvPicPr>
              <a:picLocks noChangeAspect="1"/>
            </p:cNvPicPr>
            <p:nvPr>
              <p:custDataLst>
                <p:tags r:id="rId68"/>
              </p:custDataLst>
            </p:nvPr>
          </p:nvPicPr>
          <p:blipFill>
            <a:blip r:embed="rId14" cstate="print"/>
            <a:stretch>
              <a:fillRect/>
            </a:stretch>
          </p:blipFill>
          <p:spPr>
            <a:xfrm>
              <a:off x="5312799" y="2609532"/>
              <a:ext cx="152112" cy="139951"/>
            </a:xfrm>
            <a:prstGeom prst="rect">
              <a:avLst/>
            </a:prstGeom>
          </p:spPr>
        </p:pic>
        <p:cxnSp>
          <p:nvCxnSpPr>
            <p:cNvPr id="127" name="直接连接符 1166"/>
            <p:cNvCxnSpPr>
              <a:stCxn id="116" idx="2"/>
              <a:endCxn id="124" idx="0"/>
            </p:cNvCxnSpPr>
            <p:nvPr>
              <p:custDataLst>
                <p:tags r:id="rId69"/>
              </p:custDataLst>
            </p:nvPr>
          </p:nvCxnSpPr>
          <p:spPr bwMode="auto">
            <a:xfrm>
              <a:off x="4710135" y="2342679"/>
              <a:ext cx="80092" cy="261780"/>
            </a:xfrm>
            <a:prstGeom prst="line">
              <a:avLst/>
            </a:prstGeom>
            <a:noFill/>
            <a:ln w="9525" cap="flat" cmpd="sng" algn="ctr">
              <a:solidFill>
                <a:srgbClr val="08634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8" name="直接连接符 1167"/>
            <p:cNvCxnSpPr>
              <a:stCxn id="117" idx="2"/>
              <a:endCxn id="124" idx="0"/>
            </p:cNvCxnSpPr>
            <p:nvPr>
              <p:custDataLst>
                <p:tags r:id="rId70"/>
              </p:custDataLst>
            </p:nvPr>
          </p:nvCxnSpPr>
          <p:spPr bwMode="auto">
            <a:xfrm flipH="1">
              <a:off x="4790227" y="2342679"/>
              <a:ext cx="413660" cy="261780"/>
            </a:xfrm>
            <a:prstGeom prst="line">
              <a:avLst/>
            </a:prstGeom>
            <a:noFill/>
            <a:ln w="9525" cap="flat" cmpd="sng" algn="ctr">
              <a:solidFill>
                <a:srgbClr val="08634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9" name="直接连接符 1168"/>
            <p:cNvCxnSpPr>
              <a:stCxn id="117" idx="2"/>
              <a:endCxn id="125" idx="0"/>
            </p:cNvCxnSpPr>
            <p:nvPr>
              <p:custDataLst>
                <p:tags r:id="rId71"/>
              </p:custDataLst>
            </p:nvPr>
          </p:nvCxnSpPr>
          <p:spPr bwMode="auto">
            <a:xfrm flipH="1">
              <a:off x="5089541" y="2342679"/>
              <a:ext cx="114346" cy="266853"/>
            </a:xfrm>
            <a:prstGeom prst="line">
              <a:avLst/>
            </a:prstGeom>
            <a:noFill/>
            <a:ln w="9525" cap="flat" cmpd="sng" algn="ctr">
              <a:solidFill>
                <a:srgbClr val="08634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0" name="直接连接符 1169"/>
            <p:cNvCxnSpPr>
              <a:stCxn id="117" idx="2"/>
              <a:endCxn id="126" idx="0"/>
            </p:cNvCxnSpPr>
            <p:nvPr>
              <p:custDataLst>
                <p:tags r:id="rId72"/>
              </p:custDataLst>
            </p:nvPr>
          </p:nvCxnSpPr>
          <p:spPr bwMode="auto">
            <a:xfrm>
              <a:off x="5203888" y="2342679"/>
              <a:ext cx="184968" cy="266853"/>
            </a:xfrm>
            <a:prstGeom prst="line">
              <a:avLst/>
            </a:prstGeom>
            <a:noFill/>
            <a:ln w="9525" cap="flat" cmpd="sng" algn="ctr">
              <a:solidFill>
                <a:srgbClr val="08634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1" name="直接连接符 1170"/>
            <p:cNvCxnSpPr>
              <a:stCxn id="116" idx="2"/>
              <a:endCxn id="126" idx="0"/>
            </p:cNvCxnSpPr>
            <p:nvPr>
              <p:custDataLst>
                <p:tags r:id="rId73"/>
              </p:custDataLst>
            </p:nvPr>
          </p:nvCxnSpPr>
          <p:spPr bwMode="auto">
            <a:xfrm>
              <a:off x="4710135" y="2342679"/>
              <a:ext cx="678720" cy="266853"/>
            </a:xfrm>
            <a:prstGeom prst="line">
              <a:avLst/>
            </a:prstGeom>
            <a:noFill/>
            <a:ln w="9525" cap="flat" cmpd="sng" algn="ctr">
              <a:solidFill>
                <a:srgbClr val="08634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2" name="矩形 131"/>
            <p:cNvSpPr/>
            <p:nvPr>
              <p:custDataLst>
                <p:tags r:id="rId74"/>
              </p:custDataLst>
            </p:nvPr>
          </p:nvSpPr>
          <p:spPr>
            <a:xfrm>
              <a:off x="5589402" y="2133779"/>
              <a:ext cx="492443" cy="14595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defTabSz="86423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Helvetica Neue" panose="02000503000000020004" charset="0"/>
                  <a:sym typeface="Helvetica Neue" panose="02000503000000020004"/>
                </a:rPr>
                <a:t>Spine</a:t>
              </a:r>
              <a:endParaRPr lang="en-US" altLang="zh-CN" sz="2000" b="0" dirty="0">
                <a:solidFill>
                  <a:srgbClr val="000000"/>
                </a:solidFill>
                <a:latin typeface="微软雅黑" charset="0"/>
                <a:ea typeface="微软雅黑" charset="0"/>
                <a:cs typeface="Helvetica Neue" panose="02000503000000020004" charset="0"/>
                <a:sym typeface="Helvetica Neue" panose="02000503000000020004"/>
              </a:endParaRPr>
            </a:p>
          </p:txBody>
        </p:sp>
        <p:sp>
          <p:nvSpPr>
            <p:cNvPr id="133" name="矩形 132"/>
            <p:cNvSpPr/>
            <p:nvPr>
              <p:custDataLst>
                <p:tags r:id="rId75"/>
              </p:custDataLst>
            </p:nvPr>
          </p:nvSpPr>
          <p:spPr>
            <a:xfrm>
              <a:off x="2347569" y="1458024"/>
              <a:ext cx="1924905" cy="1390911"/>
            </a:xfrm>
            <a:prstGeom prst="rect">
              <a:avLst/>
            </a:prstGeom>
            <a:noFill/>
            <a:ln w="9525" cap="flat">
              <a:solidFill>
                <a:schemeClr val="tx1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p>
              <a:pPr algn="ctr" defTabSz="389890" hangingPunct="0"/>
              <a:endParaRPr lang="zh-CN" altLang="en-US" sz="2000" b="0" kern="0">
                <a:solidFill>
                  <a:srgbClr val="000000"/>
                </a:solidFill>
                <a:latin typeface="微软雅黑" charset="0"/>
                <a:ea typeface="微软雅黑" charset="0"/>
                <a:sym typeface="Helvetica Neue Medium" panose="02000503000000020004"/>
              </a:endParaRPr>
            </a:p>
          </p:txBody>
        </p:sp>
        <p:sp>
          <p:nvSpPr>
            <p:cNvPr id="134" name="矩形 133"/>
            <p:cNvSpPr/>
            <p:nvPr>
              <p:custDataLst>
                <p:tags r:id="rId76"/>
              </p:custDataLst>
            </p:nvPr>
          </p:nvSpPr>
          <p:spPr>
            <a:xfrm>
              <a:off x="2353248" y="1506489"/>
              <a:ext cx="530915" cy="14595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defTabSz="86423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Helvetica Neue" panose="02000503000000020004" charset="0"/>
                  <a:sym typeface="Helvetica Neue" panose="02000503000000020004"/>
                </a:rPr>
                <a:t>管理网</a:t>
              </a:r>
              <a:endParaRPr lang="zh-CN" altLang="en-US" sz="2000" b="0" dirty="0">
                <a:solidFill>
                  <a:srgbClr val="000000"/>
                </a:solidFill>
                <a:latin typeface="微软雅黑" charset="0"/>
                <a:ea typeface="微软雅黑" charset="0"/>
                <a:cs typeface="Helvetica Neue" panose="02000503000000020004" charset="0"/>
                <a:sym typeface="Helvetica Neue" panose="02000503000000020004"/>
              </a:endParaRPr>
            </a:p>
          </p:txBody>
        </p:sp>
        <p:sp>
          <p:nvSpPr>
            <p:cNvPr id="135" name="矩形 134"/>
            <p:cNvSpPr/>
            <p:nvPr>
              <p:custDataLst>
                <p:tags r:id="rId77"/>
              </p:custDataLst>
            </p:nvPr>
          </p:nvSpPr>
          <p:spPr>
            <a:xfrm>
              <a:off x="387704" y="1459235"/>
              <a:ext cx="1924905" cy="1392020"/>
            </a:xfrm>
            <a:prstGeom prst="rect">
              <a:avLst/>
            </a:prstGeom>
            <a:noFill/>
            <a:ln w="9525" cap="flat">
              <a:solidFill>
                <a:schemeClr val="tx1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p>
              <a:pPr algn="ctr" defTabSz="389890" hangingPunct="0"/>
              <a:endParaRPr lang="zh-CN" altLang="en-US" sz="2000" b="0" kern="0">
                <a:solidFill>
                  <a:srgbClr val="000000"/>
                </a:solidFill>
                <a:latin typeface="微软雅黑" charset="0"/>
                <a:ea typeface="微软雅黑" charset="0"/>
                <a:sym typeface="Helvetica Neue Medium" panose="02000503000000020004"/>
              </a:endParaRPr>
            </a:p>
          </p:txBody>
        </p:sp>
        <p:sp>
          <p:nvSpPr>
            <p:cNvPr id="136" name="矩形 135"/>
            <p:cNvSpPr/>
            <p:nvPr>
              <p:custDataLst>
                <p:tags r:id="rId78"/>
              </p:custDataLst>
            </p:nvPr>
          </p:nvSpPr>
          <p:spPr>
            <a:xfrm>
              <a:off x="393383" y="1507120"/>
              <a:ext cx="530915" cy="14595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defTabSz="86423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Helvetica Neue" panose="02000503000000020004" charset="0"/>
                  <a:sym typeface="Helvetica Neue" panose="02000503000000020004"/>
                </a:rPr>
                <a:t>业务网</a:t>
              </a:r>
              <a:endParaRPr lang="zh-CN" altLang="en-US" sz="2000" b="0" dirty="0">
                <a:solidFill>
                  <a:srgbClr val="000000"/>
                </a:solidFill>
                <a:latin typeface="微软雅黑" charset="0"/>
                <a:ea typeface="微软雅黑" charset="0"/>
                <a:cs typeface="Helvetica Neue" panose="02000503000000020004" charset="0"/>
                <a:sym typeface="Helvetica Neue" panose="02000503000000020004"/>
              </a:endParaRPr>
            </a:p>
          </p:txBody>
        </p:sp>
        <p:sp>
          <p:nvSpPr>
            <p:cNvPr id="137" name="矩形 136"/>
            <p:cNvSpPr/>
            <p:nvPr>
              <p:custDataLst>
                <p:tags r:id="rId79"/>
              </p:custDataLst>
            </p:nvPr>
          </p:nvSpPr>
          <p:spPr>
            <a:xfrm>
              <a:off x="4339226" y="1458025"/>
              <a:ext cx="1684650" cy="1390910"/>
            </a:xfrm>
            <a:prstGeom prst="rect">
              <a:avLst/>
            </a:prstGeom>
            <a:noFill/>
            <a:ln w="9525" cap="flat">
              <a:solidFill>
                <a:schemeClr val="tx1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p>
              <a:pPr algn="ctr" defTabSz="389890" hangingPunct="0"/>
              <a:endParaRPr lang="zh-CN" altLang="en-US" sz="2000" b="0" kern="0">
                <a:solidFill>
                  <a:srgbClr val="000000"/>
                </a:solidFill>
                <a:latin typeface="微软雅黑" charset="0"/>
                <a:ea typeface="微软雅黑" charset="0"/>
                <a:sym typeface="Helvetica Neue Medium" panose="02000503000000020004"/>
              </a:endParaRPr>
            </a:p>
          </p:txBody>
        </p:sp>
        <p:sp>
          <p:nvSpPr>
            <p:cNvPr id="138" name="矩形 137"/>
            <p:cNvSpPr/>
            <p:nvPr>
              <p:custDataLst>
                <p:tags r:id="rId80"/>
              </p:custDataLst>
            </p:nvPr>
          </p:nvSpPr>
          <p:spPr>
            <a:xfrm>
              <a:off x="4344905" y="1507120"/>
              <a:ext cx="530915" cy="14595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defTabSz="86423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Helvetica Neue" panose="02000503000000020004" charset="0"/>
                  <a:sym typeface="Helvetica Neue" panose="02000503000000020004"/>
                </a:rPr>
                <a:t>AI</a:t>
              </a:r>
              <a:r>
                <a:rPr lang="zh-CN" altLang="en-US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Helvetica Neue" panose="02000503000000020004" charset="0"/>
                  <a:sym typeface="Helvetica Neue" panose="02000503000000020004"/>
                </a:rPr>
                <a:t>算力网</a:t>
              </a:r>
              <a:endParaRPr lang="zh-CN" altLang="en-US" sz="2000" b="0" dirty="0">
                <a:solidFill>
                  <a:srgbClr val="000000"/>
                </a:solidFill>
                <a:latin typeface="微软雅黑" charset="0"/>
                <a:ea typeface="微软雅黑" charset="0"/>
                <a:cs typeface="Helvetica Neue" panose="02000503000000020004" charset="0"/>
                <a:sym typeface="Helvetica Neue" panose="02000503000000020004"/>
              </a:endParaRPr>
            </a:p>
          </p:txBody>
        </p:sp>
        <p:pic>
          <p:nvPicPr>
            <p:cNvPr id="139" name="图片 138" descr="TOR交换机-蓝.png"/>
            <p:cNvPicPr>
              <a:picLocks noChangeAspect="1"/>
            </p:cNvPicPr>
            <p:nvPr>
              <p:custDataLst>
                <p:tags r:id="rId81"/>
              </p:custDataLst>
            </p:nvPr>
          </p:nvPicPr>
          <p:blipFill>
            <a:blip r:embed="rId8" cstate="print"/>
            <a:stretch>
              <a:fillRect/>
            </a:stretch>
          </p:blipFill>
          <p:spPr>
            <a:xfrm>
              <a:off x="3262772" y="4873903"/>
              <a:ext cx="252058" cy="231907"/>
            </a:xfrm>
            <a:prstGeom prst="rect">
              <a:avLst/>
            </a:prstGeom>
          </p:spPr>
        </p:pic>
        <p:pic>
          <p:nvPicPr>
            <p:cNvPr id="140" name="图片 139" descr="TOR交换机-蓝.png"/>
            <p:cNvPicPr>
              <a:picLocks noChangeAspect="1"/>
            </p:cNvPicPr>
            <p:nvPr>
              <p:custDataLst>
                <p:tags r:id="rId82"/>
              </p:custDataLst>
            </p:nvPr>
          </p:nvPicPr>
          <p:blipFill>
            <a:blip r:embed="rId8" cstate="print"/>
            <a:stretch>
              <a:fillRect/>
            </a:stretch>
          </p:blipFill>
          <p:spPr>
            <a:xfrm>
              <a:off x="3756524" y="4873903"/>
              <a:ext cx="252058" cy="231907"/>
            </a:xfrm>
            <a:prstGeom prst="rect">
              <a:avLst/>
            </a:prstGeom>
          </p:spPr>
        </p:pic>
        <p:cxnSp>
          <p:nvCxnSpPr>
            <p:cNvPr id="141" name="直接连接符 1180"/>
            <p:cNvCxnSpPr>
              <a:stCxn id="139" idx="0"/>
              <a:endCxn id="144" idx="2"/>
            </p:cNvCxnSpPr>
            <p:nvPr>
              <p:custDataLst>
                <p:tags r:id="rId83"/>
              </p:custDataLst>
            </p:nvPr>
          </p:nvCxnSpPr>
          <p:spPr bwMode="auto">
            <a:xfrm flipH="1" flipV="1">
              <a:off x="3212121" y="4673518"/>
              <a:ext cx="176680" cy="200385"/>
            </a:xfrm>
            <a:prstGeom prst="line">
              <a:avLst/>
            </a:prstGeom>
            <a:noFill/>
            <a:ln w="9525" cap="flat" cmpd="sng" algn="ctr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2" name="直接连接符 1181"/>
            <p:cNvCxnSpPr>
              <a:stCxn id="140" idx="0"/>
              <a:endCxn id="144" idx="2"/>
            </p:cNvCxnSpPr>
            <p:nvPr>
              <p:custDataLst>
                <p:tags r:id="rId84"/>
              </p:custDataLst>
            </p:nvPr>
          </p:nvCxnSpPr>
          <p:spPr bwMode="auto">
            <a:xfrm flipH="1" flipV="1">
              <a:off x="3212121" y="4673518"/>
              <a:ext cx="670433" cy="200385"/>
            </a:xfrm>
            <a:prstGeom prst="line">
              <a:avLst/>
            </a:prstGeom>
            <a:noFill/>
            <a:ln w="9525" cap="flat" cmpd="sng" algn="ctr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" name="直接连接符 1182"/>
            <p:cNvCxnSpPr>
              <a:stCxn id="139" idx="3"/>
              <a:endCxn id="140" idx="1"/>
            </p:cNvCxnSpPr>
            <p:nvPr>
              <p:custDataLst>
                <p:tags r:id="rId85"/>
              </p:custDataLst>
            </p:nvPr>
          </p:nvCxnSpPr>
          <p:spPr bwMode="auto">
            <a:xfrm>
              <a:off x="3514830" y="4989856"/>
              <a:ext cx="241695" cy="0"/>
            </a:xfrm>
            <a:prstGeom prst="line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144" name="图片 143" descr="接入交换机.png"/>
            <p:cNvPicPr>
              <a:picLocks noChangeAspect="1"/>
            </p:cNvPicPr>
            <p:nvPr>
              <p:custDataLst>
                <p:tags r:id="rId86"/>
              </p:custDataLst>
            </p:nvPr>
          </p:nvPicPr>
          <p:blipFill>
            <a:blip r:embed="rId14" cstate="print"/>
            <a:stretch>
              <a:fillRect/>
            </a:stretch>
          </p:blipFill>
          <p:spPr>
            <a:xfrm>
              <a:off x="3136065" y="4533567"/>
              <a:ext cx="152112" cy="139951"/>
            </a:xfrm>
            <a:prstGeom prst="rect">
              <a:avLst/>
            </a:prstGeom>
          </p:spPr>
        </p:pic>
        <p:cxnSp>
          <p:nvCxnSpPr>
            <p:cNvPr id="145" name="直接连接符 1184"/>
            <p:cNvCxnSpPr>
              <a:stCxn id="139" idx="0"/>
              <a:endCxn id="148" idx="2"/>
            </p:cNvCxnSpPr>
            <p:nvPr>
              <p:custDataLst>
                <p:tags r:id="rId87"/>
              </p:custDataLst>
            </p:nvPr>
          </p:nvCxnSpPr>
          <p:spPr bwMode="auto">
            <a:xfrm flipV="1">
              <a:off x="3388801" y="4678592"/>
              <a:ext cx="421948" cy="195311"/>
            </a:xfrm>
            <a:prstGeom prst="line">
              <a:avLst/>
            </a:prstGeom>
            <a:noFill/>
            <a:ln w="9525" cap="flat" cmpd="sng" algn="ctr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6" name="矩形 145"/>
            <p:cNvSpPr/>
            <p:nvPr>
              <p:custDataLst>
                <p:tags r:id="rId88"/>
              </p:custDataLst>
            </p:nvPr>
          </p:nvSpPr>
          <p:spPr>
            <a:xfrm>
              <a:off x="4295919" y="4540866"/>
              <a:ext cx="385042" cy="14595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defTabSz="86423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Helvetica Neue" panose="02000503000000020004" charset="0"/>
                  <a:sym typeface="Helvetica Neue" panose="02000503000000020004"/>
                </a:rPr>
                <a:t>leaf</a:t>
              </a:r>
              <a:endParaRPr lang="en-US" altLang="zh-CN" sz="2000" b="0" dirty="0">
                <a:solidFill>
                  <a:srgbClr val="000000"/>
                </a:solidFill>
                <a:latin typeface="微软雅黑" charset="0"/>
                <a:ea typeface="微软雅黑" charset="0"/>
                <a:cs typeface="Helvetica Neue" panose="02000503000000020004" charset="0"/>
                <a:sym typeface="Helvetica Neue" panose="02000503000000020004"/>
              </a:endParaRPr>
            </a:p>
          </p:txBody>
        </p:sp>
        <p:pic>
          <p:nvPicPr>
            <p:cNvPr id="147" name="图片 146" descr="接入交换机.png"/>
            <p:cNvPicPr>
              <a:picLocks noChangeAspect="1"/>
            </p:cNvPicPr>
            <p:nvPr>
              <p:custDataLst>
                <p:tags r:id="rId89"/>
              </p:custDataLst>
            </p:nvPr>
          </p:nvPicPr>
          <p:blipFill>
            <a:blip r:embed="rId14" cstate="print"/>
            <a:stretch>
              <a:fillRect/>
            </a:stretch>
          </p:blipFill>
          <p:spPr>
            <a:xfrm>
              <a:off x="3435379" y="4533567"/>
              <a:ext cx="152112" cy="139951"/>
            </a:xfrm>
            <a:prstGeom prst="rect">
              <a:avLst/>
            </a:prstGeom>
          </p:spPr>
        </p:pic>
        <p:pic>
          <p:nvPicPr>
            <p:cNvPr id="148" name="图片 147" descr="接入交换机.png"/>
            <p:cNvPicPr>
              <a:picLocks noChangeAspect="1"/>
            </p:cNvPicPr>
            <p:nvPr>
              <p:custDataLst>
                <p:tags r:id="rId90"/>
              </p:custDataLst>
            </p:nvPr>
          </p:nvPicPr>
          <p:blipFill>
            <a:blip r:embed="rId14" cstate="print"/>
            <a:stretch>
              <a:fillRect/>
            </a:stretch>
          </p:blipFill>
          <p:spPr>
            <a:xfrm>
              <a:off x="3734693" y="4538640"/>
              <a:ext cx="152112" cy="139951"/>
            </a:xfrm>
            <a:prstGeom prst="rect">
              <a:avLst/>
            </a:prstGeom>
          </p:spPr>
        </p:pic>
        <p:pic>
          <p:nvPicPr>
            <p:cNvPr id="149" name="图片 148" descr="接入交换机.png"/>
            <p:cNvPicPr>
              <a:picLocks noChangeAspect="1"/>
            </p:cNvPicPr>
            <p:nvPr>
              <p:custDataLst>
                <p:tags r:id="rId91"/>
              </p:custDataLst>
            </p:nvPr>
          </p:nvPicPr>
          <p:blipFill>
            <a:blip r:embed="rId14" cstate="print"/>
            <a:stretch>
              <a:fillRect/>
            </a:stretch>
          </p:blipFill>
          <p:spPr>
            <a:xfrm>
              <a:off x="4034007" y="4538640"/>
              <a:ext cx="152112" cy="139951"/>
            </a:xfrm>
            <a:prstGeom prst="rect">
              <a:avLst/>
            </a:prstGeom>
          </p:spPr>
        </p:pic>
        <p:cxnSp>
          <p:nvCxnSpPr>
            <p:cNvPr id="150" name="直接连接符 1214"/>
            <p:cNvCxnSpPr>
              <a:stCxn id="139" idx="0"/>
              <a:endCxn id="147" idx="2"/>
            </p:cNvCxnSpPr>
            <p:nvPr>
              <p:custDataLst>
                <p:tags r:id="rId92"/>
              </p:custDataLst>
            </p:nvPr>
          </p:nvCxnSpPr>
          <p:spPr bwMode="auto">
            <a:xfrm flipV="1">
              <a:off x="3388801" y="4673518"/>
              <a:ext cx="122634" cy="200385"/>
            </a:xfrm>
            <a:prstGeom prst="line">
              <a:avLst/>
            </a:prstGeom>
            <a:noFill/>
            <a:ln w="9525" cap="flat" cmpd="sng" algn="ctr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1" name="直接连接符 1215"/>
            <p:cNvCxnSpPr>
              <a:stCxn id="140" idx="0"/>
              <a:endCxn id="147" idx="2"/>
            </p:cNvCxnSpPr>
            <p:nvPr>
              <p:custDataLst>
                <p:tags r:id="rId93"/>
              </p:custDataLst>
            </p:nvPr>
          </p:nvCxnSpPr>
          <p:spPr bwMode="auto">
            <a:xfrm flipH="1" flipV="1">
              <a:off x="3511435" y="4673518"/>
              <a:ext cx="371119" cy="200385"/>
            </a:xfrm>
            <a:prstGeom prst="line">
              <a:avLst/>
            </a:prstGeom>
            <a:noFill/>
            <a:ln w="9525" cap="flat" cmpd="sng" algn="ctr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2" name="直接连接符 1251"/>
            <p:cNvCxnSpPr>
              <a:stCxn id="140" idx="0"/>
              <a:endCxn id="148" idx="2"/>
            </p:cNvCxnSpPr>
            <p:nvPr>
              <p:custDataLst>
                <p:tags r:id="rId94"/>
              </p:custDataLst>
            </p:nvPr>
          </p:nvCxnSpPr>
          <p:spPr bwMode="auto">
            <a:xfrm flipH="1" flipV="1">
              <a:off x="3810749" y="4678592"/>
              <a:ext cx="71804" cy="195311"/>
            </a:xfrm>
            <a:prstGeom prst="line">
              <a:avLst/>
            </a:prstGeom>
            <a:noFill/>
            <a:ln w="9525" cap="flat" cmpd="sng" algn="ctr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3" name="直接连接符 1252"/>
            <p:cNvCxnSpPr>
              <a:stCxn id="140" idx="0"/>
              <a:endCxn id="149" idx="2"/>
            </p:cNvCxnSpPr>
            <p:nvPr>
              <p:custDataLst>
                <p:tags r:id="rId95"/>
              </p:custDataLst>
            </p:nvPr>
          </p:nvCxnSpPr>
          <p:spPr bwMode="auto">
            <a:xfrm flipV="1">
              <a:off x="3882553" y="4678592"/>
              <a:ext cx="227510" cy="195311"/>
            </a:xfrm>
            <a:prstGeom prst="line">
              <a:avLst/>
            </a:prstGeom>
            <a:noFill/>
            <a:ln w="9525" cap="flat" cmpd="sng" algn="ctr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4" name="直接连接符 1319"/>
            <p:cNvCxnSpPr>
              <a:stCxn id="139" idx="0"/>
              <a:endCxn id="149" idx="2"/>
            </p:cNvCxnSpPr>
            <p:nvPr>
              <p:custDataLst>
                <p:tags r:id="rId96"/>
              </p:custDataLst>
            </p:nvPr>
          </p:nvCxnSpPr>
          <p:spPr bwMode="auto">
            <a:xfrm flipV="1">
              <a:off x="3388801" y="4678592"/>
              <a:ext cx="721262" cy="195311"/>
            </a:xfrm>
            <a:prstGeom prst="line">
              <a:avLst/>
            </a:prstGeom>
            <a:noFill/>
            <a:ln w="9525" cap="flat" cmpd="sng" algn="ctr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5" name="矩形 154"/>
            <p:cNvSpPr/>
            <p:nvPr>
              <p:custDataLst>
                <p:tags r:id="rId97"/>
              </p:custDataLst>
            </p:nvPr>
          </p:nvSpPr>
          <p:spPr>
            <a:xfrm>
              <a:off x="4236704" y="4917688"/>
              <a:ext cx="492443" cy="14595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defTabSz="86423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Helvetica Neue" panose="02000503000000020004" charset="0"/>
                  <a:sym typeface="Helvetica Neue" panose="02000503000000020004"/>
                </a:rPr>
                <a:t>Spine</a:t>
              </a:r>
              <a:endParaRPr lang="en-US" altLang="zh-CN" sz="2000" b="0" dirty="0">
                <a:solidFill>
                  <a:srgbClr val="000000"/>
                </a:solidFill>
                <a:latin typeface="微软雅黑" charset="0"/>
                <a:ea typeface="微软雅黑" charset="0"/>
                <a:cs typeface="Helvetica Neue" panose="02000503000000020004" charset="0"/>
                <a:sym typeface="Helvetica Neue" panose="02000503000000020004"/>
              </a:endParaRPr>
            </a:p>
          </p:txBody>
        </p:sp>
        <p:sp>
          <p:nvSpPr>
            <p:cNvPr id="156" name="矩形 155"/>
            <p:cNvSpPr/>
            <p:nvPr>
              <p:custDataLst>
                <p:tags r:id="rId98"/>
              </p:custDataLst>
            </p:nvPr>
          </p:nvSpPr>
          <p:spPr>
            <a:xfrm>
              <a:off x="2813072" y="4341277"/>
              <a:ext cx="1829207" cy="863914"/>
            </a:xfrm>
            <a:prstGeom prst="rect">
              <a:avLst/>
            </a:prstGeom>
            <a:noFill/>
            <a:ln w="9525" cap="flat">
              <a:solidFill>
                <a:schemeClr val="tx1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p>
              <a:pPr algn="ctr" defTabSz="389890" hangingPunct="0"/>
              <a:endParaRPr lang="zh-CN" altLang="en-US" sz="2000" b="0" kern="0">
                <a:solidFill>
                  <a:srgbClr val="000000"/>
                </a:solidFill>
                <a:latin typeface="微软雅黑" charset="0"/>
                <a:ea typeface="微软雅黑" charset="0"/>
                <a:sym typeface="Helvetica Neue Medium" panose="02000503000000020004"/>
              </a:endParaRPr>
            </a:p>
          </p:txBody>
        </p:sp>
        <p:sp>
          <p:nvSpPr>
            <p:cNvPr id="157" name="矩形 156"/>
            <p:cNvSpPr/>
            <p:nvPr>
              <p:custDataLst>
                <p:tags r:id="rId99"/>
              </p:custDataLst>
            </p:nvPr>
          </p:nvSpPr>
          <p:spPr>
            <a:xfrm>
              <a:off x="2818751" y="4318261"/>
              <a:ext cx="530915" cy="14595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defTabSz="86423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Helvetica Neue" panose="02000503000000020004" charset="0"/>
                  <a:sym typeface="Helvetica Neue" panose="02000503000000020004"/>
                </a:rPr>
                <a:t>存储网</a:t>
              </a:r>
              <a:endParaRPr lang="zh-CN" altLang="en-US" sz="2000" b="0" dirty="0">
                <a:solidFill>
                  <a:srgbClr val="000000"/>
                </a:solidFill>
                <a:latin typeface="微软雅黑" charset="0"/>
                <a:ea typeface="微软雅黑" charset="0"/>
                <a:cs typeface="Helvetica Neue" panose="02000503000000020004" charset="0"/>
                <a:sym typeface="Helvetica Neue" panose="02000503000000020004"/>
              </a:endParaRPr>
            </a:p>
          </p:txBody>
        </p:sp>
        <p:cxnSp>
          <p:nvCxnSpPr>
            <p:cNvPr id="158" name="直接连接符 1323"/>
            <p:cNvCxnSpPr>
              <a:stCxn id="163" idx="0"/>
              <a:endCxn id="72" idx="2"/>
            </p:cNvCxnSpPr>
            <p:nvPr>
              <p:custDataLst>
                <p:tags r:id="rId100"/>
              </p:custDataLst>
            </p:nvPr>
          </p:nvCxnSpPr>
          <p:spPr bwMode="auto">
            <a:xfrm flipV="1">
              <a:off x="1914530" y="2747043"/>
              <a:ext cx="763701" cy="76353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9" name="矩形 158"/>
            <p:cNvSpPr/>
            <p:nvPr>
              <p:custDataLst>
                <p:tags r:id="rId101"/>
              </p:custDataLst>
            </p:nvPr>
          </p:nvSpPr>
          <p:spPr>
            <a:xfrm>
              <a:off x="2560374" y="3351414"/>
              <a:ext cx="1684650" cy="610376"/>
            </a:xfrm>
            <a:prstGeom prst="rect">
              <a:avLst/>
            </a:prstGeom>
            <a:noFill/>
            <a:ln w="9525" cap="flat">
              <a:solidFill>
                <a:schemeClr val="tx1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p>
              <a:pPr algn="ctr" defTabSz="389890" hangingPunct="0"/>
              <a:endParaRPr lang="zh-CN" altLang="en-US" sz="2000" b="0" kern="0">
                <a:solidFill>
                  <a:srgbClr val="000000"/>
                </a:solidFill>
                <a:latin typeface="微软雅黑" charset="0"/>
                <a:ea typeface="微软雅黑" charset="0"/>
                <a:sym typeface="Helvetica Neue Medium" panose="02000503000000020004"/>
              </a:endParaRPr>
            </a:p>
          </p:txBody>
        </p:sp>
        <p:sp>
          <p:nvSpPr>
            <p:cNvPr id="160" name="矩形 159"/>
            <p:cNvSpPr/>
            <p:nvPr>
              <p:custDataLst>
                <p:tags r:id="rId102"/>
              </p:custDataLst>
            </p:nvPr>
          </p:nvSpPr>
          <p:spPr>
            <a:xfrm>
              <a:off x="2542351" y="3326216"/>
              <a:ext cx="530915" cy="14595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defTabSz="86423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Helvetica Neue" panose="02000503000000020004" charset="0"/>
                  <a:sym typeface="Helvetica Neue" panose="02000503000000020004"/>
                </a:rPr>
                <a:t>业务区</a:t>
              </a:r>
              <a:endParaRPr lang="zh-CN" altLang="en-US" sz="2000" b="0" dirty="0">
                <a:solidFill>
                  <a:srgbClr val="000000"/>
                </a:solidFill>
                <a:latin typeface="微软雅黑" charset="0"/>
                <a:ea typeface="微软雅黑" charset="0"/>
                <a:cs typeface="Helvetica Neue" panose="02000503000000020004" charset="0"/>
                <a:sym typeface="Helvetica Neue" panose="02000503000000020004"/>
              </a:endParaRPr>
            </a:p>
          </p:txBody>
        </p:sp>
        <p:sp>
          <p:nvSpPr>
            <p:cNvPr id="161" name="矩形 160"/>
            <p:cNvSpPr/>
            <p:nvPr>
              <p:custDataLst>
                <p:tags r:id="rId103"/>
              </p:custDataLst>
            </p:nvPr>
          </p:nvSpPr>
          <p:spPr>
            <a:xfrm>
              <a:off x="4307744" y="3351414"/>
              <a:ext cx="920944" cy="633391"/>
            </a:xfrm>
            <a:prstGeom prst="rect">
              <a:avLst/>
            </a:prstGeom>
            <a:noFill/>
            <a:ln w="9525" cap="flat">
              <a:solidFill>
                <a:schemeClr val="tx1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p>
              <a:pPr algn="ctr" defTabSz="389890" hangingPunct="0"/>
              <a:endParaRPr lang="zh-CN" altLang="en-US" sz="2000" b="0" kern="0">
                <a:solidFill>
                  <a:srgbClr val="000000"/>
                </a:solidFill>
                <a:latin typeface="微软雅黑" charset="0"/>
                <a:ea typeface="微软雅黑" charset="0"/>
                <a:sym typeface="Helvetica Neue Medium" panose="02000503000000020004"/>
              </a:endParaRPr>
            </a:p>
          </p:txBody>
        </p:sp>
        <p:sp>
          <p:nvSpPr>
            <p:cNvPr id="162" name="矩形 161"/>
            <p:cNvSpPr/>
            <p:nvPr>
              <p:custDataLst>
                <p:tags r:id="rId104"/>
              </p:custDataLst>
            </p:nvPr>
          </p:nvSpPr>
          <p:spPr>
            <a:xfrm>
              <a:off x="4297917" y="3337203"/>
              <a:ext cx="530915" cy="14595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defTabSz="86423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Helvetica Neue" panose="02000503000000020004" charset="0"/>
                  <a:sym typeface="Helvetica Neue" panose="02000503000000020004"/>
                </a:rPr>
                <a:t>存储区</a:t>
              </a:r>
              <a:endParaRPr lang="zh-CN" altLang="en-US" sz="2000" b="0" dirty="0">
                <a:solidFill>
                  <a:srgbClr val="000000"/>
                </a:solidFill>
                <a:latin typeface="微软雅黑" charset="0"/>
                <a:ea typeface="微软雅黑" charset="0"/>
                <a:cs typeface="Helvetica Neue" panose="02000503000000020004" charset="0"/>
                <a:sym typeface="Helvetica Neue" panose="02000503000000020004"/>
              </a:endParaRPr>
            </a:p>
          </p:txBody>
        </p:sp>
        <p:pic>
          <p:nvPicPr>
            <p:cNvPr id="163" name="图形 175153"/>
            <p:cNvPicPr>
              <a:picLocks noChangeAspect="1"/>
            </p:cNvPicPr>
            <p:nvPr>
              <p:custDataLst>
                <p:tags r:id="rId105"/>
              </p:custDataLst>
            </p:nvPr>
          </p:nvPicPr>
          <p:blipFill>
            <a:blip r:embed="rId10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7"/>
                </a:ext>
              </a:extLst>
            </a:blip>
            <a:stretch>
              <a:fillRect/>
            </a:stretch>
          </p:blipFill>
          <p:spPr>
            <a:xfrm>
              <a:off x="1573018" y="3510573"/>
              <a:ext cx="683023" cy="343729"/>
            </a:xfrm>
            <a:prstGeom prst="rect">
              <a:avLst/>
            </a:prstGeom>
          </p:spPr>
        </p:pic>
        <p:pic>
          <p:nvPicPr>
            <p:cNvPr id="164" name="图形 175154"/>
            <p:cNvPicPr>
              <a:picLocks noChangeAspect="1"/>
            </p:cNvPicPr>
            <p:nvPr>
              <p:custDataLst>
                <p:tags r:id="rId108"/>
              </p:custDataLst>
            </p:nvPr>
          </p:nvPicPr>
          <p:blipFill>
            <a:blip r:embed="rId10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7"/>
                </a:ext>
              </a:extLst>
            </a:blip>
            <a:stretch>
              <a:fillRect/>
            </a:stretch>
          </p:blipFill>
          <p:spPr>
            <a:xfrm>
              <a:off x="2719875" y="3505562"/>
              <a:ext cx="683023" cy="343729"/>
            </a:xfrm>
            <a:prstGeom prst="rect">
              <a:avLst/>
            </a:prstGeom>
          </p:spPr>
        </p:pic>
        <p:pic>
          <p:nvPicPr>
            <p:cNvPr id="165" name="图形 175155"/>
            <p:cNvPicPr>
              <a:picLocks noChangeAspect="1"/>
            </p:cNvPicPr>
            <p:nvPr>
              <p:custDataLst>
                <p:tags r:id="rId109"/>
              </p:custDataLst>
            </p:nvPr>
          </p:nvPicPr>
          <p:blipFill>
            <a:blip r:embed="rId10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7"/>
                </a:ext>
              </a:extLst>
            </a:blip>
            <a:stretch>
              <a:fillRect/>
            </a:stretch>
          </p:blipFill>
          <p:spPr>
            <a:xfrm>
              <a:off x="4396466" y="3520732"/>
              <a:ext cx="683023" cy="343729"/>
            </a:xfrm>
            <a:prstGeom prst="rect">
              <a:avLst/>
            </a:prstGeom>
          </p:spPr>
        </p:pic>
        <p:cxnSp>
          <p:nvCxnSpPr>
            <p:cNvPr id="166" name="直接连接符 1332"/>
            <p:cNvCxnSpPr>
              <a:stCxn id="163" idx="0"/>
              <a:endCxn id="75" idx="2"/>
            </p:cNvCxnSpPr>
            <p:nvPr>
              <p:custDataLst>
                <p:tags r:id="rId110"/>
              </p:custDataLst>
            </p:nvPr>
          </p:nvCxnSpPr>
          <p:spPr bwMode="auto">
            <a:xfrm flipV="1">
              <a:off x="1914530" y="2747043"/>
              <a:ext cx="1063015" cy="76353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7" name="直接连接符 1333"/>
            <p:cNvCxnSpPr>
              <a:stCxn id="164" idx="0"/>
              <a:endCxn id="76" idx="2"/>
            </p:cNvCxnSpPr>
            <p:nvPr>
              <p:custDataLst>
                <p:tags r:id="rId111"/>
              </p:custDataLst>
            </p:nvPr>
          </p:nvCxnSpPr>
          <p:spPr bwMode="auto">
            <a:xfrm flipV="1">
              <a:off x="3061387" y="2752116"/>
              <a:ext cx="215472" cy="753446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8" name="直接连接符 1334"/>
            <p:cNvCxnSpPr>
              <a:stCxn id="164" idx="0"/>
              <a:endCxn id="77" idx="2"/>
            </p:cNvCxnSpPr>
            <p:nvPr>
              <p:custDataLst>
                <p:tags r:id="rId112"/>
              </p:custDataLst>
            </p:nvPr>
          </p:nvCxnSpPr>
          <p:spPr bwMode="auto">
            <a:xfrm flipV="1">
              <a:off x="3061387" y="2752116"/>
              <a:ext cx="514786" cy="753446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9" name="直接连接符 1335"/>
            <p:cNvCxnSpPr>
              <a:stCxn id="165" idx="0"/>
              <a:endCxn id="76" idx="2"/>
            </p:cNvCxnSpPr>
            <p:nvPr>
              <p:custDataLst>
                <p:tags r:id="rId113"/>
              </p:custDataLst>
            </p:nvPr>
          </p:nvCxnSpPr>
          <p:spPr bwMode="auto">
            <a:xfrm flipH="1" flipV="1">
              <a:off x="3276859" y="2752116"/>
              <a:ext cx="1461119" cy="768616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0" name="直接连接符 1336"/>
            <p:cNvCxnSpPr>
              <a:stCxn id="165" idx="0"/>
              <a:endCxn id="77" idx="2"/>
            </p:cNvCxnSpPr>
            <p:nvPr>
              <p:custDataLst>
                <p:tags r:id="rId114"/>
              </p:custDataLst>
            </p:nvPr>
          </p:nvCxnSpPr>
          <p:spPr bwMode="auto">
            <a:xfrm flipH="1" flipV="1">
              <a:off x="3576173" y="2752116"/>
              <a:ext cx="1161805" cy="768616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1" name="直接连接符 1338"/>
            <p:cNvCxnSpPr/>
            <p:nvPr>
              <p:custDataLst>
                <p:tags r:id="rId115"/>
              </p:custDataLst>
            </p:nvPr>
          </p:nvCxnSpPr>
          <p:spPr bwMode="auto">
            <a:xfrm flipH="1" flipV="1">
              <a:off x="519592" y="4622272"/>
              <a:ext cx="403134" cy="577"/>
            </a:xfrm>
            <a:prstGeom prst="line">
              <a:avLst/>
            </a:prstGeom>
            <a:noFill/>
            <a:ln w="2857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2" name="直接连接符 1339"/>
            <p:cNvCxnSpPr/>
            <p:nvPr>
              <p:custDataLst>
                <p:tags r:id="rId116"/>
              </p:custDataLst>
            </p:nvPr>
          </p:nvCxnSpPr>
          <p:spPr bwMode="auto">
            <a:xfrm flipH="1" flipV="1">
              <a:off x="519592" y="4770481"/>
              <a:ext cx="403134" cy="577"/>
            </a:xfrm>
            <a:prstGeom prst="line">
              <a:avLst/>
            </a:prstGeom>
            <a:noFill/>
            <a:ln w="28575" cap="flat" cmpd="sng" algn="ctr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3" name="直接连接符 1340"/>
            <p:cNvCxnSpPr/>
            <p:nvPr>
              <p:custDataLst>
                <p:tags r:id="rId117"/>
              </p:custDataLst>
            </p:nvPr>
          </p:nvCxnSpPr>
          <p:spPr bwMode="auto">
            <a:xfrm flipH="1" flipV="1">
              <a:off x="519592" y="4911375"/>
              <a:ext cx="403134" cy="577"/>
            </a:xfrm>
            <a:prstGeom prst="line">
              <a:avLst/>
            </a:prstGeom>
            <a:noFill/>
            <a:ln w="28575" cap="flat" cmpd="sng" algn="ctr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4" name="直接连接符 1341"/>
            <p:cNvCxnSpPr/>
            <p:nvPr>
              <p:custDataLst>
                <p:tags r:id="rId118"/>
              </p:custDataLst>
            </p:nvPr>
          </p:nvCxnSpPr>
          <p:spPr bwMode="auto">
            <a:xfrm flipH="1" flipV="1">
              <a:off x="519592" y="5064619"/>
              <a:ext cx="403134" cy="577"/>
            </a:xfrm>
            <a:prstGeom prst="line">
              <a:avLst/>
            </a:prstGeom>
            <a:noFill/>
            <a:ln w="28575" cap="flat" cmpd="sng" algn="ctr">
              <a:solidFill>
                <a:schemeClr val="accent3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5" name="矩形 174"/>
            <p:cNvSpPr/>
            <p:nvPr>
              <p:custDataLst>
                <p:tags r:id="rId119"/>
              </p:custDataLst>
            </p:nvPr>
          </p:nvSpPr>
          <p:spPr>
            <a:xfrm>
              <a:off x="976951" y="4546405"/>
              <a:ext cx="595035" cy="14595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defTabSz="86423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Helvetica Neue" panose="02000503000000020004" charset="0"/>
                  <a:sym typeface="Helvetica Neue" panose="02000503000000020004"/>
                </a:rPr>
                <a:t>管理网络</a:t>
              </a:r>
              <a:endParaRPr lang="zh-CN" altLang="en-US" sz="2000" b="0" dirty="0">
                <a:solidFill>
                  <a:srgbClr val="000000"/>
                </a:solidFill>
                <a:latin typeface="微软雅黑" charset="0"/>
                <a:ea typeface="微软雅黑" charset="0"/>
                <a:cs typeface="Helvetica Neue" panose="02000503000000020004" charset="0"/>
                <a:sym typeface="Helvetica Neue" panose="02000503000000020004"/>
              </a:endParaRPr>
            </a:p>
          </p:txBody>
        </p:sp>
        <p:sp>
          <p:nvSpPr>
            <p:cNvPr id="176" name="矩形 175"/>
            <p:cNvSpPr/>
            <p:nvPr>
              <p:custDataLst>
                <p:tags r:id="rId120"/>
              </p:custDataLst>
            </p:nvPr>
          </p:nvSpPr>
          <p:spPr>
            <a:xfrm>
              <a:off x="976951" y="4704382"/>
              <a:ext cx="595035" cy="14595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defTabSz="86423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Helvetica Neue" panose="02000503000000020004" charset="0"/>
                  <a:sym typeface="Helvetica Neue" panose="02000503000000020004"/>
                </a:rPr>
                <a:t>业务网络</a:t>
              </a:r>
              <a:endParaRPr lang="zh-CN" altLang="en-US" sz="2000" b="0" dirty="0">
                <a:solidFill>
                  <a:srgbClr val="000000"/>
                </a:solidFill>
                <a:latin typeface="微软雅黑" charset="0"/>
                <a:ea typeface="微软雅黑" charset="0"/>
                <a:cs typeface="Helvetica Neue" panose="02000503000000020004" charset="0"/>
                <a:sym typeface="Helvetica Neue" panose="02000503000000020004"/>
              </a:endParaRPr>
            </a:p>
          </p:txBody>
        </p:sp>
        <p:sp>
          <p:nvSpPr>
            <p:cNvPr id="177" name="矩形 176"/>
            <p:cNvSpPr/>
            <p:nvPr>
              <p:custDataLst>
                <p:tags r:id="rId121"/>
              </p:custDataLst>
            </p:nvPr>
          </p:nvSpPr>
          <p:spPr>
            <a:xfrm>
              <a:off x="976951" y="4853152"/>
              <a:ext cx="595035" cy="14595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defTabSz="86423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Helvetica Neue" panose="02000503000000020004" charset="0"/>
                  <a:sym typeface="Helvetica Neue" panose="02000503000000020004"/>
                </a:rPr>
                <a:t>存储网络</a:t>
              </a:r>
              <a:endParaRPr lang="zh-CN" altLang="en-US" sz="2000" b="0" dirty="0">
                <a:solidFill>
                  <a:srgbClr val="000000"/>
                </a:solidFill>
                <a:latin typeface="微软雅黑" charset="0"/>
                <a:ea typeface="微软雅黑" charset="0"/>
                <a:cs typeface="Helvetica Neue" panose="02000503000000020004" charset="0"/>
                <a:sym typeface="Helvetica Neue" panose="02000503000000020004"/>
              </a:endParaRPr>
            </a:p>
          </p:txBody>
        </p:sp>
        <p:sp>
          <p:nvSpPr>
            <p:cNvPr id="178" name="矩形 177"/>
            <p:cNvSpPr/>
            <p:nvPr>
              <p:custDataLst>
                <p:tags r:id="rId122"/>
              </p:custDataLst>
            </p:nvPr>
          </p:nvSpPr>
          <p:spPr>
            <a:xfrm>
              <a:off x="976951" y="5007556"/>
              <a:ext cx="595035" cy="14595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defTabSz="86423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Helvetica Neue" panose="02000503000000020004" charset="0"/>
                  <a:sym typeface="Helvetica Neue" panose="02000503000000020004"/>
                </a:rPr>
                <a:t>参数网络</a:t>
              </a:r>
              <a:endParaRPr lang="zh-CN" altLang="en-US" sz="2000" b="0" dirty="0">
                <a:solidFill>
                  <a:srgbClr val="000000"/>
                </a:solidFill>
                <a:latin typeface="微软雅黑" charset="0"/>
                <a:ea typeface="微软雅黑" charset="0"/>
                <a:cs typeface="Helvetica Neue" panose="02000503000000020004" charset="0"/>
                <a:sym typeface="Helvetica Neue" panose="02000503000000020004"/>
              </a:endParaRPr>
            </a:p>
          </p:txBody>
        </p:sp>
        <p:sp>
          <p:nvSpPr>
            <p:cNvPr id="179" name="矩形 178"/>
            <p:cNvSpPr/>
            <p:nvPr>
              <p:custDataLst>
                <p:tags r:id="rId123"/>
              </p:custDataLst>
            </p:nvPr>
          </p:nvSpPr>
          <p:spPr>
            <a:xfrm>
              <a:off x="299325" y="4264817"/>
              <a:ext cx="1367972" cy="941704"/>
            </a:xfrm>
            <a:prstGeom prst="rect">
              <a:avLst/>
            </a:prstGeom>
            <a:noFill/>
            <a:ln w="9525" cap="flat">
              <a:solidFill>
                <a:schemeClr val="tx1"/>
              </a:solidFill>
              <a:prstDash val="sys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noAutofit/>
            </a:bodyPr>
            <a:p>
              <a:pPr algn="ctr" defTabSz="389890" hangingPunct="0">
                <a:defRPr/>
              </a:pPr>
              <a:endParaRPr lang="zh-CN" altLang="en-US" sz="2000" b="0" kern="0">
                <a:solidFill>
                  <a:srgbClr val="000000"/>
                </a:solidFill>
                <a:latin typeface="微软雅黑" charset="0"/>
                <a:ea typeface="微软雅黑" charset="0"/>
                <a:cs typeface="Helvetica Neue Medium" panose="02000503000000020004"/>
                <a:sym typeface="Helvetica Neue Medium" panose="02000503000000020004"/>
              </a:endParaRPr>
            </a:p>
          </p:txBody>
        </p:sp>
        <p:sp>
          <p:nvSpPr>
            <p:cNvPr id="180" name="矩形 179"/>
            <p:cNvSpPr/>
            <p:nvPr>
              <p:custDataLst>
                <p:tags r:id="rId124"/>
              </p:custDataLst>
            </p:nvPr>
          </p:nvSpPr>
          <p:spPr>
            <a:xfrm>
              <a:off x="770045" y="4367173"/>
              <a:ext cx="415498" cy="14595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defTabSz="86423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b="0" dirty="0">
                  <a:solidFill>
                    <a:srgbClr val="000000"/>
                  </a:solidFill>
                  <a:latin typeface="微软雅黑" charset="0"/>
                  <a:ea typeface="微软雅黑" charset="0"/>
                  <a:cs typeface="Helvetica Neue" panose="02000503000000020004" charset="0"/>
                  <a:sym typeface="Helvetica Neue" panose="02000503000000020004"/>
                </a:rPr>
                <a:t>图例</a:t>
              </a:r>
              <a:endParaRPr lang="zh-CN" altLang="en-US" sz="2000" b="0" dirty="0">
                <a:solidFill>
                  <a:srgbClr val="000000"/>
                </a:solidFill>
                <a:latin typeface="微软雅黑" charset="0"/>
                <a:ea typeface="微软雅黑" charset="0"/>
                <a:cs typeface="Helvetica Neue" panose="02000503000000020004" charset="0"/>
                <a:sym typeface="Helvetica Neue" panose="02000503000000020004"/>
              </a:endParaRPr>
            </a:p>
          </p:txBody>
        </p:sp>
        <p:cxnSp>
          <p:nvCxnSpPr>
            <p:cNvPr id="181" name="直接连接符 1348"/>
            <p:cNvCxnSpPr>
              <a:stCxn id="149" idx="0"/>
              <a:endCxn id="165" idx="2"/>
            </p:cNvCxnSpPr>
            <p:nvPr>
              <p:custDataLst>
                <p:tags r:id="rId125"/>
              </p:custDataLst>
            </p:nvPr>
          </p:nvCxnSpPr>
          <p:spPr bwMode="auto">
            <a:xfrm flipV="1">
              <a:off x="4110063" y="3864462"/>
              <a:ext cx="627915" cy="674179"/>
            </a:xfrm>
            <a:prstGeom prst="line">
              <a:avLst/>
            </a:prstGeom>
            <a:noFill/>
            <a:ln w="9525" cap="flat" cmpd="sng" algn="ctr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2" name="直接连接符 1349"/>
            <p:cNvCxnSpPr>
              <a:stCxn id="148" idx="0"/>
              <a:endCxn id="165" idx="2"/>
            </p:cNvCxnSpPr>
            <p:nvPr>
              <p:custDataLst>
                <p:tags r:id="rId126"/>
              </p:custDataLst>
            </p:nvPr>
          </p:nvCxnSpPr>
          <p:spPr bwMode="auto">
            <a:xfrm flipV="1">
              <a:off x="3810749" y="3864462"/>
              <a:ext cx="927229" cy="674179"/>
            </a:xfrm>
            <a:prstGeom prst="line">
              <a:avLst/>
            </a:prstGeom>
            <a:noFill/>
            <a:ln w="9525" cap="flat" cmpd="sng" algn="ctr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3" name="直接连接符 1350"/>
            <p:cNvCxnSpPr>
              <a:stCxn id="144" idx="0"/>
              <a:endCxn id="164" idx="2"/>
            </p:cNvCxnSpPr>
            <p:nvPr>
              <p:custDataLst>
                <p:tags r:id="rId127"/>
              </p:custDataLst>
            </p:nvPr>
          </p:nvCxnSpPr>
          <p:spPr bwMode="auto">
            <a:xfrm flipH="1" flipV="1">
              <a:off x="3061387" y="3849291"/>
              <a:ext cx="150734" cy="684276"/>
            </a:xfrm>
            <a:prstGeom prst="line">
              <a:avLst/>
            </a:prstGeom>
            <a:noFill/>
            <a:ln w="9525" cap="flat" cmpd="sng" algn="ctr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4" name="直接连接符 1351"/>
            <p:cNvCxnSpPr>
              <a:stCxn id="147" idx="0"/>
              <a:endCxn id="164" idx="2"/>
            </p:cNvCxnSpPr>
            <p:nvPr>
              <p:custDataLst>
                <p:tags r:id="rId128"/>
              </p:custDataLst>
            </p:nvPr>
          </p:nvCxnSpPr>
          <p:spPr bwMode="auto">
            <a:xfrm flipH="1" flipV="1">
              <a:off x="3061387" y="3849291"/>
              <a:ext cx="450048" cy="684276"/>
            </a:xfrm>
            <a:prstGeom prst="line">
              <a:avLst/>
            </a:prstGeom>
            <a:noFill/>
            <a:ln w="9525" cap="flat" cmpd="sng" algn="ctr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5" name="直接连接符 1352"/>
            <p:cNvCxnSpPr>
              <a:stCxn id="164" idx="0"/>
              <a:endCxn id="121" idx="2"/>
            </p:cNvCxnSpPr>
            <p:nvPr>
              <p:custDataLst>
                <p:tags r:id="rId129"/>
              </p:custDataLst>
            </p:nvPr>
          </p:nvCxnSpPr>
          <p:spPr bwMode="auto">
            <a:xfrm flipV="1">
              <a:off x="3061387" y="2744410"/>
              <a:ext cx="1429527" cy="761152"/>
            </a:xfrm>
            <a:prstGeom prst="line">
              <a:avLst/>
            </a:prstGeom>
            <a:noFill/>
            <a:ln w="9525" cap="flat" cmpd="sng" algn="ctr">
              <a:solidFill>
                <a:srgbClr val="08634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6" name="直接连接符 1353"/>
            <p:cNvCxnSpPr>
              <a:stCxn id="164" idx="0"/>
              <a:endCxn id="124" idx="2"/>
            </p:cNvCxnSpPr>
            <p:nvPr>
              <p:custDataLst>
                <p:tags r:id="rId130"/>
              </p:custDataLst>
            </p:nvPr>
          </p:nvCxnSpPr>
          <p:spPr bwMode="auto">
            <a:xfrm flipV="1">
              <a:off x="3061387" y="2744410"/>
              <a:ext cx="1728841" cy="761152"/>
            </a:xfrm>
            <a:prstGeom prst="line">
              <a:avLst/>
            </a:prstGeom>
            <a:noFill/>
            <a:ln w="9525" cap="flat" cmpd="sng" algn="ctr">
              <a:solidFill>
                <a:srgbClr val="08634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187" name="图形 175178"/>
            <p:cNvPicPr>
              <a:picLocks noChangeAspect="1"/>
            </p:cNvPicPr>
            <p:nvPr>
              <p:custDataLst>
                <p:tags r:id="rId131"/>
              </p:custDataLst>
            </p:nvPr>
          </p:nvPicPr>
          <p:blipFill>
            <a:blip r:embed="rId10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7"/>
                </a:ext>
              </a:extLst>
            </a:blip>
            <a:stretch>
              <a:fillRect/>
            </a:stretch>
          </p:blipFill>
          <p:spPr>
            <a:xfrm>
              <a:off x="3469266" y="3511696"/>
              <a:ext cx="683023" cy="343729"/>
            </a:xfrm>
            <a:prstGeom prst="rect">
              <a:avLst/>
            </a:prstGeom>
          </p:spPr>
        </p:pic>
        <p:cxnSp>
          <p:nvCxnSpPr>
            <p:cNvPr id="188" name="直接连接符 1355"/>
            <p:cNvCxnSpPr>
              <a:stCxn id="187" idx="0"/>
              <a:endCxn id="126" idx="2"/>
            </p:cNvCxnSpPr>
            <p:nvPr>
              <p:custDataLst>
                <p:tags r:id="rId132"/>
              </p:custDataLst>
            </p:nvPr>
          </p:nvCxnSpPr>
          <p:spPr bwMode="auto">
            <a:xfrm flipV="1">
              <a:off x="3810778" y="2749483"/>
              <a:ext cx="1578078" cy="762213"/>
            </a:xfrm>
            <a:prstGeom prst="line">
              <a:avLst/>
            </a:prstGeom>
            <a:noFill/>
            <a:ln w="9525" cap="flat" cmpd="sng" algn="ctr">
              <a:solidFill>
                <a:srgbClr val="08634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9" name="直接连接符 1356"/>
            <p:cNvCxnSpPr>
              <a:stCxn id="187" idx="0"/>
              <a:endCxn id="125" idx="2"/>
            </p:cNvCxnSpPr>
            <p:nvPr>
              <p:custDataLst>
                <p:tags r:id="rId133"/>
              </p:custDataLst>
            </p:nvPr>
          </p:nvCxnSpPr>
          <p:spPr bwMode="auto">
            <a:xfrm flipV="1">
              <a:off x="3810778" y="2749483"/>
              <a:ext cx="1278764" cy="762213"/>
            </a:xfrm>
            <a:prstGeom prst="line">
              <a:avLst/>
            </a:prstGeom>
            <a:noFill/>
            <a:ln w="9525" cap="flat" cmpd="sng" algn="ctr">
              <a:solidFill>
                <a:srgbClr val="08634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0" name="直接连接符 1357"/>
            <p:cNvCxnSpPr>
              <a:stCxn id="148" idx="0"/>
              <a:endCxn id="187" idx="2"/>
            </p:cNvCxnSpPr>
            <p:nvPr>
              <p:custDataLst>
                <p:tags r:id="rId134"/>
              </p:custDataLst>
            </p:nvPr>
          </p:nvCxnSpPr>
          <p:spPr bwMode="auto">
            <a:xfrm flipV="1">
              <a:off x="3810749" y="3855425"/>
              <a:ext cx="29" cy="683215"/>
            </a:xfrm>
            <a:prstGeom prst="line">
              <a:avLst/>
            </a:prstGeom>
            <a:noFill/>
            <a:ln w="9525" cap="flat" cmpd="sng" algn="ctr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1" name="直接连接符 1358"/>
            <p:cNvCxnSpPr>
              <a:stCxn id="149" idx="0"/>
              <a:endCxn id="187" idx="2"/>
            </p:cNvCxnSpPr>
            <p:nvPr>
              <p:custDataLst>
                <p:tags r:id="rId135"/>
              </p:custDataLst>
            </p:nvPr>
          </p:nvCxnSpPr>
          <p:spPr bwMode="auto">
            <a:xfrm flipH="1" flipV="1">
              <a:off x="3810778" y="3855425"/>
              <a:ext cx="299285" cy="683215"/>
            </a:xfrm>
            <a:prstGeom prst="line">
              <a:avLst/>
            </a:prstGeom>
            <a:noFill/>
            <a:ln w="9525" cap="flat" cmpd="sng" algn="ctr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2" name="直接连接符 1359"/>
            <p:cNvCxnSpPr>
              <a:stCxn id="164" idx="0"/>
              <a:endCxn id="99" idx="2"/>
            </p:cNvCxnSpPr>
            <p:nvPr>
              <p:custDataLst>
                <p:tags r:id="rId136"/>
              </p:custDataLst>
            </p:nvPr>
          </p:nvCxnSpPr>
          <p:spPr bwMode="auto">
            <a:xfrm flipH="1" flipV="1">
              <a:off x="683997" y="2739168"/>
              <a:ext cx="2377389" cy="766394"/>
            </a:xfrm>
            <a:prstGeom prst="line">
              <a:avLst/>
            </a:prstGeom>
            <a:noFill/>
            <a:ln w="9525" cap="flat" cmpd="sng" algn="ctr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3" name="直接连接符 1360"/>
            <p:cNvCxnSpPr>
              <a:stCxn id="164" idx="0"/>
              <a:endCxn id="102" idx="2"/>
            </p:cNvCxnSpPr>
            <p:nvPr>
              <p:custDataLst>
                <p:tags r:id="rId137"/>
              </p:custDataLst>
            </p:nvPr>
          </p:nvCxnSpPr>
          <p:spPr bwMode="auto">
            <a:xfrm flipH="1" flipV="1">
              <a:off x="983311" y="2739168"/>
              <a:ext cx="2078075" cy="766394"/>
            </a:xfrm>
            <a:prstGeom prst="line">
              <a:avLst/>
            </a:prstGeom>
            <a:noFill/>
            <a:ln w="9525" cap="flat" cmpd="sng" algn="ctr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4" name="直接连接符 1361"/>
            <p:cNvCxnSpPr>
              <a:stCxn id="187" idx="0"/>
              <a:endCxn id="103" idx="2"/>
            </p:cNvCxnSpPr>
            <p:nvPr>
              <p:custDataLst>
                <p:tags r:id="rId138"/>
              </p:custDataLst>
            </p:nvPr>
          </p:nvCxnSpPr>
          <p:spPr bwMode="auto">
            <a:xfrm flipH="1" flipV="1">
              <a:off x="1282625" y="2744241"/>
              <a:ext cx="2528152" cy="767455"/>
            </a:xfrm>
            <a:prstGeom prst="line">
              <a:avLst/>
            </a:prstGeom>
            <a:noFill/>
            <a:ln w="9525" cap="flat" cmpd="sng" algn="ctr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5" name="直接连接符 1362"/>
            <p:cNvCxnSpPr>
              <a:stCxn id="187" idx="0"/>
              <a:endCxn id="104" idx="2"/>
            </p:cNvCxnSpPr>
            <p:nvPr>
              <p:custDataLst>
                <p:tags r:id="rId139"/>
              </p:custDataLst>
            </p:nvPr>
          </p:nvCxnSpPr>
          <p:spPr bwMode="auto">
            <a:xfrm flipH="1" flipV="1">
              <a:off x="1581939" y="2744241"/>
              <a:ext cx="2228838" cy="767455"/>
            </a:xfrm>
            <a:prstGeom prst="line">
              <a:avLst/>
            </a:prstGeom>
            <a:noFill/>
            <a:ln w="9525" cap="flat" cmpd="sng" algn="ctr">
              <a:solidFill>
                <a:schemeClr val="accent4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6" name="椭圆 195"/>
            <p:cNvSpPr/>
            <p:nvPr>
              <p:custDataLst>
                <p:tags r:id="rId140"/>
              </p:custDataLst>
            </p:nvPr>
          </p:nvSpPr>
          <p:spPr>
            <a:xfrm>
              <a:off x="3263513" y="4031734"/>
              <a:ext cx="1164982" cy="1560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 cap="flat">
              <a:solidFill>
                <a:schemeClr val="bg1"/>
              </a:solidFill>
              <a:prstDash val="solid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p>
              <a:pPr algn="ctr" defTabSz="389890" hangingPunct="0">
                <a:defRPr/>
              </a:pPr>
              <a:r>
                <a:rPr lang="en-US" altLang="zh-CN" sz="2000" b="0" kern="0" dirty="0">
                  <a:solidFill>
                    <a:srgbClr val="086346"/>
                  </a:solidFill>
                  <a:latin typeface="微软雅黑" charset="0"/>
                  <a:ea typeface="微软雅黑" charset="0"/>
                  <a:cs typeface="Helvetica Neue Medium" panose="02000503000000020004"/>
                  <a:sym typeface="Helvetica Neue Medium" panose="02000503000000020004"/>
                </a:rPr>
                <a:t>RoCE</a:t>
              </a:r>
              <a:endParaRPr lang="en-US" altLang="zh-CN" sz="2000" b="0" kern="0" dirty="0">
                <a:solidFill>
                  <a:srgbClr val="086346"/>
                </a:solidFill>
                <a:latin typeface="微软雅黑" charset="0"/>
                <a:ea typeface="微软雅黑" charset="0"/>
                <a:cs typeface="Helvetica Neue Medium" panose="02000503000000020004"/>
                <a:sym typeface="Helvetica Neue Medium" panose="02000503000000020004"/>
              </a:endParaRPr>
            </a:p>
          </p:txBody>
        </p:sp>
        <p:sp>
          <p:nvSpPr>
            <p:cNvPr id="197" name="椭圆 196"/>
            <p:cNvSpPr/>
            <p:nvPr>
              <p:custDataLst>
                <p:tags r:id="rId141"/>
              </p:custDataLst>
            </p:nvPr>
          </p:nvSpPr>
          <p:spPr>
            <a:xfrm>
              <a:off x="4048369" y="2936278"/>
              <a:ext cx="874693" cy="1560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5400" cap="flat">
              <a:solidFill>
                <a:schemeClr val="bg1"/>
              </a:solidFill>
              <a:prstDash val="solid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p>
              <a:pPr algn="ctr" defTabSz="389890" hangingPunct="0">
                <a:defRPr/>
              </a:pPr>
              <a:r>
                <a:rPr lang="en-US" altLang="zh-CN" sz="2000" b="0" kern="0" dirty="0">
                  <a:solidFill>
                    <a:srgbClr val="086346"/>
                  </a:solidFill>
                  <a:latin typeface="微软雅黑" charset="0"/>
                  <a:ea typeface="微软雅黑" charset="0"/>
                  <a:cs typeface="Helvetica Neue Medium" panose="02000503000000020004"/>
                  <a:sym typeface="Helvetica Neue Medium" panose="02000503000000020004"/>
                </a:rPr>
                <a:t>RoCE</a:t>
              </a:r>
              <a:endParaRPr lang="en-US" altLang="zh-CN" sz="2000" b="0" kern="0" dirty="0">
                <a:solidFill>
                  <a:srgbClr val="086346"/>
                </a:solidFill>
                <a:latin typeface="微软雅黑" charset="0"/>
                <a:ea typeface="微软雅黑" charset="0"/>
                <a:cs typeface="Helvetica Neue Medium" panose="02000503000000020004"/>
                <a:sym typeface="Helvetica Neue Medium" panose="02000503000000020004"/>
              </a:endParaRPr>
            </a:p>
          </p:txBody>
        </p:sp>
      </p:grpSp>
      <p:sp>
        <p:nvSpPr>
          <p:cNvPr id="201" name="文本框 200"/>
          <p:cNvSpPr txBox="1"/>
          <p:nvPr/>
        </p:nvSpPr>
        <p:spPr>
          <a:xfrm>
            <a:off x="15553690" y="2540318"/>
            <a:ext cx="8128000" cy="37947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存储网</a:t>
            </a: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使用支持RoCE协议的网卡与交换机，支持NVMe over RoCE的集中式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/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分布式存储可替换HBA卡+FC交换机+FC存储。</a:t>
            </a: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云平台计算组件（Nova）、存储组件（Cinder）提供NVMe over RoCE功能，可以让云主机、裸金属挂载NVMe over RoCE存储。</a:t>
            </a: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</p:txBody>
      </p:sp>
      <p:sp>
        <p:nvSpPr>
          <p:cNvPr id="202" name="文本框 201"/>
          <p:cNvSpPr txBox="1"/>
          <p:nvPr/>
        </p:nvSpPr>
        <p:spPr>
          <a:xfrm>
            <a:off x="15553690" y="7094538"/>
            <a:ext cx="8128000" cy="287147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AI</a:t>
            </a:r>
            <a:r>
              <a:rPr kumimoji="0" lang="zh-CN" altLang="en-US" sz="3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算力网</a:t>
            </a:r>
            <a:endParaRPr kumimoji="0" lang="zh-CN" altLang="en-US" sz="300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为分布式训练集群专用网络，使用支持RoCE协议的网卡与交换机，在网络设备上不需要与其它网络相连。</a:t>
            </a: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一般要求采用无阻塞的100GE网络用于训练过程中的参数交换。</a:t>
            </a: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ES 品牌视觉规范  |  ES Visual Identity Guideline"/>
          <p:cNvSpPr txBox="1"/>
          <p:nvPr/>
        </p:nvSpPr>
        <p:spPr>
          <a:xfrm>
            <a:off x="1016000" y="332422"/>
            <a:ext cx="241935" cy="101155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7100"/>
              </a:lnSpc>
              <a:spcBef>
                <a:spcPts val="1200"/>
              </a:spcBef>
              <a:defRPr sz="3400" b="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t> </a:t>
            </a:r>
          </a:p>
        </p:txBody>
      </p:sp>
      <p:sp>
        <p:nvSpPr>
          <p:cNvPr id="467" name="矩形"/>
          <p:cNvSpPr/>
          <p:nvPr/>
        </p:nvSpPr>
        <p:spPr>
          <a:xfrm>
            <a:off x="762000" y="1346200"/>
            <a:ext cx="22860000" cy="25400"/>
          </a:xfrm>
          <a:prstGeom prst="rect">
            <a:avLst/>
          </a:prstGeom>
          <a:solidFill>
            <a:srgbClr val="775C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pic>
        <p:nvPicPr>
          <p:cNvPr id="469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ES 品牌视觉规范  |  ES Visual Identity Guideline"/>
          <p:cNvSpPr txBox="1"/>
          <p:nvPr>
            <p:custDataLst>
              <p:tags r:id="rId2"/>
            </p:custDataLst>
          </p:nvPr>
        </p:nvSpPr>
        <p:spPr>
          <a:xfrm>
            <a:off x="762000" y="274637"/>
            <a:ext cx="3561080" cy="101155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7100"/>
              </a:lnSpc>
              <a:spcBef>
                <a:spcPts val="1200"/>
              </a:spcBef>
              <a:defRPr sz="3400" b="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rPr lang="zh-CN" altLang="en-US" b="1"/>
              <a:t>为什么要无损</a:t>
            </a:r>
            <a:r>
              <a:rPr lang="zh-CN" altLang="en-US" b="1"/>
              <a:t>保障</a:t>
            </a:r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4187190" y="2459991"/>
            <a:ext cx="16009620" cy="22555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为什么会拥塞</a:t>
            </a:r>
            <a:endParaRPr kumimoji="0" lang="zh-CN" altLang="en-US" sz="280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交换机下行</a:t>
            </a:r>
            <a:r>
              <a:rPr kumimoji="0" lang="en-US" altLang="zh-CN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/</a:t>
            </a:r>
            <a:r>
              <a: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上行非对称设计</a:t>
            </a: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ECMP</a:t>
            </a:r>
            <a:r>
              <a: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等价多路径一般使用逐流</a:t>
            </a:r>
            <a:r>
              <a: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的静态</a:t>
            </a:r>
            <a:r>
              <a:rPr kumimoji="0" lang="en-US" altLang="zh-CN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HASH</a:t>
            </a:r>
            <a:r>
              <a: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算法</a:t>
            </a: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存在多对一（</a:t>
            </a:r>
            <a:r>
              <a:rPr kumimoji="0" lang="en-US" altLang="zh-CN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Incast</a:t>
            </a:r>
            <a:r>
              <a: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）的通信压力</a:t>
            </a:r>
            <a:endParaRPr kumimoji="0" lang="en-US" altLang="zh-CN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4187190" y="9322754"/>
            <a:ext cx="16009620" cy="17018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如何保障不丢包</a:t>
            </a:r>
            <a:endParaRPr kumimoji="0" lang="zh-CN" altLang="en-US" sz="280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PFC</a:t>
            </a:r>
            <a:r>
              <a: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基于优先级的链路流控（流量入口向上游反压暂停）</a:t>
            </a: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ECN</a:t>
            </a:r>
            <a:r>
              <a: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端到端流量拥塞控制（流量出口标记</a:t>
            </a:r>
            <a:r>
              <a:rPr kumimoji="0" lang="en-US" altLang="zh-CN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EC</a:t>
            </a:r>
            <a:r>
              <a: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接收端发送</a:t>
            </a:r>
            <a:r>
              <a:rPr kumimoji="0" lang="en-US" altLang="zh-CN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CNP</a:t>
            </a:r>
            <a:r>
              <a: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通知发送端降速）</a:t>
            </a: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87190" y="5772150"/>
            <a:ext cx="15598140" cy="22555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20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RDMA</a:t>
            </a:r>
            <a:r>
              <a:rPr kumimoji="0" lang="zh-CN" altLang="en-US" sz="320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重传实现：</a:t>
            </a:r>
            <a:r>
              <a:rPr kumimoji="0" lang="en-US" altLang="zh-CN" sz="320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Go-back-N</a:t>
            </a:r>
            <a:endParaRPr kumimoji="0" lang="en-US" altLang="zh-CN" sz="3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BTH</a:t>
            </a:r>
            <a:r>
              <a:rPr kumimoji="0" lang="zh-CN" altLang="en-US" sz="36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头部的</a:t>
            </a:r>
            <a:r>
              <a:rPr kumimoji="0" lang="en-US" altLang="zh-CN" sz="36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PSN</a:t>
            </a:r>
            <a:r>
              <a:rPr kumimoji="0" lang="zh-CN" altLang="en-US" sz="36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用来检测丢失和重复</a:t>
            </a:r>
            <a:r>
              <a:rPr kumimoji="0" lang="zh-CN" altLang="en-US" sz="36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报文</a:t>
            </a: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严格按照</a:t>
            </a:r>
            <a:r>
              <a:rPr kumimoji="0" lang="zh-CN" altLang="en-US" sz="36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递增传送，一旦丢包将无法保障内存填充顺序，发送方收到</a:t>
            </a:r>
            <a:r>
              <a:rPr kumimoji="0" lang="en-US" altLang="zh-CN" sz="36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NACK</a:t>
            </a:r>
            <a:r>
              <a:rPr kumimoji="0" lang="zh-CN" altLang="en-US" sz="36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将重传</a:t>
            </a:r>
            <a:r>
              <a:rPr kumimoji="0" lang="en-US" altLang="zh-CN" sz="36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ACK</a:t>
            </a:r>
            <a:r>
              <a:rPr kumimoji="0" lang="zh-CN" altLang="en-US" sz="36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之后所有的数据</a:t>
            </a:r>
            <a:r>
              <a:rPr kumimoji="0" lang="zh-CN" altLang="en-US" sz="36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报文</a:t>
            </a: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ES 品牌视觉规范  |  ES Visual Identity Guideline"/>
          <p:cNvSpPr txBox="1"/>
          <p:nvPr/>
        </p:nvSpPr>
        <p:spPr>
          <a:xfrm>
            <a:off x="1016000" y="332422"/>
            <a:ext cx="241935" cy="101155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7100"/>
              </a:lnSpc>
              <a:spcBef>
                <a:spcPts val="1200"/>
              </a:spcBef>
              <a:defRPr sz="3400" b="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t> </a:t>
            </a:r>
          </a:p>
        </p:txBody>
      </p:sp>
      <p:sp>
        <p:nvSpPr>
          <p:cNvPr id="467" name="矩形"/>
          <p:cNvSpPr/>
          <p:nvPr/>
        </p:nvSpPr>
        <p:spPr>
          <a:xfrm>
            <a:off x="762000" y="1346200"/>
            <a:ext cx="22860000" cy="25400"/>
          </a:xfrm>
          <a:prstGeom prst="rect">
            <a:avLst/>
          </a:prstGeom>
          <a:solidFill>
            <a:srgbClr val="775C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pic>
        <p:nvPicPr>
          <p:cNvPr id="469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ES 品牌视觉规范  |  ES Visual Identity Guideline"/>
          <p:cNvSpPr txBox="1"/>
          <p:nvPr>
            <p:custDataLst>
              <p:tags r:id="rId2"/>
            </p:custDataLst>
          </p:nvPr>
        </p:nvSpPr>
        <p:spPr>
          <a:xfrm>
            <a:off x="762000" y="332422"/>
            <a:ext cx="3128645" cy="101155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7100"/>
              </a:lnSpc>
              <a:spcBef>
                <a:spcPts val="1200"/>
              </a:spcBef>
              <a:defRPr sz="3400" b="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rPr lang="zh-CN" altLang="en-US" b="1"/>
              <a:t>如何保障不丢包</a:t>
            </a:r>
            <a:endParaRPr lang="zh-CN" altLang="en-US" b="1"/>
          </a:p>
        </p:txBody>
      </p:sp>
      <p:pic>
        <p:nvPicPr>
          <p:cNvPr id="8" name="图片 7" descr="RoCE-HSC.draw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810" y="4138930"/>
            <a:ext cx="17010380" cy="960691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0490" y="1762125"/>
            <a:ext cx="7870825" cy="47180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PFC</a:t>
            </a:r>
            <a:endParaRPr kumimoji="0" lang="en-US" altLang="zh-CN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1. </a:t>
            </a:r>
            <a:r>
              <a:rPr kumimoji="0" lang="zh-CN" altLang="en-US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主机</a:t>
            </a:r>
            <a:r>
              <a:rPr kumimoji="0" lang="en-US" altLang="zh-CN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H3</a:t>
            </a:r>
            <a:r>
              <a:rPr kumimoji="0" lang="zh-CN" altLang="en-US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向</a:t>
            </a:r>
            <a:r>
              <a:rPr kumimoji="0" lang="en-US" altLang="zh-CN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S3</a:t>
            </a:r>
            <a:r>
              <a:rPr kumimoji="0" lang="zh-CN" altLang="en-US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发送大量</a:t>
            </a:r>
            <a:r>
              <a:rPr kumimoji="0" lang="en-US" altLang="zh-CN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RoCE</a:t>
            </a:r>
            <a:r>
              <a:rPr kumimoji="0" lang="zh-CN" altLang="en-US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数据报文，携带优先级</a:t>
            </a:r>
            <a:r>
              <a:rPr kumimoji="0" lang="en-US" altLang="zh-CN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3</a:t>
            </a:r>
            <a:endParaRPr kumimoji="0" lang="en-US" altLang="zh-CN" sz="3000" b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2. </a:t>
            </a:r>
            <a:r>
              <a:rPr kumimoji="0" lang="zh-CN" altLang="en-US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直连</a:t>
            </a:r>
            <a:r>
              <a:rPr kumimoji="0" lang="en-US" altLang="zh-CN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S3</a:t>
            </a:r>
            <a:r>
              <a:rPr kumimoji="0" lang="zh-CN" altLang="en-US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的交换机端口，在虚拟队列</a:t>
            </a:r>
            <a:r>
              <a:rPr kumimoji="0" lang="en-US" altLang="zh-CN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3</a:t>
            </a:r>
            <a:r>
              <a:rPr kumimoji="0" lang="zh-CN" altLang="en-US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上的</a:t>
            </a:r>
            <a:r>
              <a:rPr kumimoji="0" lang="en-US" altLang="zh-CN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buffer</a:t>
            </a:r>
            <a:r>
              <a:rPr kumimoji="0" lang="zh-CN" altLang="en-US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告急</a:t>
            </a:r>
            <a:endParaRPr kumimoji="0" lang="zh-CN" altLang="en-US" sz="3000" b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3. </a:t>
            </a:r>
            <a:r>
              <a:rPr kumimoji="0" lang="zh-CN" altLang="en-US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向</a:t>
            </a:r>
            <a:r>
              <a:rPr kumimoji="0" lang="en-US" altLang="zh-CN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H3</a:t>
            </a:r>
            <a:r>
              <a:rPr kumimoji="0" lang="zh-CN" altLang="en-US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发送暂停帧，携带优先级</a:t>
            </a:r>
            <a:r>
              <a:rPr kumimoji="0" lang="en-US" altLang="zh-CN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3</a:t>
            </a:r>
            <a:endParaRPr kumimoji="0" lang="zh-CN" altLang="en-US" sz="3000" b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4. H3</a:t>
            </a:r>
            <a:r>
              <a:rPr kumimoji="0" lang="zh-CN" altLang="en-US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的网卡收到优先级</a:t>
            </a:r>
            <a:r>
              <a:rPr kumimoji="0" lang="en-US" altLang="zh-CN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3</a:t>
            </a:r>
            <a:r>
              <a:rPr kumimoji="0" lang="zh-CN" altLang="en-US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的暂停报文，停止</a:t>
            </a:r>
            <a:r>
              <a:rPr kumimoji="0" lang="en-US" altLang="zh-CN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RoCE</a:t>
            </a:r>
            <a:r>
              <a:rPr kumimoji="0" lang="zh-CN" altLang="en-US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报文发送</a:t>
            </a:r>
            <a:endParaRPr kumimoji="0" lang="zh-CN" altLang="en-US" sz="3000" b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5. </a:t>
            </a:r>
            <a:r>
              <a:rPr kumimoji="0" lang="zh-CN" altLang="en-US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当</a:t>
            </a:r>
            <a:r>
              <a:rPr kumimoji="0" lang="en-US" altLang="zh-CN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S3</a:t>
            </a:r>
            <a:r>
              <a:rPr kumimoji="0" lang="zh-CN" altLang="en-US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端口的</a:t>
            </a:r>
            <a:r>
              <a:rPr kumimoji="0" lang="en-US" altLang="zh-CN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buffer</a:t>
            </a:r>
            <a:r>
              <a:rPr kumimoji="0" lang="zh-CN" altLang="en-US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恢复后，再向</a:t>
            </a:r>
            <a:r>
              <a:rPr kumimoji="0" lang="en-US" altLang="zh-CN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H3</a:t>
            </a:r>
            <a:r>
              <a:rPr kumimoji="0" lang="zh-CN" altLang="en-US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发送暂停取消帧</a:t>
            </a:r>
            <a:endParaRPr kumimoji="0" lang="zh-CN" altLang="en-US" sz="3000" b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16430625" y="1786573"/>
            <a:ext cx="7871460" cy="42564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ECN</a:t>
            </a:r>
            <a:endParaRPr kumimoji="0" lang="en-US" altLang="zh-CN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1. H4/H2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分别向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H3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发送优先级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3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的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RoCE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报文</a:t>
            </a:r>
            <a:endParaRPr kumimoji="0" lang="en-US" altLang="zh-CN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2. C1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交换机的出端口，检测到出向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buffer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告急，在流量上打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EC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拥塞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标记</a:t>
            </a: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3. H3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的网卡收到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EC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标记的报文，向源端发送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CNP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报文，携带优先级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6</a:t>
            </a:r>
            <a:endParaRPr kumimoji="0" lang="en-US" altLang="zh-CN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4. S3/C1/S1/S2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优先转发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6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优先级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CNP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报文</a:t>
            </a: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5. H4/H2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的网卡收到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CNP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报文，使用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DCQCN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算法降速，减缓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RoCE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报文的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发送</a:t>
            </a: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ES 品牌视觉规范  |  ES Visual Identity Guideline"/>
          <p:cNvSpPr txBox="1"/>
          <p:nvPr/>
        </p:nvSpPr>
        <p:spPr>
          <a:xfrm>
            <a:off x="1016000" y="332422"/>
            <a:ext cx="241935" cy="101155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7100"/>
              </a:lnSpc>
              <a:spcBef>
                <a:spcPts val="1200"/>
              </a:spcBef>
              <a:defRPr sz="3400" b="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t> </a:t>
            </a:r>
          </a:p>
        </p:txBody>
      </p:sp>
      <p:sp>
        <p:nvSpPr>
          <p:cNvPr id="467" name="矩形"/>
          <p:cNvSpPr/>
          <p:nvPr/>
        </p:nvSpPr>
        <p:spPr>
          <a:xfrm>
            <a:off x="762000" y="1346200"/>
            <a:ext cx="22860000" cy="25400"/>
          </a:xfrm>
          <a:prstGeom prst="rect">
            <a:avLst/>
          </a:prstGeom>
          <a:solidFill>
            <a:srgbClr val="775C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pic>
        <p:nvPicPr>
          <p:cNvPr id="469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ES 品牌视觉规范  |  ES Visual Identity Guideline"/>
          <p:cNvSpPr txBox="1"/>
          <p:nvPr>
            <p:custDataLst>
              <p:tags r:id="rId2"/>
            </p:custDataLst>
          </p:nvPr>
        </p:nvSpPr>
        <p:spPr>
          <a:xfrm>
            <a:off x="762000" y="332422"/>
            <a:ext cx="5210810" cy="101155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7100"/>
              </a:lnSpc>
              <a:spcBef>
                <a:spcPts val="1200"/>
              </a:spcBef>
              <a:defRPr sz="3400" b="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rPr lang="zh-CN" altLang="en-US" b="1"/>
              <a:t>如何配置</a:t>
            </a:r>
            <a:r>
              <a:rPr lang="en-US" altLang="zh-CN" b="1"/>
              <a:t>RoCE - </a:t>
            </a:r>
            <a:r>
              <a:rPr lang="zh-CN" altLang="en-US" b="1"/>
              <a:t>无损支持</a:t>
            </a:r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016000" y="1827530"/>
            <a:ext cx="19530060" cy="39808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主机</a:t>
            </a:r>
            <a:r>
              <a:rPr kumimoji="0" lang="zh-CN" altLang="en-US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侧支持</a:t>
            </a:r>
            <a:r>
              <a:rPr kumimoji="0" lang="en-US" altLang="zh-CN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RoCE</a:t>
            </a:r>
            <a:r>
              <a:rPr kumimoji="0" lang="zh-CN" altLang="en-US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的网卡</a:t>
            </a:r>
            <a:endParaRPr kumimoji="0" lang="zh-CN" altLang="en-US" sz="320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Mellanox Connectx 4/5/6 series</a:t>
            </a:r>
            <a:endParaRPr kumimoji="0" lang="en-US" altLang="zh-CN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Broadcom NetXtreme-E 10/25/40/50 </a:t>
            </a:r>
            <a:endParaRPr kumimoji="0" lang="en-US" altLang="zh-CN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Chelsio T4 and T5 1GbE, 10GbE adapters and T5 40GbE adapter</a:t>
            </a:r>
            <a:endParaRPr kumimoji="0" lang="en-US" altLang="zh-CN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Hisilicon RoCE engine in Hisilicon Hip06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、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Hip07 and Hip08</a:t>
            </a:r>
            <a:endParaRPr kumimoji="0" lang="en-US" altLang="zh-CN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016000" y="6375718"/>
            <a:ext cx="19620865" cy="29946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交换机侧</a:t>
            </a:r>
            <a:r>
              <a:rPr kumimoji="0" lang="en-US" altLang="zh-CN" sz="3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RoCE</a:t>
            </a:r>
            <a:r>
              <a:rPr kumimoji="0" lang="zh-CN" altLang="en-US" sz="3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的无损</a:t>
            </a:r>
            <a:r>
              <a:rPr kumimoji="0" lang="zh-CN" altLang="en-US" sz="3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保障</a:t>
            </a:r>
            <a:endParaRPr kumimoji="0" lang="zh-CN" altLang="en-US" sz="300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支持基于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COS/DSCP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的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PFC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，通过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8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个虚拟的队列来实现不同服务的优先级调度，如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3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队列服务无损网络，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6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队列服务拥塞控制，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0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队列服务其他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TCP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业务</a:t>
            </a:r>
            <a:endParaRPr kumimoji="0" lang="en-US" altLang="zh-CN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支持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ECN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，为流量的出端口配置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ECN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检测策略，使得优先级为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3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的无损流量，在出口拥塞前在流量上打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EC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标记，接收端网卡收到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EC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标记的报文，向源端发送优先级为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6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的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CNP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通知报文，通知发送端降速。</a:t>
            </a: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ES 品牌视觉规范  |  ES Visual Identity Guideline"/>
          <p:cNvSpPr txBox="1"/>
          <p:nvPr/>
        </p:nvSpPr>
        <p:spPr>
          <a:xfrm>
            <a:off x="1016000" y="332422"/>
            <a:ext cx="241935" cy="101155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7100"/>
              </a:lnSpc>
              <a:spcBef>
                <a:spcPts val="1200"/>
              </a:spcBef>
              <a:defRPr sz="3400" b="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t> </a:t>
            </a:r>
          </a:p>
        </p:txBody>
      </p:sp>
      <p:sp>
        <p:nvSpPr>
          <p:cNvPr id="467" name="矩形"/>
          <p:cNvSpPr/>
          <p:nvPr/>
        </p:nvSpPr>
        <p:spPr>
          <a:xfrm>
            <a:off x="762000" y="1346200"/>
            <a:ext cx="22860000" cy="25400"/>
          </a:xfrm>
          <a:prstGeom prst="rect">
            <a:avLst/>
          </a:prstGeom>
          <a:solidFill>
            <a:srgbClr val="775C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pic>
        <p:nvPicPr>
          <p:cNvPr id="469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ES 品牌视觉规范  |  ES Visual Identity Guideline"/>
          <p:cNvSpPr txBox="1"/>
          <p:nvPr>
            <p:custDataLst>
              <p:tags r:id="rId2"/>
            </p:custDataLst>
          </p:nvPr>
        </p:nvSpPr>
        <p:spPr>
          <a:xfrm>
            <a:off x="762000" y="332422"/>
            <a:ext cx="5828665" cy="101155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7100"/>
              </a:lnSpc>
              <a:spcBef>
                <a:spcPts val="1200"/>
              </a:spcBef>
              <a:defRPr sz="3400" b="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rPr lang="zh-CN" altLang="en-US" b="1"/>
              <a:t>如何配置</a:t>
            </a:r>
            <a:r>
              <a:rPr lang="en-US" altLang="zh-CN" b="1"/>
              <a:t>RoCE - </a:t>
            </a:r>
            <a:r>
              <a:rPr lang="zh-CN" altLang="en-US" b="1"/>
              <a:t>主机侧</a:t>
            </a:r>
            <a:r>
              <a:rPr lang="en-US" altLang="zh-CN" b="1"/>
              <a:t>RNIC</a:t>
            </a:r>
            <a:endParaRPr lang="en-US" altLang="zh-CN" b="1"/>
          </a:p>
        </p:txBody>
      </p:sp>
      <p:sp>
        <p:nvSpPr>
          <p:cNvPr id="2" name="文本框 1"/>
          <p:cNvSpPr txBox="1"/>
          <p:nvPr/>
        </p:nvSpPr>
        <p:spPr>
          <a:xfrm>
            <a:off x="986155" y="1858010"/>
            <a:ext cx="12699365" cy="114782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 upright="0">
            <a:noAutofit/>
          </a:bodyPr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1. Activate PFC on </a:t>
            </a:r>
            <a:r>
              <a:rPr kumimoji="0" sz="3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priority 3 and </a:t>
            </a:r>
            <a:r>
              <a: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6.</a:t>
            </a:r>
            <a:endParaRPr kumimoji="0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</a:pPr>
            <a:endParaRPr kumimoji="0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3000" b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mlnx_qos -i eth</a:t>
            </a:r>
            <a:r>
              <a:rPr kumimoji="0" lang="en-US" sz="3000" b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1</a:t>
            </a:r>
            <a:r>
              <a:rPr kumimoji="0" sz="3000" b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 --trust=dscp --pfc=0,0,0,1,0,0,1,0</a:t>
            </a:r>
            <a:endParaRPr kumimoji="0" sz="3000" b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2. 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Enable ECN on </a:t>
            </a:r>
            <a:r>
              <a:rPr kumimoji="0" lang="zh-CN" altLang="en-US" sz="3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priority 3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.</a:t>
            </a: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</a:pP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echo 1 &gt; /sys/class/net/eth1/ecn/roce_np/enable/3</a:t>
            </a:r>
            <a:endParaRPr kumimoji="0" lang="zh-CN" altLang="en-US" sz="3000" b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echo 1 &gt; /sys/class/net/eth1/ecn/roce_rp/enable/3</a:t>
            </a:r>
            <a:endParaRPr kumimoji="0" lang="zh-CN" altLang="en-US" sz="3000" b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3. 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Specify the CNP L3 </a:t>
            </a:r>
            <a:r>
              <a:rPr kumimoji="0" lang="zh-CN" altLang="en-US" sz="3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DSCP egress's priority as </a:t>
            </a:r>
            <a:r>
              <a:rPr kumimoji="0" lang="en-US" altLang="zh-CN" sz="3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48.</a:t>
            </a: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</a:pP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</a:pPr>
            <a:r>
              <a:rPr kumimoji="0" lang="zh-CN" altLang="en-US" sz="3000" b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echo </a:t>
            </a:r>
            <a:r>
              <a:rPr kumimoji="0" lang="en-US" altLang="zh-CN" sz="3000" b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48 </a:t>
            </a:r>
            <a:r>
              <a:rPr kumimoji="0" lang="zh-CN" altLang="en-US" sz="3000" b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&gt; /sys/class/net/eth1/ecn/roce_np/cnp_dscp</a:t>
            </a:r>
            <a:endParaRPr kumimoji="0" lang="zh-CN" altLang="en-US" sz="3000" b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</a:pPr>
            <a:r>
              <a:rPr lang="en-US" altLang="zh-CN" b="0"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4. </a:t>
            </a:r>
            <a:r>
              <a:rPr lang="zh-CN" altLang="en-US" b="0"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Set the RoCE mode to V2 for RDMA CM traffic</a:t>
            </a:r>
            <a:r>
              <a:rPr lang="en-US" altLang="zh-CN" b="0"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.</a:t>
            </a:r>
            <a:endParaRPr kumimoji="0" lang="zh-CN" altLang="en-US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</a:pPr>
            <a:r>
              <a:rPr lang="zh-CN" altLang="en-US" b="0">
                <a:solidFill>
                  <a:schemeClr val="accent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cma_roce_mode -d mlx5_0 -p 1 -m 2</a:t>
            </a:r>
            <a:endParaRPr kumimoji="0" lang="zh-CN" altLang="en-US" b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5. 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Set </a:t>
            </a:r>
            <a:r>
              <a:rPr kumimoji="0" lang="zh-CN" altLang="en-US" sz="3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ToS to 106 (DSCP 26)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 for ALL RoCE traffic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.</a:t>
            </a:r>
            <a:endParaRPr kumimoji="0" lang="en-US" altLang="zh-CN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</a:pPr>
            <a:endParaRPr kumimoji="0" lang="en-US" altLang="zh-CN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0" i="1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echo 106 &gt; /sys/class/infiniband/&lt;mlx-device&gt;/tc/1/traffic_class</a:t>
            </a:r>
            <a:endParaRPr kumimoji="0" lang="zh-CN" altLang="en-US" sz="3000" b="0" i="1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6. 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Set the RDMA-CM </a:t>
            </a:r>
            <a:r>
              <a:rPr kumimoji="0" lang="zh-CN" altLang="en-US" sz="3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ToS to 106 (DSCP 26)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.</a:t>
            </a: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</a:pP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cma_roce_tos -d mlx5_0 -t </a:t>
            </a:r>
            <a:r>
              <a:rPr kumimoji="0" lang="en-US" altLang="zh-CN" sz="3000" b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106</a:t>
            </a:r>
            <a:endParaRPr kumimoji="0" lang="en-US" altLang="zh-CN" sz="3000" b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8027" t="11420" r="5450" b="15147"/>
          <a:stretch>
            <a:fillRect/>
          </a:stretch>
        </p:blipFill>
        <p:spPr>
          <a:xfrm>
            <a:off x="15594965" y="3283585"/>
            <a:ext cx="5351780" cy="18688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773275" y="5961380"/>
            <a:ext cx="8115300" cy="240982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</a:pPr>
            <a:r>
              <a:rPr kumimoji="0" lang="en-US" altLang="zh-CN" sz="3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ECN values:</a:t>
            </a:r>
            <a:endParaRPr kumimoji="0" lang="zh-CN" altLang="en-US" sz="300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00 – Not ECN-Capable Transport</a:t>
            </a: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01 – ECN Capable Transport(1)</a:t>
            </a: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10 – ECN Capable Transport(0)</a:t>
            </a: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11 – Congestion Experienced</a:t>
            </a: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ES 品牌视觉规范  |  ES Visual Identity Guideline"/>
          <p:cNvSpPr txBox="1"/>
          <p:nvPr/>
        </p:nvSpPr>
        <p:spPr>
          <a:xfrm>
            <a:off x="1016000" y="332422"/>
            <a:ext cx="241935" cy="101155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7100"/>
              </a:lnSpc>
              <a:spcBef>
                <a:spcPts val="1200"/>
              </a:spcBef>
              <a:defRPr sz="3400" b="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t> </a:t>
            </a:r>
          </a:p>
        </p:txBody>
      </p:sp>
      <p:sp>
        <p:nvSpPr>
          <p:cNvPr id="467" name="矩形"/>
          <p:cNvSpPr/>
          <p:nvPr/>
        </p:nvSpPr>
        <p:spPr>
          <a:xfrm>
            <a:off x="762000" y="1346200"/>
            <a:ext cx="22860000" cy="25400"/>
          </a:xfrm>
          <a:prstGeom prst="rect">
            <a:avLst/>
          </a:prstGeom>
          <a:solidFill>
            <a:srgbClr val="775C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pic>
        <p:nvPicPr>
          <p:cNvPr id="469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ES 品牌视觉规范  |  ES Visual Identity Guideline"/>
          <p:cNvSpPr txBox="1"/>
          <p:nvPr>
            <p:custDataLst>
              <p:tags r:id="rId2"/>
            </p:custDataLst>
          </p:nvPr>
        </p:nvSpPr>
        <p:spPr>
          <a:xfrm>
            <a:off x="842645" y="332422"/>
            <a:ext cx="6760845" cy="101155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7100"/>
              </a:lnSpc>
              <a:spcBef>
                <a:spcPts val="1200"/>
              </a:spcBef>
              <a:defRPr sz="3400" b="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rPr lang="zh-CN" altLang="en-US" b="1"/>
              <a:t>如何配置</a:t>
            </a:r>
            <a:r>
              <a:rPr lang="en-US" altLang="zh-CN" b="1"/>
              <a:t>RoCE - </a:t>
            </a:r>
            <a:r>
              <a:rPr lang="zh-CN" altLang="en-US" b="1"/>
              <a:t>交换机</a:t>
            </a:r>
            <a:r>
              <a:rPr lang="en-US" altLang="zh-CN" b="1"/>
              <a:t>PFC/ECN</a:t>
            </a:r>
            <a:endParaRPr lang="en-US" altLang="zh-CN" b="1"/>
          </a:p>
        </p:txBody>
      </p:sp>
      <p:sp>
        <p:nvSpPr>
          <p:cNvPr id="2" name="文本框 1"/>
          <p:cNvSpPr txBox="1"/>
          <p:nvPr/>
        </p:nvSpPr>
        <p:spPr>
          <a:xfrm>
            <a:off x="985520" y="3441700"/>
            <a:ext cx="22545675" cy="951357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 upright="0">
            <a:noAutofit/>
          </a:bodyPr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1. Enable </a:t>
            </a:r>
            <a:r>
              <a:rPr kumimoji="0" sz="3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ECN</a:t>
            </a:r>
            <a:r>
              <a: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 for RoCE traffic over </a:t>
            </a:r>
            <a:r>
              <a:rPr kumimoji="0" sz="3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traffic class 3</a:t>
            </a:r>
            <a:r>
              <a:rPr kumimoji="0" 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.</a:t>
            </a:r>
            <a:endParaRPr kumimoji="0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kumimoji="0" sz="3000" b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sz="3000" b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switch (config) # interface ethernet 1/1-1/32 traffic-class 3 congestion-control ecn minimum-absolute 150 maximum-absolute 1500</a:t>
            </a:r>
            <a:endParaRPr kumimoji="0" sz="3000" b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kumimoji="0" sz="3000" b="0" i="1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en-US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2. </a:t>
            </a:r>
            <a:r>
              <a:rPr kumimoji="0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Configure the</a:t>
            </a:r>
            <a:r>
              <a:rPr kumimoji="0" sz="300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 buffer pool </a:t>
            </a:r>
            <a:r>
              <a:rPr kumimoji="0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- allocating pool 0 for lossy traffic, and pool 1 for lossless RoCE traffic.</a:t>
            </a:r>
            <a:endParaRPr kumimoji="0" sz="3000" b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kumimoji="0" sz="3000" b="0" i="1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sz="3000" b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switch (config) # advanced buffer management force</a:t>
            </a:r>
            <a:endParaRPr kumimoji="0" sz="3000" b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sz="3000" b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switch (config) # pool ePool1 size 16777000 type dynamic</a:t>
            </a:r>
            <a:endParaRPr kumimoji="0" sz="3000" b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sz="3000" b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switch (config) # pool ePool0 size 5242880 type dynamic</a:t>
            </a:r>
            <a:endParaRPr kumimoji="0" sz="3000" b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sz="3000" b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switch (config) # pool iPool1 size 5242880 type dynamic</a:t>
            </a:r>
            <a:endParaRPr kumimoji="0" sz="3000" b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sz="3000" b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switch (config) # pool iPool0 size 5242880 type dynamic</a:t>
            </a:r>
            <a:endParaRPr kumimoji="0" sz="3000" b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kumimoji="0" sz="3000" b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en-US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3. B</a:t>
            </a:r>
            <a:r>
              <a:rPr kumimoji="0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ind the interfaces to switch-priority.</a:t>
            </a:r>
            <a:r>
              <a:rPr kumimoji="0" lang="en-US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 </a:t>
            </a:r>
            <a:r>
              <a:rPr kumimoji="0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Bind switch </a:t>
            </a:r>
            <a:r>
              <a:rPr kumimoji="0" sz="300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priorities 3 and 6 t</a:t>
            </a:r>
            <a:r>
              <a:rPr kumimoji="0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o ingress PG group 3 and 6</a:t>
            </a:r>
            <a:r>
              <a:rPr kumimoji="0" lang="en-US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.</a:t>
            </a:r>
            <a:endParaRPr kumimoji="0" lang="en-US" sz="3000" b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kumimoji="0" sz="3000" b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sz="3000" b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switch (config) # interface ethernet 1/1-1/32 ingress-buffer iPort.pg6 bind switch-priority 6</a:t>
            </a:r>
            <a:endParaRPr kumimoji="0" sz="3000" b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sz="3000" b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switch (config) # interface ethernet 1/1-1/32 ingress-buffer iPort.pg3 bind switch-priority 3</a:t>
            </a:r>
            <a:endParaRPr kumimoji="0" sz="3000" b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kumimoji="0" lang="en-US" sz="3000" b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6000" y="1880235"/>
            <a:ext cx="22515195" cy="102489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>
            <a:outerShdw blurRad="444500" dir="10800000" algn="r" rotWithShape="0">
              <a:prstClr val="black">
                <a:alpha val="40000"/>
              </a:prstClr>
            </a:outerShdw>
            <a:softEdge rad="38100"/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b="0" i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T</a:t>
            </a:r>
            <a:r>
              <a:rPr b="0" i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raffic over DSCP 26 is mapped to traffic class 3 by default.</a:t>
            </a:r>
            <a:endParaRPr b="0" i="1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en-US" b="0" i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T</a:t>
            </a:r>
            <a:r>
              <a:rPr b="0" i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raffic over DSCP </a:t>
            </a:r>
            <a:r>
              <a:rPr lang="en-US" b="0" i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48</a:t>
            </a:r>
            <a:r>
              <a:rPr b="0" i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 is mapped to traffic class </a:t>
            </a:r>
            <a:r>
              <a:rPr lang="en-US" b="0" i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6 by default.</a:t>
            </a:r>
            <a:endParaRPr kumimoji="0" lang="en-US" altLang="en-US" sz="3000" b="0" i="1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ES 品牌视觉规范  |  ES Visual Identity Guideline"/>
          <p:cNvSpPr txBox="1"/>
          <p:nvPr/>
        </p:nvSpPr>
        <p:spPr>
          <a:xfrm>
            <a:off x="1016000" y="332422"/>
            <a:ext cx="241935" cy="101155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7100"/>
              </a:lnSpc>
              <a:spcBef>
                <a:spcPts val="1200"/>
              </a:spcBef>
              <a:defRPr sz="3400" b="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t> </a:t>
            </a:r>
          </a:p>
        </p:txBody>
      </p:sp>
      <p:sp>
        <p:nvSpPr>
          <p:cNvPr id="467" name="矩形"/>
          <p:cNvSpPr/>
          <p:nvPr/>
        </p:nvSpPr>
        <p:spPr>
          <a:xfrm>
            <a:off x="762000" y="1346200"/>
            <a:ext cx="22860000" cy="25400"/>
          </a:xfrm>
          <a:prstGeom prst="rect">
            <a:avLst/>
          </a:prstGeom>
          <a:solidFill>
            <a:srgbClr val="775C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pic>
        <p:nvPicPr>
          <p:cNvPr id="469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ES 品牌视觉规范  |  ES Visual Identity Guideline"/>
          <p:cNvSpPr txBox="1"/>
          <p:nvPr>
            <p:custDataLst>
              <p:tags r:id="rId2"/>
            </p:custDataLst>
          </p:nvPr>
        </p:nvSpPr>
        <p:spPr>
          <a:xfrm>
            <a:off x="762000" y="332422"/>
            <a:ext cx="6760845" cy="101155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7100"/>
              </a:lnSpc>
              <a:spcBef>
                <a:spcPts val="1200"/>
              </a:spcBef>
              <a:defRPr sz="3400" b="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rPr lang="zh-CN" altLang="en-US" b="1"/>
              <a:t>如何配置</a:t>
            </a:r>
            <a:r>
              <a:rPr lang="en-US" altLang="zh-CN" b="1"/>
              <a:t>RoCE - </a:t>
            </a:r>
            <a:r>
              <a:rPr lang="zh-CN" altLang="en-US" b="1"/>
              <a:t>交换机</a:t>
            </a:r>
            <a:r>
              <a:rPr lang="en-US" altLang="zh-CN" b="1"/>
              <a:t>PFC/ECN</a:t>
            </a:r>
            <a:endParaRPr lang="en-US" altLang="zh-CN" b="1"/>
          </a:p>
        </p:txBody>
      </p:sp>
      <p:sp>
        <p:nvSpPr>
          <p:cNvPr id="2" name="文本框 1"/>
          <p:cNvSpPr txBox="1"/>
          <p:nvPr/>
        </p:nvSpPr>
        <p:spPr>
          <a:xfrm>
            <a:off x="1016000" y="1917700"/>
            <a:ext cx="22545675" cy="108464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 upright="0">
            <a:noAutofit/>
          </a:bodyPr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en-US" b="0"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4. Map ingress/egress interface to pool configuration by allocating buffer to </a:t>
            </a:r>
            <a:r>
              <a:rPr lang="en-US"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priority 3 and mapping it to a lossless pool,</a:t>
            </a:r>
            <a:r>
              <a:rPr lang="en-US" b="0"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 and allocating buffer to </a:t>
            </a:r>
            <a:r>
              <a:rPr lang="en-US"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priority 6 and mapping it to a lossy pool.</a:t>
            </a:r>
            <a:endParaRPr kumimoji="0" lang="en-US" b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lang="en-US" b="0">
              <a:solidFill>
                <a:schemeClr val="accent1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en-US" b="0">
                <a:solidFill>
                  <a:schemeClr val="accent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switch (config) # interface ethernet 1/1-1/32 ingress-buffer iPort.pg3 map pool iPool1 type lossless reserved 67538 xoff 18432 xon 18432 shared alpha 2</a:t>
            </a:r>
            <a:endParaRPr kumimoji="0" lang="en-US" b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en-US" b="0">
                <a:solidFill>
                  <a:schemeClr val="accent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switch (config) # interface ethernet 1/1-1/32 ingress-buffer iPort.pg6 map pool iPool0 type lossy reserved 10240 shared alpha 8</a:t>
            </a:r>
            <a:endParaRPr kumimoji="0" lang="en-US" b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en-US" b="0">
                <a:solidFill>
                  <a:schemeClr val="accent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switch (config) # interface ethernet 1/1-1/32 egress-buffer ePort.tc3 map pool ePool1 reserved 1500 shared alpha inf</a:t>
            </a:r>
            <a:endParaRPr kumimoji="0" lang="en-US" b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5</a:t>
            </a:r>
            <a:r>
              <a: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. Set a strict priority to </a:t>
            </a:r>
            <a:r>
              <a:rPr kumimoji="0" sz="3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CNPs over traffic class 6</a:t>
            </a:r>
            <a:r>
              <a: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.</a:t>
            </a:r>
            <a:endParaRPr kumimoji="0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kumimoji="0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sz="30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switch (config) # interface ethernet 1/1-1/32 traffic-class 6 dcb ets strict</a:t>
            </a:r>
            <a:endParaRPr kumimoji="0" sz="3000" b="0" i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kumimoji="0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en-US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6. Set trust mode </a:t>
            </a:r>
            <a:r>
              <a:rPr kumimoji="0" lang="en-US" sz="300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L3 (DSCP)</a:t>
            </a:r>
            <a:r>
              <a:rPr kumimoji="0" lang="en-US" sz="3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.</a:t>
            </a:r>
            <a:endParaRPr kumimoji="0" lang="en-US" sz="3000" b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kumimoji="0" lang="en-US" sz="3000" b="0" i="1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en-US" sz="3000" b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switch (config) # interface ethernet 1/1-1/32 qos trust L3</a:t>
            </a:r>
            <a:endParaRPr kumimoji="0" lang="en-US" sz="3000" b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kumimoji="0" lang="en-US" sz="3000" b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en-US" sz="3000" b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7. Enable receive</a:t>
            </a:r>
            <a:r>
              <a:rPr kumimoji="0" lang="en-US" sz="300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 PFC on priority 3</a:t>
            </a:r>
            <a:r>
              <a:rPr kumimoji="0" lang="en-US" sz="3000" b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 on all ports.</a:t>
            </a:r>
            <a:endParaRPr kumimoji="0" lang="en-US" sz="3000" b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endParaRPr kumimoji="0" lang="en-US" sz="3000" b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en-US" sz="3000" b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switch (config) # dcb priority-flow-control enable force</a:t>
            </a:r>
            <a:endParaRPr kumimoji="0" lang="en-US" sz="3000" b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en-US" sz="3000" b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switch (config) # dcb priority-flow-control priority 3 enable</a:t>
            </a:r>
            <a:endParaRPr kumimoji="0" lang="en-US" sz="3000" b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en-US" sz="3000" b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switch (config) # interface ethernet 1/1-1/32 dcb priority-flow-control mode on force</a:t>
            </a:r>
            <a:endParaRPr kumimoji="0" lang="en-US" sz="3000" b="0" u="none" strike="noStrike" cap="none" spc="0" normalizeH="0" baseline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ES 品牌视觉规范  |  ES Visual Identity Guideline"/>
          <p:cNvSpPr txBox="1"/>
          <p:nvPr/>
        </p:nvSpPr>
        <p:spPr>
          <a:xfrm>
            <a:off x="762000" y="332422"/>
            <a:ext cx="3047365" cy="101155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7100"/>
              </a:lnSpc>
              <a:spcBef>
                <a:spcPts val="1200"/>
              </a:spcBef>
              <a:defRPr sz="3400" b="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rPr lang="zh-CN" altLang="en-US" b="1"/>
              <a:t>如何实现</a:t>
            </a:r>
            <a:r>
              <a:rPr lang="en-US" b="1"/>
              <a:t>Bond</a:t>
            </a:r>
            <a:r>
              <a:rPr b="1"/>
              <a:t> </a:t>
            </a:r>
            <a:endParaRPr b="1"/>
          </a:p>
        </p:txBody>
      </p:sp>
      <p:sp>
        <p:nvSpPr>
          <p:cNvPr id="467" name="矩形"/>
          <p:cNvSpPr/>
          <p:nvPr/>
        </p:nvSpPr>
        <p:spPr>
          <a:xfrm>
            <a:off x="762000" y="1346200"/>
            <a:ext cx="22860000" cy="25400"/>
          </a:xfrm>
          <a:prstGeom prst="rect">
            <a:avLst/>
          </a:prstGeom>
          <a:solidFill>
            <a:srgbClr val="775C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pic>
        <p:nvPicPr>
          <p:cNvPr id="469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文本框 2"/>
          <p:cNvSpPr txBox="1"/>
          <p:nvPr/>
        </p:nvSpPr>
        <p:spPr>
          <a:xfrm>
            <a:off x="16911955" y="2489835"/>
            <a:ext cx="7231380" cy="57003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受限于网卡的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IB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驱动实现，无法直接使用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ovs bond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，在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linux bond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上使用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vlan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子设备，服务于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RDMA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，其他类型流量可以被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ovs datapath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直接接管。</a:t>
            </a: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Mellan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ox Connectx 4/5/6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支持三种聚合模式：</a:t>
            </a: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active-backup (mode 1)</a:t>
            </a:r>
            <a:endParaRPr kumimoji="0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balance-xor (mode 2)</a:t>
            </a:r>
            <a:endParaRPr kumimoji="0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802.3ad (LACP) (mode 4)</a:t>
            </a:r>
            <a:endParaRPr kumimoji="0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endParaRPr kumimoji="0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941165" y="8190230"/>
            <a:ext cx="7202170" cy="41732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从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Mellan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ox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官网了解到的，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linux bond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模式无法适配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NCCL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。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NCCL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集合通信库，在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GPU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跨域节点通信前，首先会在节点上建立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GPU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之间连接拓扑</a:t>
            </a:r>
            <a:r>
              <a:rPr lang="en-US" altLang="zh-CN" b="0"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PCIE/NVLink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，计算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GPU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通信方式，会为每个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GPU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寻找最优（距离最近）的网卡。</a:t>
            </a:r>
            <a:endParaRPr kumimoji="0" lang="en-US" altLang="zh-CN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</p:txBody>
      </p:sp>
      <p:pic>
        <p:nvPicPr>
          <p:cNvPr id="13" name="图片 12" descr="RoCE-Bond.drawi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75" y="1665605"/>
            <a:ext cx="15745460" cy="1187386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ES 品牌视觉规范  |  ES Visual Identity Guideline"/>
          <p:cNvSpPr txBox="1"/>
          <p:nvPr/>
        </p:nvSpPr>
        <p:spPr>
          <a:xfrm>
            <a:off x="762000" y="332422"/>
            <a:ext cx="3539490" cy="101155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7100"/>
              </a:lnSpc>
              <a:spcBef>
                <a:spcPts val="1200"/>
              </a:spcBef>
              <a:defRPr sz="3400" b="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rPr lang="en-US" b="1"/>
              <a:t>RDMA vs TCPIP</a:t>
            </a:r>
            <a:r>
              <a:rPr b="1"/>
              <a:t> </a:t>
            </a:r>
            <a:endParaRPr b="1"/>
          </a:p>
        </p:txBody>
      </p:sp>
      <p:sp>
        <p:nvSpPr>
          <p:cNvPr id="467" name="矩形"/>
          <p:cNvSpPr/>
          <p:nvPr/>
        </p:nvSpPr>
        <p:spPr>
          <a:xfrm>
            <a:off x="762000" y="1346200"/>
            <a:ext cx="22860000" cy="25400"/>
          </a:xfrm>
          <a:prstGeom prst="rect">
            <a:avLst/>
          </a:prstGeom>
          <a:solidFill>
            <a:srgbClr val="775C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pic>
        <p:nvPicPr>
          <p:cNvPr id="469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32100" y="2007870"/>
            <a:ext cx="17066895" cy="907097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ES 品牌视觉规范  |  ES Visual Identity Guideline"/>
          <p:cNvSpPr txBox="1"/>
          <p:nvPr/>
        </p:nvSpPr>
        <p:spPr>
          <a:xfrm>
            <a:off x="762000" y="332422"/>
            <a:ext cx="3510280" cy="101155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7100"/>
              </a:lnSpc>
              <a:spcBef>
                <a:spcPts val="1200"/>
              </a:spcBef>
              <a:defRPr sz="3400" b="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rPr lang="en-US" b="1"/>
              <a:t>RDMA vs DPDK</a:t>
            </a:r>
            <a:r>
              <a:rPr b="1"/>
              <a:t> </a:t>
            </a:r>
            <a:endParaRPr b="1"/>
          </a:p>
        </p:txBody>
      </p:sp>
      <p:sp>
        <p:nvSpPr>
          <p:cNvPr id="467" name="矩形"/>
          <p:cNvSpPr/>
          <p:nvPr/>
        </p:nvSpPr>
        <p:spPr>
          <a:xfrm>
            <a:off x="762000" y="1346200"/>
            <a:ext cx="22860000" cy="25400"/>
          </a:xfrm>
          <a:prstGeom prst="rect">
            <a:avLst/>
          </a:prstGeom>
          <a:solidFill>
            <a:srgbClr val="775C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pic>
        <p:nvPicPr>
          <p:cNvPr id="469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783715" y="1991995"/>
            <a:ext cx="12564745" cy="1055433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4919960" y="2812416"/>
            <a:ext cx="8540750" cy="2132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相同点</a:t>
            </a:r>
            <a:endParaRPr kumimoji="0" lang="zh-CN" altLang="en-US" sz="320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Kernel bypass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技术，缩短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路径；</a:t>
            </a: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减少中断，降低时延，提高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CPU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利用；</a:t>
            </a: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消除内存拷贝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(ZeroCopy)</a:t>
            </a:r>
            <a:r>
              <a: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；</a:t>
            </a: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14919960" y="6385878"/>
            <a:ext cx="8306435" cy="35483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不同点</a:t>
            </a:r>
            <a:endParaRPr kumimoji="0" lang="en-US" altLang="zh-CN" sz="320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DPDK协议栈交付给应用程序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，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RDMA协议栈卸载给物理网卡；</a:t>
            </a:r>
            <a:endParaRPr kumimoji="0" lang="en-US" altLang="zh-CN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DPDK性能取决于CPU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，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RDMA性能取决于物理网卡；</a:t>
            </a:r>
            <a:endParaRPr kumimoji="0" lang="en-US" altLang="zh-CN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DPDK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独占网卡，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RDMA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不同程序可同时运行在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RNIC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上</a:t>
            </a: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ES 品牌视觉规范  |  ES Visual Identity Guideline"/>
          <p:cNvSpPr txBox="1"/>
          <p:nvPr/>
        </p:nvSpPr>
        <p:spPr>
          <a:xfrm>
            <a:off x="762000" y="332422"/>
            <a:ext cx="6174740" cy="101155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7100"/>
              </a:lnSpc>
              <a:spcBef>
                <a:spcPts val="1200"/>
              </a:spcBef>
              <a:defRPr sz="3400" b="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rPr lang="en-US" b="1"/>
              <a:t>RoCE</a:t>
            </a:r>
            <a:r>
              <a:rPr lang="zh-CN" altLang="en-US" b="1"/>
              <a:t>测试工具</a:t>
            </a:r>
            <a:r>
              <a:rPr lang="en-US" altLang="zh-CN" b="1"/>
              <a:t> - RDMA Tests</a:t>
            </a:r>
            <a:r>
              <a:rPr b="1"/>
              <a:t> </a:t>
            </a:r>
            <a:endParaRPr b="1"/>
          </a:p>
        </p:txBody>
      </p:sp>
      <p:sp>
        <p:nvSpPr>
          <p:cNvPr id="467" name="矩形"/>
          <p:cNvSpPr/>
          <p:nvPr/>
        </p:nvSpPr>
        <p:spPr>
          <a:xfrm>
            <a:off x="762000" y="1346200"/>
            <a:ext cx="22860000" cy="25400"/>
          </a:xfrm>
          <a:prstGeom prst="rect">
            <a:avLst/>
          </a:prstGeom>
          <a:solidFill>
            <a:srgbClr val="775C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pic>
        <p:nvPicPr>
          <p:cNvPr id="469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1819275" y="4689158"/>
            <a:ext cx="8128000" cy="1024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# 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ibv_rc_pingpong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 -g 3</a:t>
            </a:r>
            <a:endParaRPr kumimoji="0" lang="en-US" altLang="zh-CN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# ibv_rc_pingpong -g 3 9.9.9.11</a:t>
            </a:r>
            <a:endParaRPr kumimoji="0" lang="en-US" altLang="zh-CN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19275" y="3256598"/>
            <a:ext cx="8128000" cy="1024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# 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show_gids</a:t>
            </a: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0" marR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# mlnx_qos</a:t>
            </a:r>
            <a:endParaRPr kumimoji="0" lang="en-US" altLang="zh-CN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819275" y="6440488"/>
            <a:ext cx="8128000" cy="1024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# 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ibv_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ud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_pingpong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 -g 3</a:t>
            </a:r>
            <a:endParaRPr kumimoji="0" lang="en-US" altLang="zh-CN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# ibv_ud_pingpong -g 3 9.9.9.11</a:t>
            </a:r>
            <a:endParaRPr kumimoji="0" lang="en-US" altLang="zh-CN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1839575" y="3306445"/>
            <a:ext cx="12240260" cy="1024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# </a:t>
            </a:r>
            <a:r>
              <a: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ib_send_bw --report_gbits --duration</a:t>
            </a:r>
            <a:r>
              <a:rPr kumimoji="0" 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 </a:t>
            </a:r>
            <a:r>
              <a: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30</a:t>
            </a:r>
            <a:endParaRPr kumimoji="0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# ib_send_bw --report_gbits 9.9.9.11</a:t>
            </a:r>
            <a:endParaRPr kumimoji="0" lang="en-US" altLang="zh-CN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1839575" y="4739640"/>
            <a:ext cx="12240260" cy="1024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# </a:t>
            </a:r>
            <a:r>
              <a: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ib_send_</a:t>
            </a:r>
            <a:r>
              <a:rPr kumimoji="0" 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lat</a:t>
            </a:r>
            <a:r>
              <a: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 --duration</a:t>
            </a:r>
            <a:r>
              <a:rPr kumimoji="0" 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 </a:t>
            </a:r>
            <a:r>
              <a: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30</a:t>
            </a:r>
            <a:endParaRPr kumimoji="0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0" marR="0" indent="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# ib_send_lat 9.9.9.11</a:t>
            </a:r>
            <a:endParaRPr kumimoji="0" lang="en-US" altLang="zh-CN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11839575" y="6183630"/>
            <a:ext cx="12240260" cy="1024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# </a:t>
            </a:r>
            <a:r>
              <a: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ib_</a:t>
            </a:r>
            <a:r>
              <a:rPr kumimoji="0" 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write</a:t>
            </a:r>
            <a:r>
              <a: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_bw --report_gbits --duration</a:t>
            </a:r>
            <a:r>
              <a:rPr kumimoji="0" 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 </a:t>
            </a:r>
            <a:r>
              <a: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30</a:t>
            </a:r>
            <a:endParaRPr kumimoji="0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# ib_write_bw --report_gbits 9.9.9.11 -a</a:t>
            </a:r>
            <a:endParaRPr kumimoji="0" lang="en-US" altLang="zh-CN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11839575" y="7492365"/>
            <a:ext cx="12240260" cy="1024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# </a:t>
            </a:r>
            <a:r>
              <a: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ib_</a:t>
            </a:r>
            <a:r>
              <a:rPr kumimoji="0" 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write</a:t>
            </a:r>
            <a:r>
              <a: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_</a:t>
            </a:r>
            <a:r>
              <a:rPr kumimoji="0" 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lat</a:t>
            </a:r>
            <a:r>
              <a: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 --duration</a:t>
            </a:r>
            <a:r>
              <a:rPr kumimoji="0" 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 </a:t>
            </a:r>
            <a:r>
              <a: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30</a:t>
            </a:r>
            <a:endParaRPr kumimoji="0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# ib_write_lat 9.9.9.11</a:t>
            </a:r>
            <a:endParaRPr kumimoji="0" lang="en-US" altLang="zh-CN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11839575" y="9187180"/>
            <a:ext cx="12240260" cy="1024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# </a:t>
            </a:r>
            <a:r>
              <a: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ib_</a:t>
            </a:r>
            <a:r>
              <a:rPr kumimoji="0" 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read</a:t>
            </a:r>
            <a:r>
              <a: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_bw --report_gbits --duration</a:t>
            </a:r>
            <a:r>
              <a:rPr kumimoji="0" 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 </a:t>
            </a:r>
            <a:r>
              <a: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30</a:t>
            </a:r>
            <a:endParaRPr kumimoji="0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# ib_read_bw --report_gbits 9.9.9.11 -a</a:t>
            </a:r>
            <a:endParaRPr kumimoji="0" lang="en-US" altLang="zh-CN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11839575" y="10507345"/>
            <a:ext cx="12240260" cy="1024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# </a:t>
            </a:r>
            <a:r>
              <a: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ib_</a:t>
            </a:r>
            <a:r>
              <a:rPr kumimoji="0" 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read</a:t>
            </a:r>
            <a:r>
              <a: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_</a:t>
            </a:r>
            <a:r>
              <a:rPr kumimoji="0" 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lat</a:t>
            </a:r>
            <a:r>
              <a: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 --duration</a:t>
            </a:r>
            <a:r>
              <a:rPr kumimoji="0" 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 </a:t>
            </a:r>
            <a:r>
              <a: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30</a:t>
            </a:r>
            <a:endParaRPr kumimoji="0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# ib_read_lat 9.9.9.11</a:t>
            </a:r>
            <a:endParaRPr kumimoji="0" lang="en-US" altLang="zh-CN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839575" y="2035493"/>
            <a:ext cx="8128000" cy="6553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perftest tools</a:t>
            </a:r>
            <a:endParaRPr kumimoji="0" lang="zh-CN" altLang="en-US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</p:txBody>
      </p:sp>
      <p:sp>
        <p:nvSpPr>
          <p:cNvPr id="6" name="文本框 5"/>
          <p:cNvSpPr txBox="1"/>
          <p:nvPr>
            <p:custDataLst>
              <p:tags r:id="rId9"/>
            </p:custDataLst>
          </p:nvPr>
        </p:nvSpPr>
        <p:spPr>
          <a:xfrm>
            <a:off x="1819275" y="2061210"/>
            <a:ext cx="6650990" cy="6070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mlnx-tools and </a:t>
            </a:r>
            <a:r>
              <a:rPr lang="en-US" altLang="zh-CN" sz="3600">
                <a:latin typeface="微软雅黑" charset="0"/>
                <a:ea typeface="微软雅黑" charset="0"/>
                <a:cs typeface="微软雅黑" charset="0"/>
                <a:sym typeface="Helvetica Neue" panose="02000503000000020004"/>
              </a:rPr>
              <a:t>rdma-core </a:t>
            </a:r>
            <a:endParaRPr kumimoji="0" lang="en-US" altLang="zh-CN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Helvetica Neue" panose="02000503000000020004"/>
            </a:endParaRPr>
          </a:p>
        </p:txBody>
      </p:sp>
      <p:sp>
        <p:nvSpPr>
          <p:cNvPr id="9" name="文本框 8"/>
          <p:cNvSpPr txBox="1"/>
          <p:nvPr>
            <p:custDataLst>
              <p:tags r:id="rId10"/>
            </p:custDataLst>
          </p:nvPr>
        </p:nvSpPr>
        <p:spPr>
          <a:xfrm>
            <a:off x="1946275" y="8160068"/>
            <a:ext cx="8128000" cy="1024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# 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ibv_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uc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_pingpong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 -g 3</a:t>
            </a:r>
            <a:endParaRPr kumimoji="0" lang="en-US" altLang="zh-CN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# ibv_uc_pingpong -g 3 9.9.9.11</a:t>
            </a:r>
            <a:endParaRPr kumimoji="0" lang="en-US" altLang="zh-CN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ES 品牌视觉规范  |  ES Visual Identity Guideline"/>
          <p:cNvSpPr txBox="1"/>
          <p:nvPr/>
        </p:nvSpPr>
        <p:spPr>
          <a:xfrm>
            <a:off x="762000" y="332422"/>
            <a:ext cx="6068060" cy="101155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7100"/>
              </a:lnSpc>
              <a:spcBef>
                <a:spcPts val="1200"/>
              </a:spcBef>
              <a:defRPr sz="3400" b="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rPr lang="en-US" b="1"/>
              <a:t>RoCE</a:t>
            </a:r>
            <a:r>
              <a:rPr lang="zh-CN" altLang="en-US" b="1"/>
              <a:t>测试工具</a:t>
            </a:r>
            <a:r>
              <a:rPr lang="en-US" altLang="zh-CN" b="1"/>
              <a:t> - NCCL Tests</a:t>
            </a:r>
            <a:r>
              <a:rPr b="1"/>
              <a:t> </a:t>
            </a:r>
            <a:endParaRPr b="1"/>
          </a:p>
        </p:txBody>
      </p:sp>
      <p:sp>
        <p:nvSpPr>
          <p:cNvPr id="467" name="矩形"/>
          <p:cNvSpPr/>
          <p:nvPr/>
        </p:nvSpPr>
        <p:spPr>
          <a:xfrm>
            <a:off x="762000" y="1346200"/>
            <a:ext cx="22860000" cy="25400"/>
          </a:xfrm>
          <a:prstGeom prst="rect">
            <a:avLst/>
          </a:prstGeom>
          <a:solidFill>
            <a:srgbClr val="775C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pic>
        <p:nvPicPr>
          <p:cNvPr id="469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" name="文本框 14"/>
          <p:cNvSpPr txBox="1"/>
          <p:nvPr/>
        </p:nvSpPr>
        <p:spPr>
          <a:xfrm>
            <a:off x="5106035" y="3171825"/>
            <a:ext cx="15612110" cy="16173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## a node 8GPU PICE/NVLink</a:t>
            </a:r>
            <a:endParaRPr kumimoji="0" lang="zh-CN" altLang="en-US" sz="300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# 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all_reduce_perf -b 1M -e 2</a:t>
            </a:r>
            <a:r>
              <a:rPr kumimoji="0" lang="en-US" altLang="zh-CN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G</a:t>
            </a:r>
            <a:r>
              <a:rPr kumimoji="0" lang="zh-CN" altLang="en-US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 -f 2 -g 8</a:t>
            </a: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106035" y="4921568"/>
            <a:ext cx="16619220" cy="42564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fromWordArt="0" anchor="ctr" anchorCtr="0" forceAA="0" upright="0" compatLnSpc="1">
            <a:spAutoFit/>
          </a:bodyPr>
          <a:p>
            <a:pPr lvl="0" algn="l"/>
            <a:r>
              <a:rPr lang="en-US" altLang="zh-CN">
                <a:latin typeface="微软雅黑" charset="0"/>
                <a:ea typeface="微软雅黑" charset="0"/>
                <a:sym typeface="Helvetica Neue" panose="02000503000000020004"/>
              </a:rPr>
              <a:t>## 3 nodes 8GPU 8RNIC</a:t>
            </a:r>
            <a:endParaRPr lang="zh-CN" altLang="en-US" b="0">
              <a:latin typeface="微软雅黑" charset="0"/>
              <a:ea typeface="微软雅黑" charset="0"/>
              <a:sym typeface="Helvetica Neue" panose="02000503000000020004"/>
            </a:endParaRPr>
          </a:p>
          <a:p>
            <a:pPr lvl="0" algn="l"/>
            <a:r>
              <a:rPr lang="en-US" altLang="zh-CN" b="0">
                <a:latin typeface="微软雅黑" charset="0"/>
                <a:ea typeface="微软雅黑" charset="0"/>
                <a:sym typeface="Helvetica Neue" panose="02000503000000020004"/>
              </a:rPr>
              <a:t># </a:t>
            </a:r>
            <a:r>
              <a:rPr lang="zh-CN" altLang="en-US" b="0">
                <a:latin typeface="微软雅黑" charset="0"/>
                <a:ea typeface="微软雅黑" charset="0"/>
                <a:sym typeface="Helvetica Neue" panose="02000503000000020004"/>
              </a:rPr>
              <a:t>mpirun -x NCCL_IB_HCA=mlx5 </a:t>
            </a:r>
            <a:r>
              <a:rPr lang="en-US" altLang="zh-CN" b="0">
                <a:latin typeface="微软雅黑" charset="0"/>
                <a:ea typeface="微软雅黑" charset="0"/>
                <a:sym typeface="Helvetica Neue" panose="02000503000000020004"/>
              </a:rPr>
              <a:t> \</a:t>
            </a:r>
            <a:endParaRPr lang="zh-CN" altLang="en-US" b="0">
              <a:latin typeface="微软雅黑" charset="0"/>
              <a:ea typeface="微软雅黑" charset="0"/>
              <a:sym typeface="Helvetica Neue" panose="02000503000000020004"/>
            </a:endParaRPr>
          </a:p>
          <a:p>
            <a:pPr lvl="0" indent="457200" algn="l"/>
            <a:r>
              <a:rPr lang="zh-CN" altLang="en-US" b="0">
                <a:latin typeface="微软雅黑" charset="0"/>
                <a:ea typeface="微软雅黑" charset="0"/>
                <a:sym typeface="Helvetica Neue" panose="02000503000000020004"/>
              </a:rPr>
              <a:t>-x NCCL_SOCKET_IFNAME=eth</a:t>
            </a:r>
            <a:r>
              <a:rPr lang="en-US" altLang="zh-CN" b="0">
                <a:latin typeface="微软雅黑" charset="0"/>
                <a:ea typeface="微软雅黑" charset="0"/>
                <a:sym typeface="Helvetica Neue" panose="02000503000000020004"/>
              </a:rPr>
              <a:t>0</a:t>
            </a:r>
            <a:r>
              <a:rPr lang="zh-CN" altLang="en-US" b="0">
                <a:latin typeface="微软雅黑" charset="0"/>
                <a:ea typeface="微软雅黑" charset="0"/>
                <a:sym typeface="Helvetica Neue" panose="02000503000000020004"/>
              </a:rPr>
              <a:t> </a:t>
            </a:r>
            <a:r>
              <a:rPr lang="en-US" altLang="zh-CN" b="0">
                <a:latin typeface="微软雅黑" charset="0"/>
                <a:ea typeface="微软雅黑" charset="0"/>
                <a:sym typeface="Helvetica Neue" panose="02000503000000020004"/>
              </a:rPr>
              <a:t>\</a:t>
            </a:r>
            <a:endParaRPr lang="en-US" altLang="zh-CN" b="0">
              <a:latin typeface="微软雅黑" charset="0"/>
              <a:ea typeface="微软雅黑" charset="0"/>
              <a:sym typeface="Helvetica Neue" panose="02000503000000020004"/>
            </a:endParaRPr>
          </a:p>
          <a:p>
            <a:pPr lvl="0" indent="457200" algn="l"/>
            <a:r>
              <a:rPr lang="zh-CN" altLang="en-US" b="0">
                <a:latin typeface="微软雅黑" charset="0"/>
                <a:ea typeface="微软雅黑" charset="0"/>
                <a:sym typeface="Helvetica Neue" panose="02000503000000020004"/>
              </a:rPr>
              <a:t>-x NCCL_IB_GID_INDEX=3 </a:t>
            </a:r>
            <a:r>
              <a:rPr lang="en-US" altLang="zh-CN" b="0">
                <a:latin typeface="微软雅黑" charset="0"/>
                <a:ea typeface="微软雅黑" charset="0"/>
                <a:sym typeface="Helvetica Neue" panose="02000503000000020004"/>
              </a:rPr>
              <a:t>\</a:t>
            </a:r>
            <a:endParaRPr lang="zh-CN" altLang="en-US" b="0">
              <a:latin typeface="微软雅黑" charset="0"/>
              <a:ea typeface="微软雅黑" charset="0"/>
              <a:sym typeface="Helvetica Neue" panose="02000503000000020004"/>
            </a:endParaRPr>
          </a:p>
          <a:p>
            <a:pPr lvl="0" indent="457200" algn="l"/>
            <a:r>
              <a:rPr lang="zh-CN" altLang="en-US" b="0">
                <a:latin typeface="微软雅黑" charset="0"/>
                <a:ea typeface="微软雅黑" charset="0"/>
                <a:sym typeface="Helvetica Neue" panose="02000503000000020004"/>
              </a:rPr>
              <a:t>-x NCCL_IB_TIMEOUT=23 </a:t>
            </a:r>
            <a:r>
              <a:rPr lang="en-US" altLang="zh-CN" b="0">
                <a:latin typeface="微软雅黑" charset="0"/>
                <a:ea typeface="微软雅黑" charset="0"/>
                <a:sym typeface="Helvetica Neue" panose="02000503000000020004"/>
              </a:rPr>
              <a:t>\</a:t>
            </a:r>
            <a:endParaRPr lang="en-US" altLang="zh-CN" b="0">
              <a:latin typeface="微软雅黑" charset="0"/>
              <a:ea typeface="微软雅黑" charset="0"/>
              <a:sym typeface="Helvetica Neue" panose="02000503000000020004"/>
            </a:endParaRPr>
          </a:p>
          <a:p>
            <a:pPr lvl="0" indent="457200" algn="l"/>
            <a:r>
              <a:rPr lang="en-US" altLang="zh-CN" b="0">
                <a:latin typeface="微软雅黑" charset="0"/>
                <a:ea typeface="微软雅黑" charset="0"/>
                <a:sym typeface="Helvetica Neue" panose="02000503000000020004"/>
              </a:rPr>
              <a:t>-x </a:t>
            </a:r>
            <a:r>
              <a:rPr lang="zh-CN" altLang="en-US" b="0">
                <a:latin typeface="微软雅黑" charset="0"/>
                <a:ea typeface="微软雅黑" charset="0"/>
                <a:sym typeface="Helvetica Neue" panose="02000503000000020004"/>
              </a:rPr>
              <a:t>NCCL_IB_RETRY_CNT=7 </a:t>
            </a:r>
            <a:r>
              <a:rPr lang="en-US" altLang="zh-CN" b="0">
                <a:latin typeface="微软雅黑" charset="0"/>
                <a:ea typeface="微软雅黑" charset="0"/>
                <a:sym typeface="Helvetica Neue" panose="02000503000000020004"/>
              </a:rPr>
              <a:t>\</a:t>
            </a:r>
            <a:endParaRPr lang="en-US" altLang="zh-CN" b="0">
              <a:latin typeface="微软雅黑" charset="0"/>
              <a:ea typeface="微软雅黑" charset="0"/>
              <a:sym typeface="Helvetica Neue" panose="02000503000000020004"/>
            </a:endParaRPr>
          </a:p>
          <a:p>
            <a:pPr lvl="0" indent="457200" algn="l"/>
            <a:r>
              <a:rPr lang="en-US" altLang="zh-CN" b="0">
                <a:latin typeface="微软雅黑" charset="0"/>
                <a:ea typeface="微软雅黑" charset="0"/>
                <a:sym typeface="Helvetica Neue" panose="02000503000000020004"/>
              </a:rPr>
              <a:t>-x NCCL_ALGO=RING \</a:t>
            </a:r>
            <a:endParaRPr lang="en-US" altLang="zh-CN" b="0">
              <a:latin typeface="微软雅黑" charset="0"/>
              <a:ea typeface="微软雅黑" charset="0"/>
              <a:sym typeface="Helvetica Neue" panose="02000503000000020004"/>
            </a:endParaRPr>
          </a:p>
          <a:p>
            <a:pPr lvl="0" indent="457200" algn="l"/>
            <a:r>
              <a:rPr lang="zh-CN" altLang="en-US" b="0">
                <a:latin typeface="微软雅黑" charset="0"/>
                <a:ea typeface="微软雅黑" charset="0"/>
                <a:sym typeface="Helvetica Neue" panose="02000503000000020004"/>
              </a:rPr>
              <a:t>--mca btl tcp,self</a:t>
            </a:r>
            <a:r>
              <a:rPr lang="en-US" altLang="zh-CN" b="0">
                <a:latin typeface="微软雅黑" charset="0"/>
                <a:ea typeface="微软雅黑" charset="0"/>
                <a:sym typeface="Helvetica Neue" panose="02000503000000020004"/>
              </a:rPr>
              <a:t> </a:t>
            </a:r>
            <a:r>
              <a:rPr lang="zh-CN" altLang="en-US" b="0">
                <a:latin typeface="微软雅黑" charset="0"/>
                <a:ea typeface="微软雅黑" charset="0"/>
                <a:sym typeface="Helvetica Neue" panose="02000503000000020004"/>
              </a:rPr>
              <a:t>-host </a:t>
            </a:r>
            <a:r>
              <a:rPr lang="en-US" altLang="zh-CN" b="0">
                <a:latin typeface="微软雅黑" charset="0"/>
                <a:ea typeface="微软雅黑" charset="0"/>
                <a:sym typeface="Helvetica Neue" panose="02000503000000020004"/>
              </a:rPr>
              <a:t>n</a:t>
            </a:r>
            <a:r>
              <a:rPr lang="en-US" altLang="zh-CN" b="0">
                <a:latin typeface="微软雅黑" charset="0"/>
                <a:ea typeface="微软雅黑" charset="0"/>
                <a:sym typeface="Helvetica Neue" panose="02000503000000020004"/>
              </a:rPr>
              <a:t>ode-1,node-2,node3</a:t>
            </a:r>
            <a:r>
              <a:rPr lang="zh-CN" altLang="en-US" b="0">
                <a:latin typeface="微软雅黑" charset="0"/>
                <a:ea typeface="微软雅黑" charset="0"/>
                <a:sym typeface="Helvetica Neue" panose="02000503000000020004"/>
              </a:rPr>
              <a:t> </a:t>
            </a:r>
            <a:r>
              <a:rPr lang="en-US" altLang="zh-CN" b="0">
                <a:latin typeface="微软雅黑" charset="0"/>
                <a:ea typeface="微软雅黑" charset="0"/>
                <a:sym typeface="Helvetica Neue" panose="02000503000000020004"/>
              </a:rPr>
              <a:t>\</a:t>
            </a:r>
            <a:endParaRPr lang="en-US" altLang="zh-CN" b="0">
              <a:latin typeface="微软雅黑" charset="0"/>
              <a:ea typeface="微软雅黑" charset="0"/>
              <a:sym typeface="Helvetica Neue" panose="02000503000000020004"/>
            </a:endParaRPr>
          </a:p>
          <a:p>
            <a:pPr lvl="0" indent="457200" algn="l"/>
            <a:r>
              <a:rPr lang="zh-CN" altLang="en-US" b="0">
                <a:latin typeface="微软雅黑" charset="0"/>
                <a:ea typeface="微软雅黑" charset="0"/>
                <a:sym typeface="Helvetica Neue" panose="02000503000000020004"/>
              </a:rPr>
              <a:t>all_reduce_perf -b </a:t>
            </a:r>
            <a:r>
              <a:rPr lang="en-US" altLang="zh-CN" b="0">
                <a:latin typeface="微软雅黑" charset="0"/>
                <a:ea typeface="微软雅黑" charset="0"/>
                <a:sym typeface="Helvetica Neue" panose="02000503000000020004"/>
              </a:rPr>
              <a:t>1</a:t>
            </a:r>
            <a:r>
              <a:rPr lang="en-US" altLang="zh-CN" b="0">
                <a:latin typeface="微软雅黑" charset="0"/>
                <a:ea typeface="微软雅黑" charset="0"/>
                <a:sym typeface="Helvetica Neue" panose="02000503000000020004"/>
              </a:rPr>
              <a:t>M</a:t>
            </a:r>
            <a:r>
              <a:rPr lang="zh-CN" altLang="en-US" b="0">
                <a:latin typeface="微软雅黑" charset="0"/>
                <a:ea typeface="微软雅黑" charset="0"/>
                <a:sym typeface="Helvetica Neue" panose="02000503000000020004"/>
              </a:rPr>
              <a:t> -e </a:t>
            </a:r>
            <a:r>
              <a:rPr lang="en-US" altLang="zh-CN" b="0">
                <a:latin typeface="微软雅黑" charset="0"/>
                <a:ea typeface="微软雅黑" charset="0"/>
                <a:sym typeface="Helvetica Neue" panose="02000503000000020004"/>
              </a:rPr>
              <a:t>2</a:t>
            </a:r>
            <a:r>
              <a:rPr lang="zh-CN" altLang="en-US" b="0">
                <a:latin typeface="微软雅黑" charset="0"/>
                <a:ea typeface="微软雅黑" charset="0"/>
                <a:sym typeface="Helvetica Neue" panose="02000503000000020004"/>
              </a:rPr>
              <a:t>G -f 2 -g </a:t>
            </a:r>
            <a:r>
              <a:rPr lang="en-US" altLang="zh-CN" b="0">
                <a:latin typeface="微软雅黑" charset="0"/>
                <a:ea typeface="微软雅黑" charset="0"/>
                <a:sym typeface="Helvetica Neue" panose="02000503000000020004"/>
              </a:rPr>
              <a:t>8</a:t>
            </a:r>
            <a:endParaRPr lang="zh-CN" altLang="en-US" b="0">
              <a:latin typeface="微软雅黑" charset="0"/>
              <a:ea typeface="微软雅黑" charset="0"/>
              <a:sym typeface="Helvetica Neue" panose="02000503000000020004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106035" y="1964373"/>
            <a:ext cx="8128000" cy="6553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nccl-test</a:t>
            </a:r>
            <a:endParaRPr kumimoji="0" lang="en-US" altLang="zh-CN" sz="3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ES 品牌视觉规范  |  ES Visual Identity Guideline"/>
          <p:cNvSpPr txBox="1"/>
          <p:nvPr/>
        </p:nvSpPr>
        <p:spPr>
          <a:xfrm>
            <a:off x="762000" y="332422"/>
            <a:ext cx="1474470" cy="101155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457200">
              <a:lnSpc>
                <a:spcPts val="7100"/>
              </a:lnSpc>
              <a:spcBef>
                <a:spcPts val="1200"/>
              </a:spcBef>
              <a:defRPr sz="3400" b="0">
                <a:solidFill>
                  <a:srgbClr val="424242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pPr algn="l"/>
            <a:r>
              <a:rPr lang="en-US" b="1"/>
              <a:t>Demo</a:t>
            </a:r>
            <a:r>
              <a:rPr b="1"/>
              <a:t> </a:t>
            </a:r>
            <a:endParaRPr b="1"/>
          </a:p>
        </p:txBody>
      </p:sp>
      <p:sp>
        <p:nvSpPr>
          <p:cNvPr id="467" name="矩形"/>
          <p:cNvSpPr/>
          <p:nvPr/>
        </p:nvSpPr>
        <p:spPr>
          <a:xfrm>
            <a:off x="762000" y="1346200"/>
            <a:ext cx="22860000" cy="25400"/>
          </a:xfrm>
          <a:prstGeom prst="rect">
            <a:avLst/>
          </a:prstGeom>
          <a:solidFill>
            <a:srgbClr val="775CDE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3000"/>
          </a:p>
        </p:txBody>
      </p:sp>
      <p:pic>
        <p:nvPicPr>
          <p:cNvPr id="469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7947" y="12363432"/>
            <a:ext cx="3086184" cy="9411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8128000" y="4296410"/>
            <a:ext cx="8128000" cy="94107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0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charset="0"/>
                <a:ea typeface="微软雅黑" charset="0"/>
                <a:cs typeface="Helvetica Neue" panose="02000503000000020004"/>
                <a:sym typeface="Helvetica Neue" panose="02000503000000020004"/>
              </a:rPr>
              <a:t>Demo</a:t>
            </a:r>
            <a:endParaRPr kumimoji="0" lang="en-US" altLang="zh-CN" sz="400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charset="0"/>
              <a:ea typeface="微软雅黑" charset="0"/>
              <a:cs typeface="Helvetica Neue" panose="02000503000000020004"/>
              <a:sym typeface="Helvetica Neue" panose="02000503000000020004"/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9" name="连按此项以编辑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760" name="矩形"/>
          <p:cNvSpPr/>
          <p:nvPr/>
        </p:nvSpPr>
        <p:spPr>
          <a:xfrm>
            <a:off x="0" y="0"/>
            <a:ext cx="24384000" cy="11179969"/>
          </a:xfrm>
          <a:prstGeom prst="rect">
            <a:avLst/>
          </a:prstGeom>
          <a:gradFill>
            <a:gsLst>
              <a:gs pos="1408">
                <a:srgbClr val="69A7C8"/>
              </a:gs>
              <a:gs pos="100000">
                <a:srgbClr val="5A2EC3"/>
              </a:gs>
            </a:gsLst>
          </a:gra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>
                    <a:alpha val="63813"/>
                  </a:srgbClr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</a:p>
        </p:txBody>
      </p:sp>
      <p:pic>
        <p:nvPicPr>
          <p:cNvPr id="4761" name="图像" descr="图像"/>
          <p:cNvPicPr>
            <a:picLocks noChangeAspect="1"/>
          </p:cNvPicPr>
          <p:nvPr/>
        </p:nvPicPr>
        <p:blipFill>
          <a:blip r:embed="rId1">
            <a:alphaModFix amt="10000"/>
          </a:blip>
          <a:srcRect l="4977" t="5000" r="1925" b="19116"/>
          <a:stretch>
            <a:fillRect/>
          </a:stretch>
        </p:blipFill>
        <p:spPr>
          <a:xfrm>
            <a:off x="0" y="-7011"/>
            <a:ext cx="24384000" cy="1117983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762" name="Shape 120"/>
          <p:cNvSpPr txBox="1"/>
          <p:nvPr/>
        </p:nvSpPr>
        <p:spPr>
          <a:xfrm>
            <a:off x="945515" y="3327399"/>
            <a:ext cx="11194554" cy="23876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>
              <a:defRPr sz="15000" b="0">
                <a:solidFill>
                  <a:srgbClr val="FFFFFF"/>
                </a:solidFill>
                <a:latin typeface="微软雅黑" panose="020B0503020204020204"/>
                <a:ea typeface="微软雅黑" panose="020B0503020204020204"/>
                <a:cs typeface="微软雅黑" panose="020B0503020204020204"/>
                <a:sym typeface="微软雅黑" panose="020B0503020204020204"/>
              </a:defRPr>
            </a:lvl1pPr>
          </a:lstStyle>
          <a:p>
            <a:r>
              <a:t>THANK YOU</a:t>
            </a:r>
          </a:p>
        </p:txBody>
      </p:sp>
      <p:sp>
        <p:nvSpPr>
          <p:cNvPr id="4763" name="EASYSTACK CONFIDENTIAL"/>
          <p:cNvSpPr txBox="1"/>
          <p:nvPr/>
        </p:nvSpPr>
        <p:spPr>
          <a:xfrm>
            <a:off x="10071348" y="12702449"/>
            <a:ext cx="4241304" cy="4699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2400" b="0">
                <a:solidFill>
                  <a:srgbClr val="424242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EASYSTACK CONFIDENTIAL</a:t>
            </a:r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TABLE_ENDDRAG_ORIGIN_RECT" val="1594*448"/>
  <p:tag name="TABLE_ENDDRAG_RECT" val="220*258*1594*448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 panose="02000503000000020004"/>
            <a:ea typeface="Helvetica Neue" panose="02000503000000020004"/>
            <a:cs typeface="Helvetica Neue" panose="02000503000000020004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 panose="02000503000000020004"/>
            <a:ea typeface="Helvetica Neue" panose="02000503000000020004"/>
            <a:cs typeface="Helvetica Neue" panose="02000503000000020004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 panose="02000503000000020004"/>
            <a:ea typeface="Helvetica Neue" panose="02000503000000020004"/>
            <a:cs typeface="Helvetica Neue" panose="02000503000000020004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7582</Words>
  <Application>WPS 文字</Application>
  <PresentationFormat>Custom</PresentationFormat>
  <Paragraphs>379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44" baseType="lpstr">
      <vt:lpstr>Arial</vt:lpstr>
      <vt:lpstr>宋体</vt:lpstr>
      <vt:lpstr>Wingdings</vt:lpstr>
      <vt:lpstr>Helvetica Neue</vt:lpstr>
      <vt:lpstr>Helvetica Neue Medium</vt:lpstr>
      <vt:lpstr>Helvetica</vt:lpstr>
      <vt:lpstr>Helvetica Neue Light</vt:lpstr>
      <vt:lpstr>微软雅黑</vt:lpstr>
      <vt:lpstr>汉仪旗黑</vt:lpstr>
      <vt:lpstr>微软雅黑</vt:lpstr>
      <vt:lpstr>微软雅黑</vt:lpstr>
      <vt:lpstr>宋体</vt:lpstr>
      <vt:lpstr>汉仪书宋二KW</vt:lpstr>
      <vt:lpstr>Helvetica Neue</vt:lpstr>
      <vt:lpstr>Arial Unicode MS</vt:lpstr>
      <vt:lpstr>Helvetica</vt:lpstr>
      <vt:lpstr>Helvetica Neue Medium</vt:lpstr>
      <vt:lpstr>Apple Braille Outline 6 Dot</vt:lpstr>
      <vt:lpstr>Arial Regular</vt:lpstr>
      <vt:lpstr>Helvetica Neue Light</vt:lpstr>
      <vt:lpstr>KufiStandardGK</vt:lpstr>
      <vt:lpstr>White</vt:lpstr>
      <vt:lpstr>2_White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Zhihui Ding</cp:lastModifiedBy>
  <cp:revision>1355</cp:revision>
  <dcterms:created xsi:type="dcterms:W3CDTF">2024-04-18T10:54:22Z</dcterms:created>
  <dcterms:modified xsi:type="dcterms:W3CDTF">2024-04-18T10:54:22Z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2052-6.5.0.8619</vt:lpwstr>
  </property>
  <property fmtid="{D5CDD505-2E9C-101B-9397-08002B2CF9AE}" pid="3" name="ICV">
    <vt:lpwstr>5EDFA0609379A52CF9812066B06983A2_43</vt:lpwstr>
  </property>
</Properties>
</file>