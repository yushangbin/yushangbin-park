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17"/>
  </p:handoutMasterIdLst>
  <p:sldIdLst>
    <p:sldId id="256" r:id="rId4"/>
    <p:sldId id="7705785" r:id="rId6"/>
    <p:sldId id="7705871" r:id="rId7"/>
    <p:sldId id="7705872" r:id="rId8"/>
    <p:sldId id="7705873" r:id="rId9"/>
    <p:sldId id="7705874" r:id="rId10"/>
    <p:sldId id="7705875" r:id="rId11"/>
    <p:sldId id="7705876" r:id="rId12"/>
    <p:sldId id="7705877" r:id="rId13"/>
    <p:sldId id="7705878" r:id="rId14"/>
    <p:sldId id="7705879" r:id="rId15"/>
    <p:sldId id="366" r:id="rId16"/>
  </p:sldIdLst>
  <p:sldSz cx="24384000" cy="13716000"/>
  <p:notesSz cx="6858000" cy="9144000"/>
  <p:embeddedFontLst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E38CD"/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30"/>
    <p:restoredTop sz="84091"/>
  </p:normalViewPr>
  <p:slideViewPr>
    <p:cSldViewPr snapToGrid="0" snapToObjects="1">
      <p:cViewPr varScale="1">
        <p:scale>
          <a:sx n="52" d="100"/>
          <a:sy n="52" d="100"/>
        </p:scale>
        <p:origin x="108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56" name="Shape 15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1pPr>
    <a:lvl2pPr indent="2286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2pPr>
    <a:lvl3pPr indent="4572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3pPr>
    <a:lvl4pPr indent="6858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4pPr>
    <a:lvl5pPr indent="9144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5pPr>
    <a:lvl6pPr indent="11430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6pPr>
    <a:lvl7pPr indent="13716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7pPr>
    <a:lvl8pPr indent="16002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8pPr>
    <a:lvl9pPr indent="18288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"/>
          <p:cNvSpPr/>
          <p:nvPr/>
        </p:nvSpPr>
        <p:spPr>
          <a:xfrm>
            <a:off x="0" y="0"/>
            <a:ext cx="24384000" cy="11179969"/>
          </a:xfrm>
          <a:prstGeom prst="rect">
            <a:avLst/>
          </a:prstGeom>
          <a:gradFill>
            <a:gsLst>
              <a:gs pos="1408">
                <a:srgbClr val="69A7C8"/>
              </a:gs>
              <a:gs pos="100000">
                <a:srgbClr val="5A2EC3"/>
              </a:gs>
            </a:gsLst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>
                    <a:alpha val="63813"/>
                  </a:srgbClr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</a:p>
        </p:txBody>
      </p:sp>
      <p:pic>
        <p:nvPicPr>
          <p:cNvPr id="19" name="图像" descr="图像"/>
          <p:cNvPicPr>
            <a:picLocks noChangeAspect="1"/>
          </p:cNvPicPr>
          <p:nvPr/>
        </p:nvPicPr>
        <p:blipFill>
          <a:blip r:embed="rId2">
            <a:alphaModFix amt="10000"/>
          </a:blip>
          <a:srcRect l="4977" t="5000" r="1925" b="19116"/>
          <a:stretch>
            <a:fillRect/>
          </a:stretch>
        </p:blipFill>
        <p:spPr>
          <a:xfrm>
            <a:off x="0" y="-7011"/>
            <a:ext cx="24384000" cy="1117983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" name="EASYSTACK CONFIDENTIAL"/>
          <p:cNvSpPr txBox="1"/>
          <p:nvPr/>
        </p:nvSpPr>
        <p:spPr>
          <a:xfrm>
            <a:off x="10071348" y="12702449"/>
            <a:ext cx="4241304" cy="469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2400" b="0">
                <a:solidFill>
                  <a:srgbClr val="424242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EASYSTACK CONFIDENTIAL</a:t>
            </a:r>
          </a:p>
        </p:txBody>
      </p:sp>
      <p:sp>
        <p:nvSpPr>
          <p:cNvPr id="21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422400" y="2772833"/>
            <a:ext cx="20828000" cy="4648201"/>
          </a:xfrm>
          <a:prstGeom prst="rect">
            <a:avLst/>
          </a:prstGeom>
        </p:spPr>
        <p:txBody>
          <a:bodyPr anchor="t"/>
          <a:lstStyle>
            <a:lvl1pPr algn="l">
              <a:defRPr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标题文本</a:t>
            </a:r>
          </a:p>
        </p:txBody>
      </p:sp>
      <p:pic>
        <p:nvPicPr>
          <p:cNvPr id="22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480" y="11982432"/>
            <a:ext cx="3086184" cy="9411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标题 - 居中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线条"/>
          <p:cNvSpPr/>
          <p:nvPr/>
        </p:nvSpPr>
        <p:spPr>
          <a:xfrm>
            <a:off x="3445933" y="2904066"/>
            <a:ext cx="9511047" cy="1"/>
          </a:xfrm>
          <a:prstGeom prst="line">
            <a:avLst/>
          </a:prstGeom>
          <a:ln w="25400">
            <a:solidFill>
              <a:srgbClr val="775CDE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</a:p>
        </p:txBody>
      </p:sp>
      <p:sp>
        <p:nvSpPr>
          <p:cNvPr id="38" name="线条"/>
          <p:cNvSpPr/>
          <p:nvPr/>
        </p:nvSpPr>
        <p:spPr>
          <a:xfrm flipH="1">
            <a:off x="5596466" y="1465698"/>
            <a:ext cx="1" cy="2506574"/>
          </a:xfrm>
          <a:prstGeom prst="line">
            <a:avLst/>
          </a:prstGeom>
          <a:ln w="25400">
            <a:solidFill>
              <a:srgbClr val="775CDE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</a:p>
        </p:txBody>
      </p:sp>
      <p:sp>
        <p:nvSpPr>
          <p:cNvPr id="39" name="线条"/>
          <p:cNvSpPr/>
          <p:nvPr/>
        </p:nvSpPr>
        <p:spPr>
          <a:xfrm>
            <a:off x="12302066" y="10772868"/>
            <a:ext cx="9511048" cy="1"/>
          </a:xfrm>
          <a:prstGeom prst="line">
            <a:avLst/>
          </a:prstGeom>
          <a:ln w="25400">
            <a:solidFill>
              <a:srgbClr val="775CDE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</a:p>
        </p:txBody>
      </p:sp>
      <p:sp>
        <p:nvSpPr>
          <p:cNvPr id="40" name="线条"/>
          <p:cNvSpPr/>
          <p:nvPr/>
        </p:nvSpPr>
        <p:spPr>
          <a:xfrm>
            <a:off x="19701934" y="9334499"/>
            <a:ext cx="1" cy="2506574"/>
          </a:xfrm>
          <a:prstGeom prst="line">
            <a:avLst/>
          </a:prstGeom>
          <a:ln w="25400">
            <a:solidFill>
              <a:srgbClr val="775CDE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</a:p>
        </p:txBody>
      </p:sp>
      <p:sp>
        <p:nvSpPr>
          <p:cNvPr id="41" name="EASYSTACK CONFIDENTIAL"/>
          <p:cNvSpPr txBox="1"/>
          <p:nvPr/>
        </p:nvSpPr>
        <p:spPr>
          <a:xfrm>
            <a:off x="10071348" y="12702449"/>
            <a:ext cx="4241304" cy="469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2400" b="0">
                <a:solidFill>
                  <a:srgbClr val="424242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EASYSTACK CONFIDENTIAL</a:t>
            </a:r>
          </a:p>
        </p:txBody>
      </p:sp>
      <p:sp>
        <p:nvSpPr>
          <p:cNvPr id="42" name="线条"/>
          <p:cNvSpPr/>
          <p:nvPr/>
        </p:nvSpPr>
        <p:spPr>
          <a:xfrm>
            <a:off x="9802010" y="6062133"/>
            <a:ext cx="4779980" cy="1"/>
          </a:xfrm>
          <a:prstGeom prst="line">
            <a:avLst/>
          </a:prstGeom>
          <a:ln w="25400">
            <a:solidFill>
              <a:srgbClr val="A9A9A9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</a:p>
        </p:txBody>
      </p:sp>
      <p:sp>
        <p:nvSpPr>
          <p:cNvPr id="43" name="线条"/>
          <p:cNvSpPr/>
          <p:nvPr/>
        </p:nvSpPr>
        <p:spPr>
          <a:xfrm>
            <a:off x="9802010" y="7162800"/>
            <a:ext cx="4779980" cy="0"/>
          </a:xfrm>
          <a:prstGeom prst="line">
            <a:avLst/>
          </a:prstGeom>
          <a:ln w="25400">
            <a:solidFill>
              <a:srgbClr val="A9A9A9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</a:p>
        </p:txBody>
      </p:sp>
      <p:sp>
        <p:nvSpPr>
          <p:cNvPr id="44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778000" y="6104130"/>
            <a:ext cx="20828000" cy="1016673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424242"/>
                </a:solidFill>
                <a:latin typeface="微软雅黑" panose="020B0503020204020204"/>
                <a:ea typeface="微软雅黑" panose="020B0503020204020204"/>
                <a:cs typeface="微软雅黑" panose="020B0503020204020204"/>
                <a:sym typeface="微软雅黑" panose="020B0503020204020204"/>
              </a:defRPr>
            </a:lvl1pPr>
          </a:lstStyle>
          <a:p>
            <a:r>
              <a:t>标题文本</a:t>
            </a:r>
          </a:p>
        </p:txBody>
      </p:sp>
      <p:pic>
        <p:nvPicPr>
          <p:cNvPr id="45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7947" y="12363432"/>
            <a:ext cx="3086184" cy="9411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左边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"/>
          <p:cNvSpPr/>
          <p:nvPr/>
        </p:nvSpPr>
        <p:spPr>
          <a:xfrm>
            <a:off x="0" y="0"/>
            <a:ext cx="377362" cy="13716000"/>
          </a:xfrm>
          <a:prstGeom prst="rect">
            <a:avLst/>
          </a:prstGeom>
          <a:solidFill>
            <a:srgbClr val="775CD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</a:p>
        </p:txBody>
      </p:sp>
      <p:sp>
        <p:nvSpPr>
          <p:cNvPr id="54" name="EASYSTACK CONFIDENTIAL"/>
          <p:cNvSpPr txBox="1"/>
          <p:nvPr/>
        </p:nvSpPr>
        <p:spPr>
          <a:xfrm>
            <a:off x="10071348" y="12702449"/>
            <a:ext cx="4241304" cy="469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2400" b="0">
                <a:solidFill>
                  <a:srgbClr val="424242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EASYSTACK CONFIDENTIAL</a:t>
            </a:r>
          </a:p>
        </p:txBody>
      </p:sp>
      <p:sp>
        <p:nvSpPr>
          <p:cNvPr id="55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016000" y="512233"/>
            <a:ext cx="21005800" cy="741628"/>
          </a:xfrm>
          <a:prstGeom prst="rect">
            <a:avLst/>
          </a:prstGeom>
        </p:spPr>
        <p:txBody>
          <a:bodyPr anchor="t"/>
          <a:lstStyle>
            <a:lvl1pPr algn="l">
              <a:defRPr sz="3400">
                <a:solidFill>
                  <a:srgbClr val="424242"/>
                </a:solidFill>
                <a:latin typeface="微软雅黑" panose="020B0503020204020204"/>
                <a:ea typeface="微软雅黑" panose="020B0503020204020204"/>
                <a:cs typeface="微软雅黑" panose="020B0503020204020204"/>
                <a:sym typeface="微软雅黑" panose="020B0503020204020204"/>
              </a:defRPr>
            </a:lvl1pPr>
          </a:lstStyle>
          <a:p>
            <a:r>
              <a:t>标题文本</a:t>
            </a:r>
          </a:p>
        </p:txBody>
      </p:sp>
      <p:pic>
        <p:nvPicPr>
          <p:cNvPr id="56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7947" y="12363432"/>
            <a:ext cx="3086184" cy="9411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照片 - 水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图像"/>
          <p:cNvSpPr>
            <a:spLocks noGrp="1"/>
          </p:cNvSpPr>
          <p:nvPr>
            <p:ph type="pic" idx="21"/>
          </p:nvPr>
        </p:nvSpPr>
        <p:spPr>
          <a:xfrm>
            <a:off x="3123224" y="-38100"/>
            <a:ext cx="18135601" cy="1209669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84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r>
              <a:t>标题文本</a:t>
            </a:r>
          </a:p>
        </p:txBody>
      </p:sp>
      <p:sp>
        <p:nvSpPr>
          <p:cNvPr id="85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标题 - 居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9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照片 - 垂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图像"/>
          <p:cNvSpPr>
            <a:spLocks noGrp="1"/>
          </p:cNvSpPr>
          <p:nvPr>
            <p:ph type="pic" idx="21"/>
          </p:nvPr>
        </p:nvSpPr>
        <p:spPr>
          <a:xfrm>
            <a:off x="7950200" y="1104900"/>
            <a:ext cx="17259302" cy="115062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10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t>标题文本</a:t>
            </a:r>
          </a:p>
        </p:txBody>
      </p:sp>
      <p:sp>
        <p:nvSpPr>
          <p:cNvPr id="10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0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12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图像"/>
          <p:cNvSpPr>
            <a:spLocks noGrp="1"/>
          </p:cNvSpPr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121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22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图像"/>
          <p:cNvSpPr>
            <a:spLocks noGrp="1"/>
          </p:cNvSpPr>
          <p:nvPr>
            <p:ph type="pic" sz="quarter" idx="21"/>
          </p:nvPr>
        </p:nvSpPr>
        <p:spPr>
          <a:xfrm>
            <a:off x="15681340" y="7035800"/>
            <a:ext cx="8396678" cy="56007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139" name="图像"/>
          <p:cNvSpPr>
            <a:spLocks noGrp="1"/>
          </p:cNvSpPr>
          <p:nvPr>
            <p:ph type="pic" sz="quarter" idx="22"/>
          </p:nvPr>
        </p:nvSpPr>
        <p:spPr>
          <a:xfrm>
            <a:off x="15290800" y="1130300"/>
            <a:ext cx="8331200" cy="55541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140" name="图像"/>
          <p:cNvSpPr>
            <a:spLocks noGrp="1"/>
          </p:cNvSpPr>
          <p:nvPr>
            <p:ph type="pic" idx="23"/>
          </p:nvPr>
        </p:nvSpPr>
        <p:spPr>
          <a:xfrm>
            <a:off x="-3048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14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图像"/>
          <p:cNvSpPr>
            <a:spLocks noGrp="1"/>
          </p:cNvSpPr>
          <p:nvPr>
            <p:ph type="pic" idx="21"/>
          </p:nvPr>
        </p:nvSpPr>
        <p:spPr>
          <a:xfrm>
            <a:off x="0" y="0"/>
            <a:ext cx="24384000" cy="1626446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14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"/>
          <p:cNvSpPr/>
          <p:nvPr/>
        </p:nvSpPr>
        <p:spPr>
          <a:xfrm>
            <a:off x="0" y="0"/>
            <a:ext cx="24384000" cy="11179969"/>
          </a:xfrm>
          <a:prstGeom prst="rect">
            <a:avLst/>
          </a:prstGeom>
          <a:gradFill>
            <a:gsLst>
              <a:gs pos="1408">
                <a:srgbClr val="69A7C8"/>
              </a:gs>
              <a:gs pos="100000">
                <a:srgbClr val="5A2EC3"/>
              </a:gs>
            </a:gsLst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>
                    <a:alpha val="63813"/>
                  </a:srgbClr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sz="3000"/>
          </a:p>
        </p:txBody>
      </p:sp>
      <p:pic>
        <p:nvPicPr>
          <p:cNvPr id="19" name="图像" descr="图像"/>
          <p:cNvPicPr>
            <a:picLocks noChangeAspect="1"/>
          </p:cNvPicPr>
          <p:nvPr/>
        </p:nvPicPr>
        <p:blipFill>
          <a:blip r:embed="rId2">
            <a:alphaModFix amt="10000"/>
          </a:blip>
          <a:srcRect l="4977" t="5000" r="1925" b="19116"/>
          <a:stretch>
            <a:fillRect/>
          </a:stretch>
        </p:blipFill>
        <p:spPr>
          <a:xfrm>
            <a:off x="0" y="-7011"/>
            <a:ext cx="24384000" cy="1117983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" name="EASYSTACK CONFIDENTIAL"/>
          <p:cNvSpPr txBox="1"/>
          <p:nvPr/>
        </p:nvSpPr>
        <p:spPr>
          <a:xfrm>
            <a:off x="10071348" y="12702449"/>
            <a:ext cx="4241304" cy="469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2400" b="0">
                <a:solidFill>
                  <a:srgbClr val="424242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EASYSTACK CONFIDENTIAL</a:t>
            </a:r>
          </a:p>
        </p:txBody>
      </p:sp>
      <p:sp>
        <p:nvSpPr>
          <p:cNvPr id="21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422400" y="2772833"/>
            <a:ext cx="20828000" cy="4648201"/>
          </a:xfrm>
          <a:prstGeom prst="rect">
            <a:avLst/>
          </a:prstGeom>
        </p:spPr>
        <p:txBody>
          <a:bodyPr anchor="t"/>
          <a:lstStyle>
            <a:lvl1pPr algn="l">
              <a:defRPr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标题文本</a:t>
            </a:r>
          </a:p>
        </p:txBody>
      </p:sp>
      <p:pic>
        <p:nvPicPr>
          <p:cNvPr id="22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480" y="11982432"/>
            <a:ext cx="3086184" cy="9411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标题 - 居中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线条"/>
          <p:cNvSpPr/>
          <p:nvPr/>
        </p:nvSpPr>
        <p:spPr>
          <a:xfrm>
            <a:off x="3445933" y="2904066"/>
            <a:ext cx="9511047" cy="1"/>
          </a:xfrm>
          <a:prstGeom prst="line">
            <a:avLst/>
          </a:prstGeom>
          <a:ln w="25400">
            <a:solidFill>
              <a:srgbClr val="775CDE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sz="3000"/>
          </a:p>
        </p:txBody>
      </p:sp>
      <p:sp>
        <p:nvSpPr>
          <p:cNvPr id="38" name="线条"/>
          <p:cNvSpPr/>
          <p:nvPr/>
        </p:nvSpPr>
        <p:spPr>
          <a:xfrm flipH="1">
            <a:off x="5596466" y="1465698"/>
            <a:ext cx="1" cy="2506574"/>
          </a:xfrm>
          <a:prstGeom prst="line">
            <a:avLst/>
          </a:prstGeom>
          <a:ln w="25400">
            <a:solidFill>
              <a:srgbClr val="775CDE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sz="3000"/>
          </a:p>
        </p:txBody>
      </p:sp>
      <p:sp>
        <p:nvSpPr>
          <p:cNvPr id="39" name="线条"/>
          <p:cNvSpPr/>
          <p:nvPr/>
        </p:nvSpPr>
        <p:spPr>
          <a:xfrm>
            <a:off x="12302066" y="10772868"/>
            <a:ext cx="9511048" cy="1"/>
          </a:xfrm>
          <a:prstGeom prst="line">
            <a:avLst/>
          </a:prstGeom>
          <a:ln w="25400">
            <a:solidFill>
              <a:srgbClr val="775CDE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sz="3000"/>
          </a:p>
        </p:txBody>
      </p:sp>
      <p:sp>
        <p:nvSpPr>
          <p:cNvPr id="40" name="线条"/>
          <p:cNvSpPr/>
          <p:nvPr/>
        </p:nvSpPr>
        <p:spPr>
          <a:xfrm>
            <a:off x="19701934" y="9334499"/>
            <a:ext cx="1" cy="2506574"/>
          </a:xfrm>
          <a:prstGeom prst="line">
            <a:avLst/>
          </a:prstGeom>
          <a:ln w="25400">
            <a:solidFill>
              <a:srgbClr val="775CDE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sz="3000"/>
          </a:p>
        </p:txBody>
      </p:sp>
      <p:sp>
        <p:nvSpPr>
          <p:cNvPr id="41" name="EASYSTACK CONFIDENTIAL"/>
          <p:cNvSpPr txBox="1"/>
          <p:nvPr/>
        </p:nvSpPr>
        <p:spPr>
          <a:xfrm>
            <a:off x="10071348" y="12702449"/>
            <a:ext cx="4241304" cy="469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2400" b="0">
                <a:solidFill>
                  <a:srgbClr val="424242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EASYSTACK CONFIDENTIAL</a:t>
            </a:r>
          </a:p>
        </p:txBody>
      </p:sp>
      <p:sp>
        <p:nvSpPr>
          <p:cNvPr id="42" name="线条"/>
          <p:cNvSpPr/>
          <p:nvPr/>
        </p:nvSpPr>
        <p:spPr>
          <a:xfrm>
            <a:off x="9802010" y="6062133"/>
            <a:ext cx="4779980" cy="1"/>
          </a:xfrm>
          <a:prstGeom prst="line">
            <a:avLst/>
          </a:prstGeom>
          <a:ln w="25400">
            <a:solidFill>
              <a:srgbClr val="A9A9A9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sz="3000"/>
          </a:p>
        </p:txBody>
      </p:sp>
      <p:sp>
        <p:nvSpPr>
          <p:cNvPr id="43" name="线条"/>
          <p:cNvSpPr/>
          <p:nvPr/>
        </p:nvSpPr>
        <p:spPr>
          <a:xfrm>
            <a:off x="9802010" y="7162800"/>
            <a:ext cx="4779980" cy="0"/>
          </a:xfrm>
          <a:prstGeom prst="line">
            <a:avLst/>
          </a:prstGeom>
          <a:ln w="25400">
            <a:solidFill>
              <a:srgbClr val="A9A9A9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sz="3000"/>
          </a:p>
        </p:txBody>
      </p:sp>
      <p:sp>
        <p:nvSpPr>
          <p:cNvPr id="44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778000" y="6104130"/>
            <a:ext cx="20828000" cy="1016673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424242"/>
                </a:solidFill>
                <a:latin typeface="微软雅黑" panose="020B0503020204020204"/>
                <a:ea typeface="微软雅黑" panose="020B0503020204020204"/>
                <a:cs typeface="微软雅黑" panose="020B0503020204020204"/>
                <a:sym typeface="微软雅黑" panose="020B0503020204020204"/>
              </a:defRPr>
            </a:lvl1pPr>
          </a:lstStyle>
          <a:p>
            <a:r>
              <a:t>标题文本</a:t>
            </a:r>
          </a:p>
        </p:txBody>
      </p:sp>
      <p:pic>
        <p:nvPicPr>
          <p:cNvPr id="45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7947" y="12363432"/>
            <a:ext cx="3086184" cy="9411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左边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"/>
          <p:cNvSpPr/>
          <p:nvPr/>
        </p:nvSpPr>
        <p:spPr>
          <a:xfrm>
            <a:off x="0" y="0"/>
            <a:ext cx="377362" cy="13716000"/>
          </a:xfrm>
          <a:prstGeom prst="rect">
            <a:avLst/>
          </a:prstGeom>
          <a:solidFill>
            <a:srgbClr val="775CD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sz="3000"/>
          </a:p>
        </p:txBody>
      </p:sp>
      <p:sp>
        <p:nvSpPr>
          <p:cNvPr id="54" name="EASYSTACK CONFIDENTIAL"/>
          <p:cNvSpPr txBox="1"/>
          <p:nvPr/>
        </p:nvSpPr>
        <p:spPr>
          <a:xfrm>
            <a:off x="10071348" y="12702449"/>
            <a:ext cx="4241304" cy="469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2400" b="0">
                <a:solidFill>
                  <a:srgbClr val="424242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EASYSTACK CONFIDENTIAL</a:t>
            </a:r>
          </a:p>
        </p:txBody>
      </p:sp>
      <p:sp>
        <p:nvSpPr>
          <p:cNvPr id="55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016000" y="512233"/>
            <a:ext cx="21005800" cy="741628"/>
          </a:xfrm>
          <a:prstGeom prst="rect">
            <a:avLst/>
          </a:prstGeom>
        </p:spPr>
        <p:txBody>
          <a:bodyPr anchor="t"/>
          <a:lstStyle>
            <a:lvl1pPr algn="l">
              <a:defRPr sz="3400">
                <a:solidFill>
                  <a:srgbClr val="424242"/>
                </a:solidFill>
                <a:latin typeface="微软雅黑" panose="020B0503020204020204"/>
                <a:ea typeface="微软雅黑" panose="020B0503020204020204"/>
                <a:cs typeface="微软雅黑" panose="020B0503020204020204"/>
                <a:sym typeface="微软雅黑" panose="020B0503020204020204"/>
              </a:defRPr>
            </a:lvl1pPr>
          </a:lstStyle>
          <a:p>
            <a:r>
              <a:t>标题文本</a:t>
            </a:r>
          </a:p>
        </p:txBody>
      </p:sp>
      <p:pic>
        <p:nvPicPr>
          <p:cNvPr id="56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7947" y="12363432"/>
            <a:ext cx="3086184" cy="9411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照片 - 水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图像"/>
          <p:cNvSpPr>
            <a:spLocks noGrp="1"/>
          </p:cNvSpPr>
          <p:nvPr>
            <p:ph type="pic" idx="21"/>
          </p:nvPr>
        </p:nvSpPr>
        <p:spPr>
          <a:xfrm>
            <a:off x="3123224" y="-38100"/>
            <a:ext cx="18135601" cy="1209669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84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r>
              <a:t>标题文本</a:t>
            </a:r>
          </a:p>
        </p:txBody>
      </p:sp>
      <p:sp>
        <p:nvSpPr>
          <p:cNvPr id="85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标题 - 居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9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照片 - 垂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图像"/>
          <p:cNvSpPr>
            <a:spLocks noGrp="1"/>
          </p:cNvSpPr>
          <p:nvPr>
            <p:ph type="pic" idx="21"/>
          </p:nvPr>
        </p:nvSpPr>
        <p:spPr>
          <a:xfrm>
            <a:off x="7950200" y="1104900"/>
            <a:ext cx="17259302" cy="115062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10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t>标题文本</a:t>
            </a:r>
          </a:p>
        </p:txBody>
      </p:sp>
      <p:sp>
        <p:nvSpPr>
          <p:cNvPr id="10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0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12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图像"/>
          <p:cNvSpPr>
            <a:spLocks noGrp="1"/>
          </p:cNvSpPr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121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22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图像"/>
          <p:cNvSpPr>
            <a:spLocks noGrp="1"/>
          </p:cNvSpPr>
          <p:nvPr>
            <p:ph type="pic" sz="quarter" idx="21"/>
          </p:nvPr>
        </p:nvSpPr>
        <p:spPr>
          <a:xfrm>
            <a:off x="15681340" y="7035800"/>
            <a:ext cx="8396678" cy="56007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139" name="图像"/>
          <p:cNvSpPr>
            <a:spLocks noGrp="1"/>
          </p:cNvSpPr>
          <p:nvPr>
            <p:ph type="pic" sz="quarter" idx="22"/>
          </p:nvPr>
        </p:nvSpPr>
        <p:spPr>
          <a:xfrm>
            <a:off x="15290800" y="1130300"/>
            <a:ext cx="8331200" cy="55541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140" name="图像"/>
          <p:cNvSpPr>
            <a:spLocks noGrp="1"/>
          </p:cNvSpPr>
          <p:nvPr>
            <p:ph type="pic" idx="23"/>
          </p:nvPr>
        </p:nvSpPr>
        <p:spPr>
          <a:xfrm>
            <a:off x="-3048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14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图像"/>
          <p:cNvSpPr>
            <a:spLocks noGrp="1"/>
          </p:cNvSpPr>
          <p:nvPr>
            <p:ph type="pic" idx="21"/>
          </p:nvPr>
        </p:nvSpPr>
        <p:spPr>
          <a:xfrm>
            <a:off x="0" y="0"/>
            <a:ext cx="24384000" cy="1626446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14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/>
          <p:nvPr/>
        </p:nvSpPr>
        <p:spPr>
          <a:xfrm>
            <a:off x="-1" y="932590"/>
            <a:ext cx="377363" cy="1013024"/>
          </a:xfrm>
          <a:prstGeom prst="rect">
            <a:avLst/>
          </a:prstGeom>
          <a:solidFill>
            <a:srgbClr val="775CD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</a:p>
        </p:txBody>
      </p:sp>
      <p:sp>
        <p:nvSpPr>
          <p:cNvPr id="3" name="CONTENTS"/>
          <p:cNvSpPr txBox="1"/>
          <p:nvPr/>
        </p:nvSpPr>
        <p:spPr>
          <a:xfrm>
            <a:off x="693208" y="937451"/>
            <a:ext cx="4235451" cy="10033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59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CONTENTS</a:t>
            </a:r>
          </a:p>
        </p:txBody>
      </p:sp>
      <p:sp>
        <p:nvSpPr>
          <p:cNvPr id="4" name="目录"/>
          <p:cNvSpPr txBox="1"/>
          <p:nvPr/>
        </p:nvSpPr>
        <p:spPr>
          <a:xfrm>
            <a:off x="656072" y="2002366"/>
            <a:ext cx="876301" cy="6350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79797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目录</a:t>
            </a:r>
          </a:p>
        </p:txBody>
      </p:sp>
      <p:sp>
        <p:nvSpPr>
          <p:cNvPr id="5" name="EASYSTACK CONFIDENTIAL"/>
          <p:cNvSpPr txBox="1"/>
          <p:nvPr/>
        </p:nvSpPr>
        <p:spPr>
          <a:xfrm>
            <a:off x="10071348" y="12702449"/>
            <a:ext cx="4241304" cy="469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2400" b="0">
                <a:solidFill>
                  <a:srgbClr val="424242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EASYSTACK CONFIDENTIAL</a:t>
            </a:r>
          </a:p>
        </p:txBody>
      </p:sp>
      <p:sp>
        <p:nvSpPr>
          <p:cNvPr id="6" name="线条"/>
          <p:cNvSpPr/>
          <p:nvPr/>
        </p:nvSpPr>
        <p:spPr>
          <a:xfrm>
            <a:off x="2006600" y="3632200"/>
            <a:ext cx="5178295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</a:p>
        </p:txBody>
      </p:sp>
      <p:sp>
        <p:nvSpPr>
          <p:cNvPr id="7" name="线条"/>
          <p:cNvSpPr/>
          <p:nvPr/>
        </p:nvSpPr>
        <p:spPr>
          <a:xfrm flipV="1">
            <a:off x="5461000" y="1499312"/>
            <a:ext cx="1" cy="882155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</a:p>
        </p:txBody>
      </p:sp>
      <p:pic>
        <p:nvPicPr>
          <p:cNvPr id="8" name="图像" descr="图像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727947" y="12363432"/>
            <a:ext cx="3086184" cy="9411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9" name="标题文本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10" name="正文级别 1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1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9pPr>
    </p:titleStyle>
    <p:bodyStyle>
      <a:lvl1pPr marL="63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1pPr>
      <a:lvl2pPr marL="127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2pPr>
      <a:lvl3pPr marL="190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3pPr>
      <a:lvl4pPr marL="254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4pPr>
      <a:lvl5pPr marL="317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5pPr>
      <a:lvl6pPr marL="381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6pPr>
      <a:lvl7pPr marL="444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7pPr>
      <a:lvl8pPr marL="508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8pPr>
      <a:lvl9pPr marL="571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/>
          <p:nvPr/>
        </p:nvSpPr>
        <p:spPr>
          <a:xfrm>
            <a:off x="-1" y="932590"/>
            <a:ext cx="377363" cy="1013024"/>
          </a:xfrm>
          <a:prstGeom prst="rect">
            <a:avLst/>
          </a:prstGeom>
          <a:solidFill>
            <a:srgbClr val="775CD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sz="3000"/>
          </a:p>
        </p:txBody>
      </p:sp>
      <p:sp>
        <p:nvSpPr>
          <p:cNvPr id="3" name="CONTENTS"/>
          <p:cNvSpPr txBox="1"/>
          <p:nvPr/>
        </p:nvSpPr>
        <p:spPr>
          <a:xfrm>
            <a:off x="693208" y="937451"/>
            <a:ext cx="4235451" cy="10033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59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CONTENTS</a:t>
            </a:r>
          </a:p>
        </p:txBody>
      </p:sp>
      <p:sp>
        <p:nvSpPr>
          <p:cNvPr id="4" name="目录"/>
          <p:cNvSpPr txBox="1"/>
          <p:nvPr/>
        </p:nvSpPr>
        <p:spPr>
          <a:xfrm>
            <a:off x="656072" y="2002366"/>
            <a:ext cx="876301" cy="6350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79797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目录</a:t>
            </a:r>
          </a:p>
        </p:txBody>
      </p:sp>
      <p:sp>
        <p:nvSpPr>
          <p:cNvPr id="5" name="EASYSTACK CONFIDENTIAL"/>
          <p:cNvSpPr txBox="1"/>
          <p:nvPr/>
        </p:nvSpPr>
        <p:spPr>
          <a:xfrm>
            <a:off x="10071348" y="12702449"/>
            <a:ext cx="4241304" cy="469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2400" b="0">
                <a:solidFill>
                  <a:srgbClr val="424242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EASYSTACK CONFIDENTIAL</a:t>
            </a:r>
          </a:p>
        </p:txBody>
      </p:sp>
      <p:sp>
        <p:nvSpPr>
          <p:cNvPr id="6" name="线条"/>
          <p:cNvSpPr/>
          <p:nvPr/>
        </p:nvSpPr>
        <p:spPr>
          <a:xfrm>
            <a:off x="2006600" y="3632200"/>
            <a:ext cx="5178295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sz="3000"/>
          </a:p>
        </p:txBody>
      </p:sp>
      <p:sp>
        <p:nvSpPr>
          <p:cNvPr id="7" name="线条"/>
          <p:cNvSpPr/>
          <p:nvPr/>
        </p:nvSpPr>
        <p:spPr>
          <a:xfrm flipV="1">
            <a:off x="5461000" y="1499312"/>
            <a:ext cx="1" cy="882155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sz="3000"/>
          </a:p>
        </p:txBody>
      </p:sp>
      <p:pic>
        <p:nvPicPr>
          <p:cNvPr id="8" name="图像" descr="图像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727947" y="12363432"/>
            <a:ext cx="3086184" cy="9411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9" name="标题文本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10" name="正文级别 1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1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9pPr>
    </p:titleStyle>
    <p:bodyStyle>
      <a:lvl1pPr marL="63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1pPr>
      <a:lvl2pPr marL="127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2pPr>
      <a:lvl3pPr marL="190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3pPr>
      <a:lvl4pPr marL="254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4pPr>
      <a:lvl5pPr marL="317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5pPr>
      <a:lvl6pPr marL="381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6pPr>
      <a:lvl7pPr marL="444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7pPr>
      <a:lvl8pPr marL="508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8pPr>
      <a:lvl9pPr marL="571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4.xml"/><Relationship Id="rId2" Type="http://schemas.openxmlformats.org/officeDocument/2006/relationships/hyperlink" Target="https://github.com/CentaurusInfra/mizar" TargetMode="External"/><Relationship Id="rId1" Type="http://schemas.openxmlformats.org/officeDocument/2006/relationships/hyperlink" Target="https://cilium.io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连按此项以编辑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159" name="矩形"/>
          <p:cNvSpPr/>
          <p:nvPr/>
        </p:nvSpPr>
        <p:spPr>
          <a:xfrm>
            <a:off x="0" y="0"/>
            <a:ext cx="24384000" cy="11179969"/>
          </a:xfrm>
          <a:prstGeom prst="rect">
            <a:avLst/>
          </a:prstGeom>
          <a:gradFill>
            <a:gsLst>
              <a:gs pos="1408">
                <a:srgbClr val="69A7C8"/>
              </a:gs>
              <a:gs pos="100000">
                <a:srgbClr val="5A2EC3"/>
              </a:gs>
            </a:gsLst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>
                    <a:alpha val="63813"/>
                  </a:srgbClr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</a:p>
        </p:txBody>
      </p:sp>
      <p:pic>
        <p:nvPicPr>
          <p:cNvPr id="160" name="图像" descr="图像"/>
          <p:cNvPicPr>
            <a:picLocks noChangeAspect="1"/>
          </p:cNvPicPr>
          <p:nvPr/>
        </p:nvPicPr>
        <p:blipFill>
          <a:blip r:embed="rId1">
            <a:alphaModFix amt="10000"/>
          </a:blip>
          <a:srcRect l="4977" t="5000" r="1925" b="19116"/>
          <a:stretch>
            <a:fillRect/>
          </a:stretch>
        </p:blipFill>
        <p:spPr>
          <a:xfrm>
            <a:off x="0" y="-26"/>
            <a:ext cx="24384000" cy="1117983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1" name="Shape 120"/>
          <p:cNvSpPr txBox="1"/>
          <p:nvPr/>
        </p:nvSpPr>
        <p:spPr>
          <a:xfrm>
            <a:off x="945515" y="2366010"/>
            <a:ext cx="5829300" cy="354838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12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lang="en-US" dirty="0"/>
          </a:p>
          <a:p>
            <a:pPr algn="l">
              <a:defRPr sz="112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XDP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介绍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Picture 1" descr="问卷星二维码海报 (28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0160" y="503555"/>
            <a:ext cx="6096000" cy="101727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线条"/>
          <p:cNvSpPr/>
          <p:nvPr/>
        </p:nvSpPr>
        <p:spPr>
          <a:xfrm>
            <a:off x="2006600" y="3632200"/>
            <a:ext cx="5178295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</a:p>
        </p:txBody>
      </p:sp>
      <p:sp>
        <p:nvSpPr>
          <p:cNvPr id="4" name="线条"/>
          <p:cNvSpPr/>
          <p:nvPr/>
        </p:nvSpPr>
        <p:spPr>
          <a:xfrm flipV="1">
            <a:off x="5461000" y="1499312"/>
            <a:ext cx="1" cy="882155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</a:p>
        </p:txBody>
      </p:sp>
      <p:sp>
        <p:nvSpPr>
          <p:cNvPr id="5" name="圆形"/>
          <p:cNvSpPr/>
          <p:nvPr/>
        </p:nvSpPr>
        <p:spPr>
          <a:xfrm>
            <a:off x="7887195" y="4719372"/>
            <a:ext cx="217488" cy="217489"/>
          </a:xfrm>
          <a:prstGeom prst="ellipse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</a:p>
        </p:txBody>
      </p:sp>
      <p:sp>
        <p:nvSpPr>
          <p:cNvPr id="6" name="云计算市场发展趋势"/>
          <p:cNvSpPr txBox="1"/>
          <p:nvPr/>
        </p:nvSpPr>
        <p:spPr>
          <a:xfrm>
            <a:off x="8355199" y="4411874"/>
            <a:ext cx="2396490" cy="83248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457200">
              <a:lnSpc>
                <a:spcPts val="5700"/>
              </a:lnSpc>
              <a:defRPr sz="3600" b="0">
                <a:latin typeface="微软雅黑" panose="020B0503020204020204"/>
                <a:ea typeface="微软雅黑" panose="020B0503020204020204"/>
                <a:cs typeface="微软雅黑" panose="020B0503020204020204"/>
                <a:sym typeface="微软雅黑" panose="020B0503020204020204"/>
              </a:defRPr>
            </a:lvl1pPr>
          </a:lstStyle>
          <a:p>
            <a:pPr algn="l"/>
            <a:r>
              <a:rPr lang="en-US" dirty="0"/>
              <a:t>XDP</a:t>
            </a:r>
            <a:r>
              <a:rPr lang="zh-CN" altLang="en-US" dirty="0"/>
              <a:t>是</a:t>
            </a:r>
            <a:r>
              <a:rPr lang="zh-CN" altLang="en-US" dirty="0"/>
              <a:t>什么</a:t>
            </a:r>
            <a:endParaRPr lang="zh-CN" altLang="en-US" dirty="0"/>
          </a:p>
        </p:txBody>
      </p:sp>
      <p:sp>
        <p:nvSpPr>
          <p:cNvPr id="7" name="正方形"/>
          <p:cNvSpPr/>
          <p:nvPr/>
        </p:nvSpPr>
        <p:spPr>
          <a:xfrm rot="2700000">
            <a:off x="6677639" y="4495808"/>
            <a:ext cx="342883" cy="342884"/>
          </a:xfrm>
          <a:prstGeom prst="rect">
            <a:avLst/>
          </a:prstGeom>
          <a:gradFill>
            <a:gsLst>
              <a:gs pos="0">
                <a:srgbClr val="775CDE"/>
              </a:gs>
              <a:gs pos="100000">
                <a:srgbClr val="C9BCF7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</a:p>
        </p:txBody>
      </p:sp>
      <p:sp>
        <p:nvSpPr>
          <p:cNvPr id="8" name="01"/>
          <p:cNvSpPr txBox="1"/>
          <p:nvPr/>
        </p:nvSpPr>
        <p:spPr>
          <a:xfrm>
            <a:off x="6417069" y="4408064"/>
            <a:ext cx="440690" cy="84010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800" b="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1</a:t>
            </a:r>
          </a:p>
        </p:txBody>
      </p:sp>
      <p:sp>
        <p:nvSpPr>
          <p:cNvPr id="9" name="圆形"/>
          <p:cNvSpPr/>
          <p:nvPr/>
        </p:nvSpPr>
        <p:spPr>
          <a:xfrm>
            <a:off x="7887195" y="6035939"/>
            <a:ext cx="217488" cy="217489"/>
          </a:xfrm>
          <a:prstGeom prst="ellipse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</a:p>
        </p:txBody>
      </p:sp>
      <p:sp>
        <p:nvSpPr>
          <p:cNvPr id="10" name="正方形"/>
          <p:cNvSpPr/>
          <p:nvPr/>
        </p:nvSpPr>
        <p:spPr>
          <a:xfrm rot="2700000">
            <a:off x="6677639" y="5812375"/>
            <a:ext cx="342883" cy="342883"/>
          </a:xfrm>
          <a:prstGeom prst="rect">
            <a:avLst/>
          </a:prstGeom>
          <a:gradFill>
            <a:gsLst>
              <a:gs pos="0">
                <a:srgbClr val="775CDE"/>
              </a:gs>
              <a:gs pos="100000">
                <a:srgbClr val="C9BCF7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</a:p>
        </p:txBody>
      </p:sp>
      <p:sp>
        <p:nvSpPr>
          <p:cNvPr id="11" name="02"/>
          <p:cNvSpPr txBox="1"/>
          <p:nvPr/>
        </p:nvSpPr>
        <p:spPr>
          <a:xfrm>
            <a:off x="6417069" y="5724631"/>
            <a:ext cx="440690" cy="84010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800" b="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2</a:t>
            </a:r>
          </a:p>
        </p:txBody>
      </p:sp>
      <p:sp>
        <p:nvSpPr>
          <p:cNvPr id="15" name="EasyStack易捷行云新一代云平台"/>
          <p:cNvSpPr txBox="1"/>
          <p:nvPr/>
        </p:nvSpPr>
        <p:spPr>
          <a:xfrm>
            <a:off x="8355199" y="5715741"/>
            <a:ext cx="3310890" cy="83248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457200">
              <a:lnSpc>
                <a:spcPts val="5700"/>
              </a:lnSpc>
              <a:defRPr sz="3600" b="0">
                <a:latin typeface="微软雅黑" panose="020B0503020204020204"/>
                <a:ea typeface="微软雅黑" panose="020B0503020204020204"/>
                <a:cs typeface="微软雅黑" panose="020B0503020204020204"/>
                <a:sym typeface="微软雅黑" panose="020B0503020204020204"/>
              </a:defRPr>
            </a:lvl1pPr>
          </a:lstStyle>
          <a:p>
            <a:pPr algn="l"/>
            <a:r>
              <a:rPr lang="en-US" altLang="zh-CN" dirty="0">
                <a:sym typeface="+mn-ea"/>
              </a:rPr>
              <a:t>XDP</a:t>
            </a:r>
            <a:r>
              <a:rPr lang="zh-CN" altLang="en-US" dirty="0">
                <a:sym typeface="+mn-ea"/>
              </a:rPr>
              <a:t>可以做</a:t>
            </a:r>
            <a:r>
              <a:rPr lang="zh-CN" altLang="en-US" dirty="0">
                <a:sym typeface="+mn-ea"/>
              </a:rPr>
              <a:t>什么</a:t>
            </a:r>
            <a:endParaRPr lang="zh-CN" altLang="en-US" dirty="0">
              <a:sym typeface="+mn-ea"/>
            </a:endParaRPr>
          </a:p>
        </p:txBody>
      </p:sp>
      <p:sp>
        <p:nvSpPr>
          <p:cNvPr id="2" name="圆形"/>
          <p:cNvSpPr/>
          <p:nvPr/>
        </p:nvSpPr>
        <p:spPr>
          <a:xfrm>
            <a:off x="7887195" y="7378329"/>
            <a:ext cx="217488" cy="217489"/>
          </a:xfrm>
          <a:prstGeom prst="ellipse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</a:p>
        </p:txBody>
      </p:sp>
      <p:sp>
        <p:nvSpPr>
          <p:cNvPr id="12" name="正方形"/>
          <p:cNvSpPr/>
          <p:nvPr/>
        </p:nvSpPr>
        <p:spPr>
          <a:xfrm rot="2700000">
            <a:off x="6677639" y="7154765"/>
            <a:ext cx="342883" cy="342883"/>
          </a:xfrm>
          <a:prstGeom prst="rect">
            <a:avLst/>
          </a:prstGeom>
          <a:gradFill>
            <a:gsLst>
              <a:gs pos="0">
                <a:srgbClr val="775CDE"/>
              </a:gs>
              <a:gs pos="100000">
                <a:srgbClr val="C9BCF7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</a:p>
        </p:txBody>
      </p:sp>
      <p:sp>
        <p:nvSpPr>
          <p:cNvPr id="13" name="02"/>
          <p:cNvSpPr txBox="1"/>
          <p:nvPr/>
        </p:nvSpPr>
        <p:spPr>
          <a:xfrm>
            <a:off x="6417069" y="7067021"/>
            <a:ext cx="440690" cy="84010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800" b="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/>
              <a:t>3</a:t>
            </a:r>
            <a:endParaRPr lang="en-US"/>
          </a:p>
        </p:txBody>
      </p:sp>
      <p:sp>
        <p:nvSpPr>
          <p:cNvPr id="14" name="EasyStack易捷行云新一代云平台"/>
          <p:cNvSpPr txBox="1"/>
          <p:nvPr/>
        </p:nvSpPr>
        <p:spPr>
          <a:xfrm>
            <a:off x="8355199" y="7058131"/>
            <a:ext cx="2853690" cy="83248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457200">
              <a:lnSpc>
                <a:spcPts val="5700"/>
              </a:lnSpc>
              <a:defRPr sz="3600" b="0">
                <a:latin typeface="微软雅黑" panose="020B0503020204020204"/>
                <a:ea typeface="微软雅黑" panose="020B0503020204020204"/>
                <a:cs typeface="微软雅黑" panose="020B0503020204020204"/>
                <a:sym typeface="微软雅黑" panose="020B0503020204020204"/>
              </a:defRPr>
            </a:lvl1pPr>
          </a:lstStyle>
          <a:p>
            <a:pPr algn="l"/>
            <a:r>
              <a:rPr lang="zh-CN" altLang="en-US" dirty="0" err="1">
                <a:sym typeface="+mn-ea"/>
              </a:rPr>
              <a:t>谁在使用</a:t>
            </a:r>
            <a:r>
              <a:rPr lang="en-US" altLang="zh-CN" dirty="0" err="1">
                <a:sym typeface="+mn-ea"/>
              </a:rPr>
              <a:t>XDP</a:t>
            </a:r>
            <a:endParaRPr lang="zh-CN" altLang="en-US" dirty="0" err="1"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1"/>
          <p:cNvSpPr txBox="1"/>
          <p:nvPr/>
        </p:nvSpPr>
        <p:spPr>
          <a:xfrm>
            <a:off x="2228215" y="576580"/>
            <a:ext cx="20633055" cy="840105"/>
          </a:xfrm>
          <a:prstGeom prst="rect">
            <a:avLst/>
          </a:prstGeom>
          <a:ln w="12700">
            <a:miter lim="400000"/>
          </a:ln>
        </p:spPr>
        <p:txBody>
          <a:bodyPr rot="0" vert="horz" wrap="square" lIns="50800" tIns="50800" rIns="50800" bIns="50800" numCol="1" spcCol="0" rtlCol="0" anchor="ctr" forceAA="0">
            <a:noAutofit/>
          </a:bodyPr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  <a:lvl2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2pPr>
            <a:lvl3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3pPr>
            <a:lvl4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4pPr>
            <a:lvl5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5pPr>
            <a:lvl6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6pPr>
            <a:lvl7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7pPr>
            <a:lvl8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8pPr>
            <a:lvl9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9pPr>
          </a:lstStyle>
          <a:p>
            <a:pPr lvl="0" algn="l" hangingPunct="1"/>
            <a:r>
              <a:rPr lang="zh-CN" altLang="en-US" sz="5900" b="1" dirty="0">
                <a:solidFill>
                  <a:srgbClr val="34304F"/>
                </a:solidFill>
                <a:latin typeface="微软雅黑" panose="020B0503020204020204" charset="0"/>
                <a:ea typeface="微软雅黑" panose="020B0503020204020204" charset="0"/>
                <a:cs typeface="微软雅黑" panose="020B0503020204020204" charset="0"/>
                <a:sym typeface="Helvetica Neue Medium" panose="02000503000000020004"/>
              </a:rPr>
              <a:t>为什么我们需要</a:t>
            </a:r>
            <a:r>
              <a:rPr lang="en-US" altLang="zh-CN" sz="5900" b="1" dirty="0">
                <a:solidFill>
                  <a:srgbClr val="34304F"/>
                </a:solidFill>
                <a:latin typeface="微软雅黑" panose="020B0503020204020204" charset="0"/>
                <a:ea typeface="微软雅黑" panose="020B0503020204020204" charset="0"/>
                <a:cs typeface="微软雅黑" panose="020B0503020204020204" charset="0"/>
                <a:sym typeface="Helvetica Neue Medium" panose="02000503000000020004"/>
              </a:rPr>
              <a:t>XDP</a:t>
            </a:r>
            <a:endParaRPr lang="en-US" altLang="zh-CN" sz="5900" b="1" dirty="0">
              <a:solidFill>
                <a:srgbClr val="34304F"/>
              </a:solidFill>
              <a:latin typeface="微软雅黑" panose="020B0503020204020204" charset="0"/>
              <a:ea typeface="微软雅黑" panose="020B0503020204020204" charset="0"/>
              <a:cs typeface="微软雅黑" panose="020B0503020204020204" charset="0"/>
              <a:sym typeface="Helvetica Neue Medium" panose="02000503000000020004"/>
            </a:endParaRPr>
          </a:p>
        </p:txBody>
      </p:sp>
      <p:pic>
        <p:nvPicPr>
          <p:cNvPr id="2" name="Picture 1" descr="wecom-temp-5227e92516db94cf51dadd4ed1d3f3a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9585" y="1663700"/>
            <a:ext cx="18750280" cy="103886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450340" y="12792075"/>
            <a:ext cx="11953875" cy="4089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forceAA="0">
            <a:sp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https://legacy.netdevconf.info/1.2/slides/oct6/06_davem_Tokyo_Netdev_Keynote_2016.pdf</a:t>
            </a:r>
            <a:endParaRPr kumimoji="0" lang="en-US" sz="2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1"/>
          <p:cNvSpPr txBox="1"/>
          <p:nvPr/>
        </p:nvSpPr>
        <p:spPr>
          <a:xfrm>
            <a:off x="2228215" y="576580"/>
            <a:ext cx="20633055" cy="840105"/>
          </a:xfrm>
          <a:prstGeom prst="rect">
            <a:avLst/>
          </a:prstGeom>
          <a:ln w="12700">
            <a:miter lim="400000"/>
          </a:ln>
        </p:spPr>
        <p:txBody>
          <a:bodyPr rot="0" vert="horz" wrap="square" lIns="50800" tIns="50800" rIns="50800" bIns="50800" numCol="1" spcCol="0" rtlCol="0" anchor="ctr" forceAA="0">
            <a:noAutofit/>
          </a:bodyPr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  <a:lvl2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2pPr>
            <a:lvl3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3pPr>
            <a:lvl4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4pPr>
            <a:lvl5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5pPr>
            <a:lvl6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6pPr>
            <a:lvl7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7pPr>
            <a:lvl8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8pPr>
            <a:lvl9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9pPr>
          </a:lstStyle>
          <a:p>
            <a:pPr lvl="0" algn="l" hangingPunct="1"/>
            <a:r>
              <a:rPr lang="en-US" altLang="zh-CN" sz="5900" b="1" dirty="0">
                <a:solidFill>
                  <a:srgbClr val="34304F"/>
                </a:solidFill>
                <a:latin typeface="微软雅黑" panose="020B0503020204020204" charset="0"/>
                <a:ea typeface="微软雅黑" panose="020B0503020204020204" charset="0"/>
                <a:cs typeface="微软雅黑" panose="020B0503020204020204" charset="0"/>
                <a:sym typeface="Helvetica Neue Medium" panose="02000503000000020004"/>
              </a:rPr>
              <a:t>XDP</a:t>
            </a:r>
            <a:r>
              <a:rPr lang="zh-CN" altLang="en-US" sz="5900" b="1" dirty="0">
                <a:solidFill>
                  <a:srgbClr val="34304F"/>
                </a:solidFill>
                <a:latin typeface="微软雅黑" panose="020B0503020204020204" charset="0"/>
                <a:ea typeface="微软雅黑" panose="020B0503020204020204" charset="0"/>
                <a:cs typeface="微软雅黑" panose="020B0503020204020204" charset="0"/>
                <a:sym typeface="Helvetica Neue Medium" panose="02000503000000020004"/>
              </a:rPr>
              <a:t>是</a:t>
            </a:r>
            <a:r>
              <a:rPr lang="zh-CN" altLang="en-US" sz="5900" b="1" dirty="0">
                <a:solidFill>
                  <a:srgbClr val="34304F"/>
                </a:solidFill>
                <a:latin typeface="微软雅黑" panose="020B0503020204020204" charset="0"/>
                <a:ea typeface="微软雅黑" panose="020B0503020204020204" charset="0"/>
                <a:cs typeface="微软雅黑" panose="020B0503020204020204" charset="0"/>
                <a:sym typeface="Helvetica Neue Medium" panose="02000503000000020004"/>
              </a:rPr>
              <a:t>什么</a:t>
            </a:r>
            <a:endParaRPr lang="zh-CN" altLang="en-US" sz="5900" b="1" dirty="0">
              <a:solidFill>
                <a:srgbClr val="34304F"/>
              </a:solidFill>
              <a:latin typeface="微软雅黑" panose="020B0503020204020204" charset="0"/>
              <a:ea typeface="微软雅黑" panose="020B0503020204020204" charset="0"/>
              <a:cs typeface="微软雅黑" panose="020B0503020204020204" charset="0"/>
              <a:sym typeface="Helvetica Neue Medium" panose="02000503000000020004"/>
            </a:endParaRPr>
          </a:p>
        </p:txBody>
      </p:sp>
      <p:pic>
        <p:nvPicPr>
          <p:cNvPr id="3" name="Picture 2" descr="wecom-temp-203f957286c7317d5e4559173b67a67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8950" y="2863850"/>
            <a:ext cx="20866100" cy="79883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1"/>
          <p:cNvSpPr txBox="1"/>
          <p:nvPr/>
        </p:nvSpPr>
        <p:spPr>
          <a:xfrm>
            <a:off x="2228215" y="576580"/>
            <a:ext cx="20633055" cy="840105"/>
          </a:xfrm>
          <a:prstGeom prst="rect">
            <a:avLst/>
          </a:prstGeom>
          <a:ln w="12700">
            <a:miter lim="400000"/>
          </a:ln>
        </p:spPr>
        <p:txBody>
          <a:bodyPr rot="0" vert="horz" wrap="square" lIns="50800" tIns="50800" rIns="50800" bIns="50800" numCol="1" spcCol="0" rtlCol="0" anchor="ctr" forceAA="0">
            <a:noAutofit/>
          </a:bodyPr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  <a:lvl2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2pPr>
            <a:lvl3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3pPr>
            <a:lvl4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4pPr>
            <a:lvl5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5pPr>
            <a:lvl6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6pPr>
            <a:lvl7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7pPr>
            <a:lvl8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8pPr>
            <a:lvl9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9pPr>
          </a:lstStyle>
          <a:p>
            <a:pPr lvl="0" algn="l" hangingPunct="1"/>
            <a:r>
              <a:rPr lang="en-US" altLang="zh-CN" sz="5900" b="1" dirty="0">
                <a:solidFill>
                  <a:srgbClr val="34304F"/>
                </a:solidFill>
                <a:latin typeface="微软雅黑" panose="020B0503020204020204" charset="0"/>
                <a:ea typeface="微软雅黑" panose="020B0503020204020204" charset="0"/>
                <a:cs typeface="微软雅黑" panose="020B0503020204020204" charset="0"/>
                <a:sym typeface="Helvetica Neue Medium" panose="02000503000000020004"/>
              </a:rPr>
              <a:t>XDP</a:t>
            </a:r>
            <a:r>
              <a:rPr lang="zh-CN" altLang="en-US" sz="5900" b="1" dirty="0">
                <a:solidFill>
                  <a:srgbClr val="34304F"/>
                </a:solidFill>
                <a:latin typeface="微软雅黑" panose="020B0503020204020204" charset="0"/>
                <a:ea typeface="微软雅黑" panose="020B0503020204020204" charset="0"/>
                <a:cs typeface="微软雅黑" panose="020B0503020204020204" charset="0"/>
                <a:sym typeface="Helvetica Neue Medium" panose="02000503000000020004"/>
              </a:rPr>
              <a:t>是</a:t>
            </a:r>
            <a:r>
              <a:rPr lang="zh-CN" altLang="en-US" sz="5900" b="1" dirty="0">
                <a:solidFill>
                  <a:srgbClr val="34304F"/>
                </a:solidFill>
                <a:latin typeface="微软雅黑" panose="020B0503020204020204" charset="0"/>
                <a:ea typeface="微软雅黑" panose="020B0503020204020204" charset="0"/>
                <a:cs typeface="微软雅黑" panose="020B0503020204020204" charset="0"/>
                <a:sym typeface="Helvetica Neue Medium" panose="02000503000000020004"/>
              </a:rPr>
              <a:t>什么</a:t>
            </a:r>
            <a:endParaRPr lang="zh-CN" altLang="en-US" sz="5900" b="1" dirty="0">
              <a:solidFill>
                <a:srgbClr val="34304F"/>
              </a:solidFill>
              <a:latin typeface="微软雅黑" panose="020B0503020204020204" charset="0"/>
              <a:ea typeface="微软雅黑" panose="020B0503020204020204" charset="0"/>
              <a:cs typeface="微软雅黑" panose="020B0503020204020204" charset="0"/>
              <a:sym typeface="Helvetica Neue Medium" panose="020005030000000200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1055" y="1590040"/>
            <a:ext cx="17430115" cy="1094613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336040" y="12663170"/>
            <a:ext cx="6056630" cy="4089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50800" tIns="50800" rIns="50800" bIns="50800" numCol="1" spcCol="38100" rtlCol="0" anchor="ctr" forceAA="0">
            <a:sp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https://www.minzkn.com/moniwiki/wiki.php/XDP</a:t>
            </a:r>
            <a:endParaRPr kumimoji="0" lang="en-US" sz="2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1"/>
          <p:cNvSpPr txBox="1"/>
          <p:nvPr/>
        </p:nvSpPr>
        <p:spPr>
          <a:xfrm>
            <a:off x="2228215" y="576580"/>
            <a:ext cx="20633055" cy="840105"/>
          </a:xfrm>
          <a:prstGeom prst="rect">
            <a:avLst/>
          </a:prstGeom>
          <a:ln w="12700">
            <a:miter lim="400000"/>
          </a:ln>
        </p:spPr>
        <p:txBody>
          <a:bodyPr rot="0" vert="horz" wrap="square" lIns="50800" tIns="50800" rIns="50800" bIns="50800" numCol="1" spcCol="0" rtlCol="0" anchor="ctr" forceAA="0">
            <a:noAutofit/>
          </a:bodyPr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  <a:lvl2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2pPr>
            <a:lvl3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3pPr>
            <a:lvl4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4pPr>
            <a:lvl5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5pPr>
            <a:lvl6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6pPr>
            <a:lvl7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7pPr>
            <a:lvl8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8pPr>
            <a:lvl9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9pPr>
          </a:lstStyle>
          <a:p>
            <a:pPr lvl="0" algn="l" hangingPunct="1"/>
            <a:r>
              <a:rPr lang="en-US" altLang="zh-CN" sz="5900" b="1" dirty="0">
                <a:solidFill>
                  <a:srgbClr val="34304F"/>
                </a:solidFill>
                <a:latin typeface="微软雅黑" panose="020B0503020204020204" charset="0"/>
                <a:ea typeface="微软雅黑" panose="020B0503020204020204" charset="0"/>
                <a:cs typeface="微软雅黑" panose="020B0503020204020204" charset="0"/>
                <a:sym typeface="Helvetica Neue Medium" panose="02000503000000020004"/>
              </a:rPr>
              <a:t>XDP</a:t>
            </a:r>
            <a:r>
              <a:rPr lang="zh-CN" altLang="en-US" sz="5900" b="1" dirty="0">
                <a:solidFill>
                  <a:srgbClr val="34304F"/>
                </a:solidFill>
                <a:latin typeface="微软雅黑" panose="020B0503020204020204" charset="0"/>
                <a:ea typeface="微软雅黑" panose="020B0503020204020204" charset="0"/>
                <a:cs typeface="微软雅黑" panose="020B0503020204020204" charset="0"/>
                <a:sym typeface="Helvetica Neue Medium" panose="02000503000000020004"/>
              </a:rPr>
              <a:t>可以做</a:t>
            </a:r>
            <a:r>
              <a:rPr lang="zh-CN" altLang="en-US" sz="5900" b="1" dirty="0">
                <a:solidFill>
                  <a:srgbClr val="34304F"/>
                </a:solidFill>
                <a:latin typeface="微软雅黑" panose="020B0503020204020204" charset="0"/>
                <a:ea typeface="微软雅黑" panose="020B0503020204020204" charset="0"/>
                <a:cs typeface="微软雅黑" panose="020B0503020204020204" charset="0"/>
                <a:sym typeface="Helvetica Neue Medium" panose="02000503000000020004"/>
              </a:rPr>
              <a:t>什么</a:t>
            </a:r>
            <a:endParaRPr lang="zh-CN" altLang="en-US" sz="5900" b="1" dirty="0">
              <a:solidFill>
                <a:srgbClr val="34304F"/>
              </a:solidFill>
              <a:latin typeface="微软雅黑" panose="020B0503020204020204" charset="0"/>
              <a:ea typeface="微软雅黑" panose="020B0503020204020204" charset="0"/>
              <a:cs typeface="微软雅黑" panose="020B0503020204020204" charset="0"/>
              <a:sym typeface="Helvetica Neue Medium" panose="020005030000000200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162300" y="5084445"/>
            <a:ext cx="17188815" cy="354774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spAutoFit/>
          </a:bodyPr>
          <a:p>
            <a:pPr marL="457200" marR="0" indent="-457200" algn="l" defTabSz="8255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5"/>
                </a:solidFill>
                <a:sym typeface="Helvetica Neue" panose="02000503000000020004"/>
              </a:rPr>
              <a:t>DROP：</a:t>
            </a:r>
            <a:r>
              <a:rPr kumimoji="0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Filerwalls</a:t>
            </a:r>
            <a:r>
              <a:rPr kumimoji="0" lang="zh-CN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，</a:t>
            </a:r>
            <a:r>
              <a:rPr kumimoji="0" lang="en-US" altLang="zh-CN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DDoS</a:t>
            </a:r>
            <a:endParaRPr kumimoji="0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sz="3200" b="1" i="0" u="none" strike="noStrike" cap="none" spc="0" normalizeH="0" baseline="0">
                <a:ln>
                  <a:noFill/>
                </a:ln>
                <a:solidFill>
                  <a:schemeClr val="accent5"/>
                </a:solidFill>
                <a:effectLst/>
                <a:uFillTx/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TX or REDIRECT to </a:t>
            </a:r>
            <a:r>
              <a:rPr kumimoji="0" lang="en-US" sz="3200" b="1" i="0" u="none" strike="noStrike" cap="none" spc="0" normalizeH="0" baseline="0">
                <a:ln>
                  <a:noFill/>
                </a:ln>
                <a:solidFill>
                  <a:schemeClr val="accent5"/>
                </a:solidFill>
                <a:effectLst/>
                <a:uFillTx/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NIC</a:t>
            </a:r>
            <a:r>
              <a:rPr kumimoji="0" sz="3200" b="1" i="0" u="none" strike="noStrike" cap="none" spc="0" normalizeH="0" baseline="0">
                <a:ln>
                  <a:noFill/>
                </a:ln>
                <a:solidFill>
                  <a:schemeClr val="accent5"/>
                </a:solidFill>
                <a:effectLst/>
                <a:uFillTx/>
                <a:latin typeface="Helvetica Neue" panose="02000503000000020004"/>
                <a:cs typeface="Helvetica Neue" panose="02000503000000020004"/>
                <a:sym typeface="Helvetica Neue" panose="02000503000000020004"/>
              </a:rPr>
              <a:t>：</a:t>
            </a:r>
            <a:r>
              <a:rPr kumimoji="0" lang="en-US" altLang="zh-CN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F</a:t>
            </a: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orwarding</a:t>
            </a:r>
            <a:r>
              <a:rPr kumimoji="0" lang="en-US" altLang="zh-CN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, Routing,</a:t>
            </a: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 </a:t>
            </a:r>
            <a:r>
              <a:rPr kumimoji="0" lang="en-US" altLang="zh-CN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NAT, Tunneling, L</a:t>
            </a: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oad-balancing</a:t>
            </a:r>
            <a:r>
              <a:rPr kumimoji="0" lang="en-US" altLang="zh-CN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...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 panose="02000503000000020004"/>
              <a:ea typeface="宋体" charset="0"/>
              <a:cs typeface="Helvetica Neue" panose="02000503000000020004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5"/>
                </a:solidFill>
                <a:sym typeface="Helvetica Neue" panose="02000503000000020004"/>
              </a:rPr>
              <a:t>REDIRECT to </a:t>
            </a:r>
            <a:r>
              <a:rPr lang="en-US" sz="3200">
                <a:solidFill>
                  <a:schemeClr val="accent5"/>
                </a:solidFill>
                <a:sym typeface="Helvetica Neue" panose="02000503000000020004"/>
              </a:rPr>
              <a:t>U</a:t>
            </a:r>
            <a:r>
              <a:rPr sz="3200">
                <a:solidFill>
                  <a:schemeClr val="accent5"/>
                </a:solidFill>
                <a:sym typeface="Helvetica Neue" panose="02000503000000020004"/>
              </a:rPr>
              <a:t>serspace：</a:t>
            </a:r>
            <a:r>
              <a:rPr lang="en-US" sz="3200">
                <a:solidFill>
                  <a:schemeClr val="tx1"/>
                </a:solidFill>
                <a:sym typeface="Helvetica Neue" panose="02000503000000020004"/>
              </a:rPr>
              <a:t>Almost a</a:t>
            </a:r>
            <a:r>
              <a:rPr lang="en-US" altLang="zh-CN" sz="3200">
                <a:solidFill>
                  <a:schemeClr val="tx1"/>
                </a:solidFill>
                <a:ea typeface="宋体" charset="0"/>
                <a:sym typeface="Helvetica Neue" panose="02000503000000020004"/>
              </a:rPr>
              <a:t>ll</a:t>
            </a:r>
            <a:r>
              <a:rPr lang="en-US" altLang="zh-CN" sz="3200">
                <a:ea typeface="宋体" charset="0"/>
                <a:sym typeface="Helvetica Neue" panose="02000503000000020004"/>
              </a:rPr>
              <a:t> things using OVS+AF_XDP, DPDK+AF_XDP, other user applications to implement like Sampling and monitoring tools.</a:t>
            </a:r>
            <a:endParaRPr lang="en-US" altLang="zh-CN" sz="3200">
              <a:ea typeface="宋体" charset="0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sz="3200" b="1" i="0" u="none" strike="noStrike" cap="none" spc="0" normalizeH="0" baseline="0">
                <a:ln>
                  <a:noFill/>
                </a:ln>
                <a:solidFill>
                  <a:schemeClr val="accent5"/>
                </a:solidFill>
                <a:effectLst/>
                <a:uFillTx/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PASS</a:t>
            </a:r>
            <a:r>
              <a:rPr kumimoji="0" lang="zh-CN" sz="3200" b="1" i="0" u="none" strike="noStrike" cap="none" spc="0" normalizeH="0" baseline="0">
                <a:ln>
                  <a:noFill/>
                </a:ln>
                <a:solidFill>
                  <a:schemeClr val="accent5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：</a:t>
            </a:r>
            <a:r>
              <a:rPr kumimoji="0" 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back to slow path</a:t>
            </a:r>
            <a:endParaRPr kumimoji="0" 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1"/>
          <p:cNvSpPr txBox="1"/>
          <p:nvPr/>
        </p:nvSpPr>
        <p:spPr>
          <a:xfrm>
            <a:off x="2228215" y="576580"/>
            <a:ext cx="20633055" cy="840105"/>
          </a:xfrm>
          <a:prstGeom prst="rect">
            <a:avLst/>
          </a:prstGeom>
          <a:ln w="12700">
            <a:miter lim="400000"/>
          </a:ln>
        </p:spPr>
        <p:txBody>
          <a:bodyPr rot="0" vert="horz" wrap="square" lIns="50800" tIns="50800" rIns="50800" bIns="50800" numCol="1" spcCol="0" rtlCol="0" anchor="ctr" forceAA="0">
            <a:noAutofit/>
          </a:bodyPr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  <a:lvl2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2pPr>
            <a:lvl3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3pPr>
            <a:lvl4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4pPr>
            <a:lvl5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5pPr>
            <a:lvl6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6pPr>
            <a:lvl7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7pPr>
            <a:lvl8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8pPr>
            <a:lvl9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9pPr>
          </a:lstStyle>
          <a:p>
            <a:pPr lvl="0" algn="l" hangingPunct="1"/>
            <a:r>
              <a:rPr lang="zh-CN" altLang="en-US" sz="5900" b="1" dirty="0">
                <a:solidFill>
                  <a:srgbClr val="34304F"/>
                </a:solidFill>
                <a:latin typeface="微软雅黑" panose="020B0503020204020204" charset="0"/>
                <a:ea typeface="微软雅黑" panose="020B0503020204020204" charset="0"/>
                <a:cs typeface="微软雅黑" panose="020B0503020204020204" charset="0"/>
                <a:sym typeface="Helvetica Neue Medium" panose="02000503000000020004"/>
              </a:rPr>
              <a:t>谁在使用</a:t>
            </a:r>
            <a:r>
              <a:rPr lang="en-US" altLang="zh-CN" sz="5900" b="1" dirty="0">
                <a:solidFill>
                  <a:srgbClr val="34304F"/>
                </a:solidFill>
                <a:latin typeface="微软雅黑" panose="020B0503020204020204" charset="0"/>
                <a:ea typeface="微软雅黑" panose="020B0503020204020204" charset="0"/>
                <a:cs typeface="微软雅黑" panose="020B0503020204020204" charset="0"/>
                <a:sym typeface="Helvetica Neue Medium" panose="02000503000000020004"/>
              </a:rPr>
              <a:t>XDP</a:t>
            </a:r>
            <a:endParaRPr lang="zh-CN" altLang="en-US" sz="5900" b="1" dirty="0">
              <a:solidFill>
                <a:srgbClr val="34304F"/>
              </a:solidFill>
              <a:latin typeface="微软雅黑" panose="020B0503020204020204" charset="0"/>
              <a:ea typeface="微软雅黑" panose="020B0503020204020204" charset="0"/>
              <a:cs typeface="微软雅黑" panose="020B0503020204020204" charset="0"/>
              <a:sym typeface="Helvetica Neue Medium" panose="020005030000000200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162300" y="4739640"/>
            <a:ext cx="17188815" cy="42373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spAutoFit/>
          </a:bodyPr>
          <a:p>
            <a:pPr marL="457200" marR="0" indent="-457200" algn="l" defTabSz="8255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OVS + XDP </a:t>
            </a: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（experimental）</a:t>
            </a:r>
            <a:endParaRPr kumimoji="0" 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DPDK + </a:t>
            </a:r>
            <a:r>
              <a:rPr kumimoji="0" 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XDP</a:t>
            </a:r>
            <a:endParaRPr kumimoji="0" 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K8S CNI</a:t>
            </a: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：</a:t>
            </a:r>
            <a:r>
              <a:rPr kumimoji="0" 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  <a:hlinkClick r:id="rId1" action="ppaction://hlinkfile"/>
              </a:rPr>
              <a:t>Cilium </a:t>
            </a:r>
            <a:r>
              <a:rPr kumimoji="0" 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+ XD</a:t>
            </a:r>
            <a:r>
              <a:rPr kumimoji="0" 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P</a:t>
            </a:r>
            <a:endParaRPr kumimoji="0" 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3200">
                <a:sym typeface="Helvetica Neue" panose="02000503000000020004"/>
              </a:rPr>
              <a:t>K8S CNI</a:t>
            </a:r>
            <a:r>
              <a:rPr lang="zh-CN" altLang="en-US" sz="3200">
                <a:ea typeface="宋体" charset="0"/>
                <a:sym typeface="Helvetica Neue" panose="02000503000000020004"/>
              </a:rPr>
              <a:t>：</a:t>
            </a:r>
            <a:r>
              <a:rPr lang="en-US" altLang="zh-CN" sz="3200">
                <a:ea typeface="宋体" charset="0"/>
                <a:sym typeface="Helvetica Neue" panose="02000503000000020004"/>
                <a:hlinkClick r:id="rId2" action="ppaction://hlinkfile"/>
              </a:rPr>
              <a:t>M</a:t>
            </a:r>
            <a:r>
              <a:rPr lang="en-US" sz="3200">
                <a:sym typeface="Helvetica Neue" panose="02000503000000020004"/>
                <a:hlinkClick r:id="rId2" action="ppaction://hlinkfile"/>
              </a:rPr>
              <a:t>izar </a:t>
            </a:r>
            <a:r>
              <a:rPr lang="en-US" sz="3200">
                <a:sym typeface="Helvetica Neue" panose="02000503000000020004"/>
              </a:rPr>
              <a:t>+ XDP</a:t>
            </a:r>
            <a:endParaRPr kumimoji="0" 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1"/>
          <p:cNvSpPr txBox="1"/>
          <p:nvPr/>
        </p:nvSpPr>
        <p:spPr>
          <a:xfrm>
            <a:off x="2228215" y="576580"/>
            <a:ext cx="20633055" cy="840105"/>
          </a:xfrm>
          <a:prstGeom prst="rect">
            <a:avLst/>
          </a:prstGeom>
          <a:ln w="12700">
            <a:miter lim="400000"/>
          </a:ln>
        </p:spPr>
        <p:txBody>
          <a:bodyPr rot="0" vert="horz" wrap="square" lIns="50800" tIns="50800" rIns="50800" bIns="50800" numCol="1" spcCol="0" rtlCol="0" anchor="ctr" forceAA="0">
            <a:noAutofit/>
          </a:bodyPr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  <a:lvl2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2pPr>
            <a:lvl3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3pPr>
            <a:lvl4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4pPr>
            <a:lvl5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5pPr>
            <a:lvl6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6pPr>
            <a:lvl7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7pPr>
            <a:lvl8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8pPr>
            <a:lvl9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9pPr>
          </a:lstStyle>
          <a:p>
            <a:pPr lvl="0" algn="l" hangingPunct="1"/>
            <a:r>
              <a:rPr lang="en-US" altLang="zh-CN" sz="5900" b="1" dirty="0">
                <a:solidFill>
                  <a:srgbClr val="34304F"/>
                </a:solidFill>
                <a:latin typeface="微软雅黑" panose="020B0503020204020204" charset="0"/>
                <a:ea typeface="微软雅黑" panose="020B0503020204020204" charset="0"/>
                <a:cs typeface="微软雅黑" panose="020B0503020204020204" charset="0"/>
                <a:sym typeface="Helvetica Neue Medium" panose="02000503000000020004"/>
              </a:rPr>
              <a:t>XDP</a:t>
            </a:r>
            <a:r>
              <a:rPr lang="zh-CN" altLang="en-US" sz="5900" b="1" dirty="0">
                <a:solidFill>
                  <a:srgbClr val="34304F"/>
                </a:solidFill>
                <a:latin typeface="微软雅黑" panose="020B0503020204020204" charset="0"/>
                <a:ea typeface="微软雅黑" panose="020B0503020204020204" charset="0"/>
                <a:cs typeface="微软雅黑" panose="020B0503020204020204" charset="0"/>
                <a:sym typeface="Helvetica Neue Medium" panose="02000503000000020004"/>
              </a:rPr>
              <a:t>思考</a:t>
            </a:r>
            <a:endParaRPr lang="zh-CN" altLang="en-US" sz="5900" b="1" dirty="0">
              <a:solidFill>
                <a:srgbClr val="34304F"/>
              </a:solidFill>
              <a:latin typeface="微软雅黑" panose="020B0503020204020204" charset="0"/>
              <a:ea typeface="微软雅黑" panose="020B0503020204020204" charset="0"/>
              <a:cs typeface="微软雅黑" panose="020B0503020204020204" charset="0"/>
              <a:sym typeface="Helvetica Neue Medium" panose="020005030000000200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162300" y="3017520"/>
            <a:ext cx="18133695" cy="76835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spAutoFit/>
          </a:bodyPr>
          <a:p>
            <a:pPr marL="457200" marR="0" indent="-457200" algn="l" defTabSz="8255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zh-CN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Linux</a:t>
            </a: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里没有一个标准的高性能</a:t>
            </a:r>
            <a:r>
              <a:rPr kumimoji="0" lang="en-US" altLang="zh-CN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Data path</a:t>
            </a: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方案</a:t>
            </a: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，</a:t>
            </a:r>
            <a:r>
              <a:rPr kumimoji="0" lang="en-US" altLang="zh-CN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DPDK</a:t>
            </a: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是厂商主导的脱离</a:t>
            </a:r>
            <a:r>
              <a:rPr kumimoji="0" lang="en-US" altLang="zh-CN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Linux</a:t>
            </a: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的方案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因为容器网络使用</a:t>
            </a:r>
            <a:r>
              <a:rPr kumimoji="0" lang="en-US" altLang="zh-CN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netns</a:t>
            </a: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，</a:t>
            </a:r>
            <a:r>
              <a:rPr lang="zh-CN" altLang="en-US" sz="3200">
                <a:sym typeface="Helvetica Neue" panose="02000503000000020004"/>
              </a:rPr>
              <a:t>性能一直受限于内核协议栈，直接</a:t>
            </a: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无法使用</a:t>
            </a:r>
            <a:r>
              <a:rPr kumimoji="0" lang="en-US" altLang="zh-CN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DPDK</a:t>
            </a: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，</a:t>
            </a:r>
            <a:r>
              <a:rPr kumimoji="0" lang="en-US" altLang="zh-CN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SRIOV</a:t>
            </a: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也是绕过内核网络栈，标准容器网卡无法直接使用，</a:t>
            </a:r>
            <a:r>
              <a:rPr kumimoji="0" lang="en-US" altLang="zh-CN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XDP</a:t>
            </a: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非常适合容器网络，容器网络使用</a:t>
            </a:r>
            <a:r>
              <a:rPr kumimoji="0" lang="en-US" altLang="zh-CN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XDP</a:t>
            </a: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也推动了</a:t>
            </a:r>
            <a:r>
              <a:rPr kumimoji="0" lang="en-US" altLang="zh-CN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XDP</a:t>
            </a: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的</a:t>
            </a: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发展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 panose="02000503000000020004"/>
              <a:ea typeface="宋体" charset="0"/>
              <a:cs typeface="Helvetica Neue" panose="02000503000000020004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有了</a:t>
            </a:r>
            <a:r>
              <a:rPr kumimoji="0" lang="en-US" altLang="zh-CN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eBPF</a:t>
            </a: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，才有了</a:t>
            </a:r>
            <a:r>
              <a:rPr kumimoji="0" lang="en-US" altLang="zh-CN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XDP</a:t>
            </a: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，才有了在驱动层快速处理数据包的能力，</a:t>
            </a:r>
            <a:r>
              <a:rPr kumimoji="0" lang="en-US" altLang="zh-CN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XDP</a:t>
            </a: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使用</a:t>
            </a:r>
            <a:r>
              <a:rPr lang="en-US" altLang="zh-CN" sz="3200">
                <a:ea typeface="宋体" charset="0"/>
                <a:sym typeface="Helvetica Neue" panose="02000503000000020004"/>
              </a:rPr>
              <a:t>AF_XDP</a:t>
            </a: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也</a:t>
            </a: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允许用户态处理数据</a:t>
            </a: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包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 panose="02000503000000020004"/>
              <a:ea typeface="宋体" charset="0"/>
              <a:cs typeface="Helvetica Neue" panose="02000503000000020004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zh-CN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DPDK</a:t>
            </a: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有很成熟的网络应用，</a:t>
            </a:r>
            <a:r>
              <a:rPr kumimoji="0" lang="en-US" altLang="zh-CN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DPDK</a:t>
            </a: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社区在尝试使用</a:t>
            </a:r>
            <a:r>
              <a:rPr kumimoji="0" lang="en-US" altLang="zh-CN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XDP</a:t>
            </a: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，这样就可以不依赖网卡的</a:t>
            </a:r>
            <a:r>
              <a:rPr kumimoji="0" lang="en-US" altLang="zh-CN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DPDK</a:t>
            </a: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驱动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 panose="02000503000000020004"/>
              <a:ea typeface="宋体" charset="0"/>
              <a:cs typeface="Helvetica Neue" panose="02000503000000020004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基于</a:t>
            </a:r>
            <a:r>
              <a:rPr kumimoji="0" lang="en-US" altLang="zh-CN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XDP</a:t>
            </a: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的用户态程序会越来越多（比如</a:t>
            </a:r>
            <a:r>
              <a:rPr kumimoji="0" lang="en-US" altLang="zh-CN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OVS</a:t>
            </a: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、</a:t>
            </a:r>
            <a:r>
              <a:rPr kumimoji="0" lang="en-US" altLang="zh-CN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DPDK</a:t>
            </a: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程序适配、基于</a:t>
            </a:r>
            <a:r>
              <a:rPr kumimoji="0" lang="en-US" altLang="zh-CN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AF_XDP</a:t>
            </a: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新开发的</a:t>
            </a: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程序）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 panose="02000503000000020004"/>
              <a:ea typeface="宋体" charset="0"/>
              <a:cs typeface="Helvetica Neue" panose="02000503000000020004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zh-CN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XDP</a:t>
            </a: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还比较年轻，随着需求越来越多，</a:t>
            </a:r>
            <a:r>
              <a:rPr kumimoji="0" lang="en-US" altLang="zh-CN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XDP</a:t>
            </a: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内核代码在不断完善，这就要求内核比较新，升级</a:t>
            </a: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宋体" charset="0"/>
                <a:cs typeface="Helvetica Neue" panose="02000503000000020004"/>
                <a:sym typeface="Helvetica Neue" panose="02000503000000020004"/>
              </a:rPr>
              <a:t>内核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 panose="02000503000000020004"/>
              <a:ea typeface="宋体" charset="0"/>
              <a:cs typeface="Helvetica Neue" panose="02000503000000020004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1"/>
          <p:cNvSpPr txBox="1"/>
          <p:nvPr/>
        </p:nvSpPr>
        <p:spPr>
          <a:xfrm>
            <a:off x="2228215" y="576580"/>
            <a:ext cx="20633055" cy="840105"/>
          </a:xfrm>
          <a:prstGeom prst="rect">
            <a:avLst/>
          </a:prstGeom>
          <a:ln w="12700">
            <a:miter lim="400000"/>
          </a:ln>
        </p:spPr>
        <p:txBody>
          <a:bodyPr rot="0" vert="horz" wrap="square" lIns="50800" tIns="50800" rIns="50800" bIns="50800" numCol="1" spcCol="0" rtlCol="0" anchor="ctr" forceAA="0">
            <a:noAutofit/>
          </a:bodyPr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  <a:lvl2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2pPr>
            <a:lvl3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3pPr>
            <a:lvl4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4pPr>
            <a:lvl5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5pPr>
            <a:lvl6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6pPr>
            <a:lvl7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7pPr>
            <a:lvl8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8pPr>
            <a:lvl9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9pPr>
          </a:lstStyle>
          <a:p>
            <a:pPr lvl="0" algn="l" hangingPunct="1"/>
            <a:r>
              <a:rPr lang="en-US" altLang="zh-CN" sz="5900" b="1" dirty="0">
                <a:solidFill>
                  <a:srgbClr val="34304F"/>
                </a:solidFill>
                <a:latin typeface="微软雅黑" panose="020B0503020204020204" charset="0"/>
                <a:ea typeface="微软雅黑" panose="020B0503020204020204" charset="0"/>
                <a:cs typeface="微软雅黑" panose="020B0503020204020204" charset="0"/>
                <a:sym typeface="Helvetica Neue Medium" panose="02000503000000020004"/>
              </a:rPr>
              <a:t>XDP</a:t>
            </a:r>
            <a:r>
              <a:rPr lang="zh-CN" altLang="en-US" sz="5900" b="1" dirty="0">
                <a:solidFill>
                  <a:srgbClr val="34304F"/>
                </a:solidFill>
                <a:latin typeface="微软雅黑" panose="020B0503020204020204" charset="0"/>
                <a:ea typeface="微软雅黑" panose="020B0503020204020204" charset="0"/>
                <a:cs typeface="微软雅黑" panose="020B0503020204020204" charset="0"/>
                <a:sym typeface="Helvetica Neue Medium" panose="02000503000000020004"/>
              </a:rPr>
              <a:t>限制</a:t>
            </a:r>
            <a:endParaRPr lang="zh-CN" altLang="en-US" sz="5900" b="1" dirty="0">
              <a:solidFill>
                <a:srgbClr val="34304F"/>
              </a:solidFill>
              <a:latin typeface="微软雅黑" panose="020B0503020204020204" charset="0"/>
              <a:ea typeface="微软雅黑" panose="020B0503020204020204" charset="0"/>
              <a:cs typeface="微软雅黑" panose="020B0503020204020204" charset="0"/>
              <a:sym typeface="Helvetica Neue Medium" panose="020005030000000200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162300" y="5084763"/>
            <a:ext cx="17825085" cy="354774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spAutoFit/>
          </a:bodyPr>
          <a:p>
            <a:pPr marL="457200" marR="0" indent="-457200" algn="l" defTabSz="8255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不能使用</a:t>
            </a:r>
            <a:r>
              <a:rPr kumimoji="0" lang="en-US" altLang="zh-CN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Bond</a:t>
            </a:r>
            <a:endParaRPr kumimoji="0" lang="en-US" altLang="zh-CN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需要驱动支持，更新驱动就可以？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zh-CN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1"/>
          <p:cNvSpPr txBox="1"/>
          <p:nvPr/>
        </p:nvSpPr>
        <p:spPr>
          <a:xfrm>
            <a:off x="2228215" y="576580"/>
            <a:ext cx="20633055" cy="840105"/>
          </a:xfrm>
          <a:prstGeom prst="rect">
            <a:avLst/>
          </a:prstGeom>
          <a:ln w="12700">
            <a:miter lim="400000"/>
          </a:ln>
        </p:spPr>
        <p:txBody>
          <a:bodyPr rot="0" vert="horz" wrap="square" lIns="50800" tIns="50800" rIns="50800" bIns="50800" numCol="1" spcCol="0" rtlCol="0" anchor="ctr" forceAA="0">
            <a:noAutofit/>
          </a:bodyPr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  <a:lvl2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2pPr>
            <a:lvl3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3pPr>
            <a:lvl4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4pPr>
            <a:lvl5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5pPr>
            <a:lvl6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6pPr>
            <a:lvl7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7pPr>
            <a:lvl8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8pPr>
            <a:lvl9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9pPr>
          </a:lstStyle>
          <a:p>
            <a:pPr lvl="0" algn="l" hangingPunct="1"/>
            <a:r>
              <a:rPr lang="zh-CN" altLang="en-US" sz="5900" b="1" dirty="0">
                <a:solidFill>
                  <a:srgbClr val="34304F"/>
                </a:solidFill>
                <a:latin typeface="微软雅黑" panose="020B0503020204020204" charset="0"/>
                <a:ea typeface="微软雅黑" panose="020B0503020204020204" charset="0"/>
                <a:cs typeface="微软雅黑" panose="020B0503020204020204" charset="0"/>
                <a:sym typeface="Helvetica Neue Medium" panose="02000503000000020004"/>
              </a:rPr>
              <a:t>其他：性能</a:t>
            </a:r>
            <a:r>
              <a:rPr lang="zh-CN" altLang="en-US" sz="5900" b="1" dirty="0">
                <a:solidFill>
                  <a:srgbClr val="34304F"/>
                </a:solidFill>
                <a:latin typeface="微软雅黑" panose="020B0503020204020204" charset="0"/>
                <a:ea typeface="微软雅黑" panose="020B0503020204020204" charset="0"/>
                <a:cs typeface="微软雅黑" panose="020B0503020204020204" charset="0"/>
                <a:sym typeface="Helvetica Neue Medium" panose="02000503000000020004"/>
              </a:rPr>
              <a:t>对比</a:t>
            </a:r>
            <a:endParaRPr lang="zh-CN" altLang="en-US" sz="5900" b="1" dirty="0">
              <a:solidFill>
                <a:srgbClr val="34304F"/>
              </a:solidFill>
              <a:latin typeface="微软雅黑" panose="020B0503020204020204" charset="0"/>
              <a:ea typeface="微软雅黑" panose="020B0503020204020204" charset="0"/>
              <a:cs typeface="微软雅黑" panose="020B0503020204020204" charset="0"/>
              <a:sym typeface="Helvetica Neue Medium" panose="02000503000000020004"/>
            </a:endParaRPr>
          </a:p>
        </p:txBody>
      </p:sp>
      <p:pic>
        <p:nvPicPr>
          <p:cNvPr id="2" name="Picture 1" descr="wecom-temp-da5b626d6ead66283bf1dd33367a8b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5790" y="1532255"/>
            <a:ext cx="20633055" cy="1020953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588260" y="12771120"/>
            <a:ext cx="6822440" cy="4089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forceAA="0">
            <a:sp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https://www.youtube.com/watch?v=hO2tlxURXJ0</a:t>
            </a:r>
            <a:endParaRPr kumimoji="0" lang="en-US" sz="2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1"/>
          <p:cNvSpPr txBox="1"/>
          <p:nvPr/>
        </p:nvSpPr>
        <p:spPr>
          <a:xfrm>
            <a:off x="2228215" y="576580"/>
            <a:ext cx="20633055" cy="840105"/>
          </a:xfrm>
          <a:prstGeom prst="rect">
            <a:avLst/>
          </a:prstGeom>
          <a:ln w="12700">
            <a:miter lim="400000"/>
          </a:ln>
        </p:spPr>
        <p:txBody>
          <a:bodyPr rot="0" vert="horz" wrap="square" lIns="50800" tIns="50800" rIns="50800" bIns="50800" numCol="1" spcCol="0" rtlCol="0" anchor="ctr" forceAA="0">
            <a:noAutofit/>
          </a:bodyPr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  <a:lvl2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2pPr>
            <a:lvl3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3pPr>
            <a:lvl4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4pPr>
            <a:lvl5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5pPr>
            <a:lvl6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6pPr>
            <a:lvl7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7pPr>
            <a:lvl8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8pPr>
            <a:lvl9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9pPr>
          </a:lstStyle>
          <a:p>
            <a:pPr lvl="0" algn="l" hangingPunct="1"/>
            <a:r>
              <a:rPr lang="zh-CN" altLang="en-US" sz="5900" b="1" dirty="0">
                <a:solidFill>
                  <a:srgbClr val="34304F"/>
                </a:solidFill>
                <a:latin typeface="微软雅黑" panose="020B0503020204020204" charset="0"/>
                <a:ea typeface="微软雅黑" panose="020B0503020204020204" charset="0"/>
                <a:cs typeface="微软雅黑" panose="020B0503020204020204" charset="0"/>
                <a:sym typeface="Helvetica Neue Medium" panose="02000503000000020004"/>
              </a:rPr>
              <a:t>其他：</a:t>
            </a:r>
            <a:r>
              <a:rPr lang="en-US" altLang="zh-CN" sz="5900" b="1" dirty="0">
                <a:solidFill>
                  <a:srgbClr val="34304F"/>
                </a:solidFill>
                <a:latin typeface="微软雅黑" panose="020B0503020204020204" charset="0"/>
                <a:ea typeface="微软雅黑" panose="020B0503020204020204" charset="0"/>
                <a:cs typeface="微软雅黑" panose="020B0503020204020204" charset="0"/>
                <a:sym typeface="Helvetica Neue Medium" panose="02000503000000020004"/>
              </a:rPr>
              <a:t>XDP</a:t>
            </a:r>
            <a:r>
              <a:rPr lang="zh-CN" altLang="en-US" sz="5900" b="1" dirty="0">
                <a:solidFill>
                  <a:srgbClr val="34304F"/>
                </a:solidFill>
                <a:latin typeface="微软雅黑" panose="020B0503020204020204" charset="0"/>
                <a:ea typeface="微软雅黑" panose="020B0503020204020204" charset="0"/>
                <a:cs typeface="微软雅黑" panose="020B0503020204020204" charset="0"/>
                <a:sym typeface="Helvetica Neue Medium" panose="02000503000000020004"/>
              </a:rPr>
              <a:t>运行</a:t>
            </a:r>
            <a:r>
              <a:rPr lang="zh-CN" altLang="en-US" sz="5900" b="1" dirty="0">
                <a:solidFill>
                  <a:srgbClr val="34304F"/>
                </a:solidFill>
                <a:latin typeface="微软雅黑" panose="020B0503020204020204" charset="0"/>
                <a:ea typeface="微软雅黑" panose="020B0503020204020204" charset="0"/>
                <a:cs typeface="微软雅黑" panose="020B0503020204020204" charset="0"/>
                <a:sym typeface="Helvetica Neue Medium" panose="02000503000000020004"/>
              </a:rPr>
              <a:t>位置</a:t>
            </a:r>
            <a:endParaRPr lang="zh-CN" altLang="en-US" sz="5900" b="1" dirty="0">
              <a:solidFill>
                <a:srgbClr val="34304F"/>
              </a:solidFill>
              <a:latin typeface="微软雅黑" panose="020B0503020204020204" charset="0"/>
              <a:ea typeface="微软雅黑" panose="020B0503020204020204" charset="0"/>
              <a:cs typeface="微软雅黑" panose="020B0503020204020204" charset="0"/>
              <a:sym typeface="Helvetica Neue Medium" panose="020005030000000200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5330" y="3896360"/>
            <a:ext cx="21079460" cy="592391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697163" y="12702858"/>
            <a:ext cx="5647055" cy="4705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50800" tIns="50800" rIns="50800" bIns="50800" numCol="1" spcCol="38100" rtlCol="0" anchor="ctr" forceAA="0">
            <a:sp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https://pantheon.tech/what-is-af_xdp/</a:t>
            </a:r>
            <a:endParaRPr kumimoji="0" lang="en-US" sz="24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9" name="连按此项以编辑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760" name="矩形"/>
          <p:cNvSpPr/>
          <p:nvPr/>
        </p:nvSpPr>
        <p:spPr>
          <a:xfrm>
            <a:off x="0" y="0"/>
            <a:ext cx="24384000" cy="11179969"/>
          </a:xfrm>
          <a:prstGeom prst="rect">
            <a:avLst/>
          </a:prstGeom>
          <a:gradFill>
            <a:gsLst>
              <a:gs pos="1408">
                <a:srgbClr val="69A7C8"/>
              </a:gs>
              <a:gs pos="100000">
                <a:srgbClr val="5A2EC3"/>
              </a:gs>
            </a:gsLst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>
                    <a:alpha val="63813"/>
                  </a:srgbClr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</a:p>
        </p:txBody>
      </p:sp>
      <p:pic>
        <p:nvPicPr>
          <p:cNvPr id="4761" name="图像" descr="图像"/>
          <p:cNvPicPr>
            <a:picLocks noChangeAspect="1"/>
          </p:cNvPicPr>
          <p:nvPr/>
        </p:nvPicPr>
        <p:blipFill>
          <a:blip r:embed="rId1">
            <a:alphaModFix amt="10000"/>
          </a:blip>
          <a:srcRect l="4977" t="5000" r="1925" b="19116"/>
          <a:stretch>
            <a:fillRect/>
          </a:stretch>
        </p:blipFill>
        <p:spPr>
          <a:xfrm>
            <a:off x="0" y="-7011"/>
            <a:ext cx="24384000" cy="1117983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762" name="Shape 120"/>
          <p:cNvSpPr txBox="1"/>
          <p:nvPr/>
        </p:nvSpPr>
        <p:spPr>
          <a:xfrm>
            <a:off x="945515" y="3327399"/>
            <a:ext cx="11194554" cy="23876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>
              <a:defRPr sz="15000" b="0">
                <a:solidFill>
                  <a:srgbClr val="FFFFFF"/>
                </a:solidFill>
                <a:latin typeface="微软雅黑" panose="020B0503020204020204"/>
                <a:ea typeface="微软雅黑" panose="020B0503020204020204"/>
                <a:cs typeface="微软雅黑" panose="020B0503020204020204"/>
                <a:sym typeface="微软雅黑" panose="020B0503020204020204"/>
              </a:defRPr>
            </a:lvl1pPr>
          </a:lstStyle>
          <a:p>
            <a:r>
              <a:t>THANK YOU</a:t>
            </a:r>
          </a:p>
        </p:txBody>
      </p:sp>
      <p:sp>
        <p:nvSpPr>
          <p:cNvPr id="4763" name="EASYSTACK CONFIDENTIAL"/>
          <p:cNvSpPr txBox="1"/>
          <p:nvPr/>
        </p:nvSpPr>
        <p:spPr>
          <a:xfrm>
            <a:off x="10071348" y="12702449"/>
            <a:ext cx="4241304" cy="469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2400" b="0">
                <a:solidFill>
                  <a:srgbClr val="424242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EASYSTACK CONFIDENTIAL</a:t>
            </a:r>
          </a:p>
        </p:txBody>
      </p:sp>
      <p:pic>
        <p:nvPicPr>
          <p:cNvPr id="2" name="Picture 1" descr="问卷星二维码海报 (29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9390" y="503555"/>
            <a:ext cx="6096000" cy="101727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 panose="02000503000000020004"/>
            <a:ea typeface="Helvetica Neue" panose="02000503000000020004"/>
            <a:cs typeface="Helvetica Neue" panose="02000503000000020004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 panose="02000503000000020004"/>
            <a:ea typeface="Helvetica Neue" panose="02000503000000020004"/>
            <a:cs typeface="Helvetica Neue" panose="02000503000000020004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 panose="02000503000000020004"/>
            <a:ea typeface="Helvetica Neue" panose="02000503000000020004"/>
            <a:cs typeface="Helvetica Neue" panose="02000503000000020004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1028</Words>
  <Application>WPS Presentation</Application>
  <PresentationFormat>Custom</PresentationFormat>
  <Paragraphs>71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8" baseType="lpstr">
      <vt:lpstr>Arial</vt:lpstr>
      <vt:lpstr>宋体</vt:lpstr>
      <vt:lpstr>Wingdings</vt:lpstr>
      <vt:lpstr>Helvetica Neue</vt:lpstr>
      <vt:lpstr>Helvetica Neue Medium</vt:lpstr>
      <vt:lpstr>Helvetica</vt:lpstr>
      <vt:lpstr>Helvetica Neue Light</vt:lpstr>
      <vt:lpstr>微软雅黑</vt:lpstr>
      <vt:lpstr>汉仪旗黑</vt:lpstr>
      <vt:lpstr>微软雅黑</vt:lpstr>
      <vt:lpstr>微软雅黑</vt:lpstr>
      <vt:lpstr>宋体</vt:lpstr>
      <vt:lpstr>汉仪书宋二KW</vt:lpstr>
      <vt:lpstr>Arial Unicode MS</vt:lpstr>
      <vt:lpstr>White</vt:lpstr>
      <vt:lpstr>1_White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巨枫 - EasyStack</cp:lastModifiedBy>
  <cp:revision>655</cp:revision>
  <dcterms:created xsi:type="dcterms:W3CDTF">2023-04-25T11:17:53Z</dcterms:created>
  <dcterms:modified xsi:type="dcterms:W3CDTF">2023-04-25T11:17:53Z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1033-4.6.1.7451</vt:lpwstr>
  </property>
  <property fmtid="{D5CDD505-2E9C-101B-9397-08002B2CF9AE}" pid="3" name="ICV">
    <vt:lpwstr>6CD223F7C6AE07ECC88F44644046A75F</vt:lpwstr>
  </property>
</Properties>
</file>