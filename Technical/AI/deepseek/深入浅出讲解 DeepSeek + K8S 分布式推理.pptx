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8.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1"/>
  </p:notesMasterIdLst>
  <p:handoutMasterIdLst>
    <p:handoutMasterId r:id="rId42"/>
  </p:handoutMasterIdLst>
  <p:sldIdLst>
    <p:sldId id="6951479" r:id="rId5"/>
    <p:sldId id="6951483" r:id="rId6"/>
    <p:sldId id="6951453" r:id="rId7"/>
    <p:sldId id="2147375676" r:id="rId8"/>
    <p:sldId id="2147375679" r:id="rId9"/>
    <p:sldId id="2147375681" r:id="rId10"/>
    <p:sldId id="2147375680" r:id="rId11"/>
    <p:sldId id="2147375667" r:id="rId12"/>
    <p:sldId id="2147375682" r:id="rId13"/>
    <p:sldId id="2147375671" r:id="rId14"/>
    <p:sldId id="2147375683" r:id="rId15"/>
    <p:sldId id="2147375697" r:id="rId16"/>
    <p:sldId id="2147375698" r:id="rId17"/>
    <p:sldId id="2147375685" r:id="rId18"/>
    <p:sldId id="2147375686" r:id="rId19"/>
    <p:sldId id="2147375668" r:id="rId20"/>
    <p:sldId id="2147375678" r:id="rId21"/>
    <p:sldId id="2147375687" r:id="rId22"/>
    <p:sldId id="2147375659" r:id="rId23"/>
    <p:sldId id="2147375699" r:id="rId24"/>
    <p:sldId id="2147375689" r:id="rId25"/>
    <p:sldId id="2147375706" r:id="rId26"/>
    <p:sldId id="2147375693" r:id="rId27"/>
    <p:sldId id="2147375700" r:id="rId28"/>
    <p:sldId id="2147375701" r:id="rId29"/>
    <p:sldId id="2147375695" r:id="rId30"/>
    <p:sldId id="2147375702" r:id="rId31"/>
    <p:sldId id="2147375688" r:id="rId32"/>
    <p:sldId id="2147375670" r:id="rId33"/>
    <p:sldId id="2147375703" r:id="rId34"/>
    <p:sldId id="2147375675" r:id="rId35"/>
    <p:sldId id="2147375704" r:id="rId36"/>
    <p:sldId id="2147375705" r:id="rId37"/>
    <p:sldId id="2147375674" r:id="rId38"/>
    <p:sldId id="2147375672" r:id="rId39"/>
    <p:sldId id="262" r:id="rId40"/>
  </p:sldIdLst>
  <p:sldSz cx="12192000" cy="6858000"/>
  <p:notesSz cx="6858000" cy="9144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4F78911-E14C-41C4-B900-00CC6742C282}">
          <p14:sldIdLst>
            <p14:sldId id="6951479"/>
            <p14:sldId id="6951483"/>
          </p14:sldIdLst>
        </p14:section>
        <p14:section name="1" id="{D87BE30D-D3C6-4214-B47D-A58F2BE3A42B}">
          <p14:sldIdLst>
            <p14:sldId id="6951453"/>
            <p14:sldId id="2147375676"/>
            <p14:sldId id="2147375679"/>
            <p14:sldId id="2147375681"/>
            <p14:sldId id="2147375680"/>
            <p14:sldId id="2147375667"/>
            <p14:sldId id="2147375682"/>
            <p14:sldId id="2147375671"/>
            <p14:sldId id="2147375683"/>
            <p14:sldId id="2147375697"/>
            <p14:sldId id="2147375698"/>
            <p14:sldId id="2147375685"/>
            <p14:sldId id="2147375686"/>
            <p14:sldId id="2147375668"/>
            <p14:sldId id="2147375678"/>
            <p14:sldId id="2147375687"/>
            <p14:sldId id="2147375659"/>
            <p14:sldId id="2147375699"/>
            <p14:sldId id="2147375689"/>
            <p14:sldId id="2147375706"/>
            <p14:sldId id="2147375693"/>
            <p14:sldId id="2147375700"/>
            <p14:sldId id="2147375701"/>
            <p14:sldId id="2147375695"/>
            <p14:sldId id="2147375702"/>
            <p14:sldId id="2147375688"/>
            <p14:sldId id="2147375670"/>
            <p14:sldId id="2147375703"/>
            <p14:sldId id="2147375675"/>
            <p14:sldId id="2147375704"/>
            <p14:sldId id="2147375705"/>
            <p14:sldId id="2147375674"/>
            <p14:sldId id="2147375672"/>
            <p14:sldId id="2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D15C"/>
    <a:srgbClr val="4BDC86"/>
    <a:srgbClr val="0DB04F"/>
    <a:srgbClr val="3D6F77"/>
    <a:srgbClr val="144951"/>
    <a:srgbClr val="7F7F7F"/>
    <a:srgbClr val="B8B8B8"/>
    <a:srgbClr val="333333"/>
    <a:srgbClr val="000000"/>
    <a:srgbClr val="10D0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8D1862-995F-8D29-493D-5E33AD7F3877}" v="3" dt="2024-05-16T07:04:10.481"/>
    <p1510:client id="{ADBC601A-B7DE-0662-42B4-6536C854EE0E}" v="1" dt="2024-05-16T08:22:29.916"/>
    <p1510:client id="{E4C921B4-756B-8F4F-B9D6-C979FC2013D3}" v="98" dt="2024-05-16T08:25:21.065"/>
  </p1510:revLst>
</p1510:revInfo>
</file>

<file path=ppt/tableStyles.xml><?xml version="1.0" encoding="utf-8"?>
<a:tblStyleLst xmlns:a="http://schemas.openxmlformats.org/drawingml/2006/main" def="{5C22544A-7EE6-4342-B048-85BDC9FD1C3A}">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7CE84F3-28C3-443E-9E96-99CF82512B78}" styleName="深色样式 1 - 强调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06" autoAdjust="0"/>
    <p:restoredTop sz="84611" autoAdjust="0"/>
  </p:normalViewPr>
  <p:slideViewPr>
    <p:cSldViewPr snapToGrid="0">
      <p:cViewPr varScale="1">
        <p:scale>
          <a:sx n="90" d="100"/>
          <a:sy n="90" d="100"/>
        </p:scale>
        <p:origin x="123" y="5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gs" Target="tags/tag1.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4740D1EC-5B83-1E41-8CAA-699A711A54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61075971-8B61-9346-9189-EA714DCA89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91746E-2635-B94E-BC78-E8F5EF0D78BA}" type="datetimeFigureOut">
              <a:rPr kumimoji="1" lang="zh-CN" altLang="en-US" smtClean="0">
                <a:latin typeface="Microsoft YaHei" panose="020B0503020204020204" pitchFamily="34" charset="-122"/>
                <a:ea typeface="Microsoft YaHei" panose="020B0503020204020204" pitchFamily="34" charset="-122"/>
              </a:rPr>
              <a:t>2025/7/18</a:t>
            </a:fld>
            <a:endParaRPr kumimoji="1" lang="zh-CN" altLang="en-US">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C55F3BBE-9C7A-F94A-AAB8-4738CE00582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05B4F3E1-336C-6F4B-B964-B3123C8EA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18BD94-E079-A44D-81B6-C4F318B39CD8}"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154833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582A3D24-6083-4546-8C6D-DEE86BAAAE49}" type="datetimeFigureOut">
              <a:rPr lang="zh-CN" altLang="en-US" smtClean="0"/>
              <a:pPr/>
              <a:t>2025/7/18</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A3ED8765-8EF3-408C-9341-152904E414ED}" type="slidenum">
              <a:rPr lang="zh-CN" altLang="en-US" smtClean="0"/>
              <a:pPr/>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pPr/>
              <a:t>15</a:t>
            </a:fld>
            <a:endParaRPr lang="zh-CN" altLang="en-US"/>
          </a:p>
        </p:txBody>
      </p:sp>
    </p:spTree>
    <p:extLst>
      <p:ext uri="{BB962C8B-B14F-4D97-AF65-F5344CB8AC3E}">
        <p14:creationId xmlns:p14="http://schemas.microsoft.com/office/powerpoint/2010/main" val="54671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pPr/>
              <a:t>27</a:t>
            </a:fld>
            <a:endParaRPr lang="zh-CN" altLang="en-US"/>
          </a:p>
        </p:txBody>
      </p:sp>
    </p:spTree>
    <p:extLst>
      <p:ext uri="{BB962C8B-B14F-4D97-AF65-F5344CB8AC3E}">
        <p14:creationId xmlns:p14="http://schemas.microsoft.com/office/powerpoint/2010/main" val="511768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pPr/>
              <a:t>28</a:t>
            </a:fld>
            <a:endParaRPr lang="zh-CN" altLang="en-US"/>
          </a:p>
        </p:txBody>
      </p:sp>
    </p:spTree>
    <p:extLst>
      <p:ext uri="{BB962C8B-B14F-4D97-AF65-F5344CB8AC3E}">
        <p14:creationId xmlns:p14="http://schemas.microsoft.com/office/powerpoint/2010/main" val="1971396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pPr/>
              <a:t>32</a:t>
            </a:fld>
            <a:endParaRPr lang="zh-CN" altLang="en-US"/>
          </a:p>
        </p:txBody>
      </p:sp>
    </p:spTree>
    <p:extLst>
      <p:ext uri="{BB962C8B-B14F-4D97-AF65-F5344CB8AC3E}">
        <p14:creationId xmlns:p14="http://schemas.microsoft.com/office/powerpoint/2010/main" val="922409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_Cover">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1DF19015-04C3-6941-B151-ADA74CF355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399" y="2018505"/>
            <a:ext cx="7882709" cy="1602719"/>
          </a:xfrm>
        </p:spPr>
        <p:txBody>
          <a:bodyPr vert="horz" lIns="91440" tIns="45720" rIns="91440" bIns="45720" rtlCol="0" anchor="b">
            <a:noAutofit/>
          </a:bodyPr>
          <a:lstStyle>
            <a:lvl1pPr>
              <a:lnSpc>
                <a:spcPct val="100000"/>
              </a:lnSpc>
              <a:spcBef>
                <a:spcPts val="1500"/>
              </a:spcBef>
              <a:defRPr lang="zh-CN" altLang="en-US" sz="4000" b="1" spc="100" baseline="0" dirty="0">
                <a:solidFill>
                  <a:schemeClr val="tx1"/>
                </a:solidFill>
                <a:latin typeface="+mj-lt"/>
                <a:ea typeface="+mj-ea"/>
              </a:defRPr>
            </a:lvl1pPr>
          </a:lstStyle>
          <a:p>
            <a:pPr lvl="0" defTabSz="914354"/>
            <a:r>
              <a:rPr lang="zh-CN" altLang="en-US"/>
              <a:t>主标题 </a:t>
            </a:r>
            <a:r>
              <a:rPr lang="en-US" altLang="zh-CN"/>
              <a:t>Click to edit </a:t>
            </a:r>
            <a:br>
              <a:rPr lang="en-US" altLang="zh-CN"/>
            </a:br>
            <a:r>
              <a:rPr lang="en-US" altLang="zh-CN"/>
              <a:t>Master title style</a:t>
            </a:r>
            <a:endParaRPr lang="zh-CN" altLang="en-US"/>
          </a:p>
        </p:txBody>
      </p:sp>
      <p:sp>
        <p:nvSpPr>
          <p:cNvPr id="3" name="副标题 2">
            <a:extLst>
              <a:ext uri="{FF2B5EF4-FFF2-40B4-BE49-F238E27FC236}">
                <a16:creationId xmlns:a16="http://schemas.microsoft.com/office/drawing/2014/main" id="{42DDB65F-C302-4F35-9CCB-12FB82E2590D}"/>
              </a:ext>
            </a:extLst>
          </p:cNvPr>
          <p:cNvSpPr>
            <a:spLocks noGrp="1"/>
          </p:cNvSpPr>
          <p:nvPr>
            <p:ph type="subTitle" idx="1" hasCustomPrompt="1"/>
          </p:nvPr>
        </p:nvSpPr>
        <p:spPr>
          <a:xfrm>
            <a:off x="660399" y="3860757"/>
            <a:ext cx="7882709" cy="535853"/>
          </a:xfrm>
        </p:spPr>
        <p:txBody>
          <a:bodyPr vert="horz" lIns="91440" tIns="45720" rIns="91440" bIns="45720" rtlCol="0" anchor="t">
            <a:normAutofit/>
          </a:bodyPr>
          <a:lstStyle>
            <a:lvl1pPr marL="0" indent="0">
              <a:spcBef>
                <a:spcPts val="0"/>
              </a:spcBef>
              <a:buFont typeface="+mj-lt"/>
              <a:buNone/>
              <a:defRPr lang="zh-CN" altLang="en-US" sz="1600">
                <a:solidFill>
                  <a:schemeClr val="tx1"/>
                </a:solidFill>
                <a:latin typeface="+mj-lt"/>
                <a:ea typeface="+mj-ea"/>
              </a:defRPr>
            </a:lvl1pPr>
          </a:lstStyle>
          <a:p>
            <a:pPr marL="228600" lvl="0" indent="-228600" defTabSz="914354"/>
            <a:r>
              <a:rPr lang="zh-CN" altLang="en-US"/>
              <a:t>副标题 </a:t>
            </a:r>
            <a:r>
              <a:rPr lang="en-US" altLang="zh-CN"/>
              <a:t>Click to edit Master subtitle style</a:t>
            </a:r>
            <a:endParaRPr lang="zh-CN" altLang="en-US"/>
          </a:p>
        </p:txBody>
      </p:sp>
      <p:pic>
        <p:nvPicPr>
          <p:cNvPr id="5" name="图片 4">
            <a:extLst>
              <a:ext uri="{FF2B5EF4-FFF2-40B4-BE49-F238E27FC236}">
                <a16:creationId xmlns:a16="http://schemas.microsoft.com/office/drawing/2014/main" id="{62C0AE3A-EA85-7944-9C27-6C6AA0CFAA8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99139" y="335974"/>
            <a:ext cx="1831368" cy="586038"/>
          </a:xfrm>
          <a:prstGeom prst="rect">
            <a:avLst/>
          </a:prstGeom>
        </p:spPr>
      </p:pic>
      <p:sp>
        <p:nvSpPr>
          <p:cNvPr id="10" name="文本框 9">
            <a:extLst>
              <a:ext uri="{FF2B5EF4-FFF2-40B4-BE49-F238E27FC236}">
                <a16:creationId xmlns:a16="http://schemas.microsoft.com/office/drawing/2014/main" id="{085D0F65-D2D7-5841-99E4-3A5212CBDA27}"/>
              </a:ext>
            </a:extLst>
          </p:cNvPr>
          <p:cNvSpPr txBox="1"/>
          <p:nvPr userDrawn="1"/>
        </p:nvSpPr>
        <p:spPr>
          <a:xfrm>
            <a:off x="538841" y="6438901"/>
            <a:ext cx="3216729" cy="369332"/>
          </a:xfrm>
          <a:prstGeom prst="rect">
            <a:avLst/>
          </a:prstGeom>
        </p:spPr>
        <p:txBody>
          <a:bodyPr vert="horz" lIns="91440" tIns="45720" rIns="91440" bIns="45720" rtlCol="0" anchor="ctr"/>
          <a:lstStyle>
            <a:defPPr>
              <a:defRPr lang="zh-CN"/>
            </a:defPPr>
            <a:lvl1pPr>
              <a:defRPr sz="900" spc="600">
                <a:solidFill>
                  <a:schemeClr val="tx1">
                    <a:lumMod val="65000"/>
                  </a:schemeClr>
                </a:solidFill>
              </a:defRPr>
            </a:lvl1pPr>
          </a:lstStyle>
          <a:p>
            <a:pPr lvl="0"/>
            <a:r>
              <a:rPr lang="zh-CN" altLang="en-US"/>
              <a:t>为数字世界寻找全局最优解</a:t>
            </a:r>
          </a:p>
          <a:p>
            <a:pPr lvl="0"/>
            <a:endParaRPr lang="zh-CN" altLang="en-US"/>
          </a:p>
        </p:txBody>
      </p:sp>
      <p:pic>
        <p:nvPicPr>
          <p:cNvPr id="4" name="图片 3">
            <a:extLst>
              <a:ext uri="{FF2B5EF4-FFF2-40B4-BE49-F238E27FC236}">
                <a16:creationId xmlns:a16="http://schemas.microsoft.com/office/drawing/2014/main" id="{E876C8F5-3A7C-C97B-6451-87AE3BB3AEC3}"/>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490471" y="6430428"/>
            <a:ext cx="1396294" cy="216000"/>
          </a:xfrm>
          <a:prstGeom prst="rect">
            <a:avLst/>
          </a:prstGeom>
        </p:spPr>
      </p:pic>
    </p:spTree>
    <p:extLst>
      <p:ext uri="{BB962C8B-B14F-4D97-AF65-F5344CB8AC3E}">
        <p14:creationId xmlns:p14="http://schemas.microsoft.com/office/powerpoint/2010/main" val="3218541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目录页_Content">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0B9F0F9-E56B-AE45-9505-8FD661458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a:extLst>
              <a:ext uri="{FF2B5EF4-FFF2-40B4-BE49-F238E27FC236}">
                <a16:creationId xmlns:a16="http://schemas.microsoft.com/office/drawing/2014/main" id="{000C7662-4F6D-4B06-BB36-235FC06BF816}"/>
              </a:ext>
            </a:extLst>
          </p:cNvPr>
          <p:cNvSpPr>
            <a:spLocks noGrp="1"/>
          </p:cNvSpPr>
          <p:nvPr>
            <p:ph type="title" hasCustomPrompt="1"/>
          </p:nvPr>
        </p:nvSpPr>
        <p:spPr>
          <a:xfrm>
            <a:off x="2011951" y="3282546"/>
            <a:ext cx="3279577" cy="644573"/>
          </a:xfrm>
        </p:spPr>
        <p:txBody>
          <a:bodyPr vert="horz" lIns="91440" tIns="45720" rIns="91440" bIns="45720" rtlCol="0" anchor="b">
            <a:noAutofit/>
          </a:bodyPr>
          <a:lstStyle>
            <a:lvl1pPr>
              <a:lnSpc>
                <a:spcPct val="100000"/>
              </a:lnSpc>
              <a:defRPr lang="zh-CN" altLang="en-US" sz="4000">
                <a:solidFill>
                  <a:schemeClr val="tx1"/>
                </a:solidFill>
                <a:latin typeface="+mj-lt"/>
                <a:ea typeface="+mj-ea"/>
              </a:defRPr>
            </a:lvl1pPr>
          </a:lstStyle>
          <a:p>
            <a:pPr lvl="0" defTabSz="914354"/>
            <a:r>
              <a:rPr lang="zh-CN" altLang="en-US"/>
              <a:t>更改目录名称</a:t>
            </a:r>
          </a:p>
        </p:txBody>
      </p:sp>
      <p:pic>
        <p:nvPicPr>
          <p:cNvPr id="4" name="图片 3">
            <a:extLst>
              <a:ext uri="{FF2B5EF4-FFF2-40B4-BE49-F238E27FC236}">
                <a16:creationId xmlns:a16="http://schemas.microsoft.com/office/drawing/2014/main" id="{8037E834-47D8-8A08-522D-FEE296BEB51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90471" y="6430428"/>
            <a:ext cx="1396294" cy="216000"/>
          </a:xfrm>
          <a:prstGeom prst="rect">
            <a:avLst/>
          </a:prstGeom>
        </p:spPr>
      </p:pic>
      <p:sp>
        <p:nvSpPr>
          <p:cNvPr id="7" name="文本占位符 2">
            <a:extLst>
              <a:ext uri="{FF2B5EF4-FFF2-40B4-BE49-F238E27FC236}">
                <a16:creationId xmlns:a16="http://schemas.microsoft.com/office/drawing/2014/main" id="{7BAEC6E4-FC2F-9045-BDCB-7F86AD87230C}"/>
              </a:ext>
            </a:extLst>
          </p:cNvPr>
          <p:cNvSpPr>
            <a:spLocks noGrp="1"/>
          </p:cNvSpPr>
          <p:nvPr>
            <p:ph type="body" idx="11" hasCustomPrompt="1"/>
          </p:nvPr>
        </p:nvSpPr>
        <p:spPr>
          <a:xfrm>
            <a:off x="2011952" y="2384936"/>
            <a:ext cx="2659847" cy="897610"/>
          </a:xfrm>
        </p:spPr>
        <p:txBody>
          <a:bodyPr>
            <a:noAutofit/>
          </a:bodyPr>
          <a:lstStyle>
            <a:lvl1pPr marL="0" indent="0">
              <a:lnSpc>
                <a:spcPct val="135000"/>
              </a:lnSpc>
              <a:spcBef>
                <a:spcPts val="1500"/>
              </a:spcBef>
              <a:buNone/>
              <a:defRPr lang="en-US" altLang="zh-CN" sz="3600" b="1" kern="1200">
                <a:solidFill>
                  <a:schemeClr val="accent1"/>
                </a:solidFill>
                <a:latin typeface="+mj-lt"/>
                <a:ea typeface="+mj-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Content</a:t>
            </a:r>
          </a:p>
        </p:txBody>
      </p:sp>
      <p:sp>
        <p:nvSpPr>
          <p:cNvPr id="13" name="文本占位符 12">
            <a:extLst>
              <a:ext uri="{FF2B5EF4-FFF2-40B4-BE49-F238E27FC236}">
                <a16:creationId xmlns:a16="http://schemas.microsoft.com/office/drawing/2014/main" id="{BE3385C4-B45A-934A-AAF2-FBC6E44FF7EC}"/>
              </a:ext>
            </a:extLst>
          </p:cNvPr>
          <p:cNvSpPr>
            <a:spLocks noGrp="1"/>
          </p:cNvSpPr>
          <p:nvPr>
            <p:ph type="body" sz="quarter" idx="12" hasCustomPrompt="1"/>
          </p:nvPr>
        </p:nvSpPr>
        <p:spPr>
          <a:xfrm>
            <a:off x="5576888" y="211572"/>
            <a:ext cx="6310312" cy="6054291"/>
          </a:xfrm>
        </p:spPr>
        <p:txBody>
          <a:bodyPr anchor="ctr">
            <a:normAutofit/>
          </a:bodyPr>
          <a:lstStyle>
            <a:lvl1pPr marL="162900" indent="-540000">
              <a:lnSpc>
                <a:spcPct val="250000"/>
              </a:lnSpc>
              <a:buSzPct val="200000"/>
              <a:buFont typeface="+mj-lt"/>
              <a:buAutoNum type="arabicPeriod"/>
              <a:defRPr sz="2000" b="1">
                <a:latin typeface="+mj-lt"/>
                <a:ea typeface="+mj-ea"/>
              </a:defRPr>
            </a:lvl1pPr>
            <a:lvl2pPr marL="800100" indent="-342900">
              <a:buFont typeface="+mj-lt"/>
              <a:buAutoNum type="arabicPeriod"/>
              <a:defRPr/>
            </a:lvl2pPr>
            <a:lvl3pPr marL="1257300" indent="-342900">
              <a:buFont typeface="+mj-lt"/>
              <a:buAutoNum type="arabicPeriod"/>
              <a:defRPr/>
            </a:lvl3pPr>
            <a:lvl4pPr marL="1714500" indent="-342900">
              <a:buFont typeface="+mj-lt"/>
              <a:buAutoNum type="arabicPeriod"/>
              <a:defRPr/>
            </a:lvl4pPr>
            <a:lvl5pPr marL="2171700" indent="-342900">
              <a:buFont typeface="+mj-lt"/>
              <a:buAutoNum type="arabicPeriod"/>
              <a:defRPr/>
            </a:lvl5pPr>
          </a:lstStyle>
          <a:p>
            <a:pPr lvl="0"/>
            <a:r>
              <a:rPr kumimoji="1" lang="zh-CN" altLang="en-US"/>
              <a:t>章节标题</a:t>
            </a:r>
            <a:endParaRPr kumimoji="1" lang="en-US" altLang="zh-CN"/>
          </a:p>
          <a:p>
            <a:pPr lvl="0"/>
            <a:r>
              <a:rPr kumimoji="1" lang="zh-CN" altLang="en-US"/>
              <a:t>章节标题</a:t>
            </a:r>
            <a:endParaRPr kumimoji="1" lang="en-US" altLang="zh-CN"/>
          </a:p>
          <a:p>
            <a:pPr lvl="0"/>
            <a:r>
              <a:rPr kumimoji="1" lang="zh-CN" altLang="en-US"/>
              <a:t>章节标题</a:t>
            </a:r>
          </a:p>
        </p:txBody>
      </p:sp>
    </p:spTree>
    <p:extLst>
      <p:ext uri="{BB962C8B-B14F-4D97-AF65-F5344CB8AC3E}">
        <p14:creationId xmlns:p14="http://schemas.microsoft.com/office/powerpoint/2010/main" val="3410768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节页_Section page">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0B9F0F9-E56B-AE45-9505-8FD661458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a:extLst>
              <a:ext uri="{FF2B5EF4-FFF2-40B4-BE49-F238E27FC236}">
                <a16:creationId xmlns:a16="http://schemas.microsoft.com/office/drawing/2014/main" id="{000C7662-4F6D-4B06-BB36-235FC06BF816}"/>
              </a:ext>
            </a:extLst>
          </p:cNvPr>
          <p:cNvSpPr>
            <a:spLocks noGrp="1"/>
          </p:cNvSpPr>
          <p:nvPr>
            <p:ph type="title" hasCustomPrompt="1"/>
          </p:nvPr>
        </p:nvSpPr>
        <p:spPr>
          <a:xfrm>
            <a:off x="5063682" y="3039477"/>
            <a:ext cx="6540641" cy="644573"/>
          </a:xfrm>
        </p:spPr>
        <p:txBody>
          <a:bodyPr vert="horz" lIns="91440" tIns="45720" rIns="91440" bIns="45720" rtlCol="0" anchor="b">
            <a:noAutofit/>
          </a:bodyPr>
          <a:lstStyle>
            <a:lvl1pPr>
              <a:lnSpc>
                <a:spcPct val="100000"/>
              </a:lnSpc>
              <a:defRPr lang="zh-CN" altLang="en-US" sz="3200">
                <a:solidFill>
                  <a:schemeClr val="tx1"/>
                </a:solidFill>
                <a:latin typeface="+mj-lt"/>
                <a:ea typeface="+mj-ea"/>
              </a:defRPr>
            </a:lvl1pPr>
          </a:lstStyle>
          <a:p>
            <a:pPr lvl="0" defTabSz="914354"/>
            <a:r>
              <a:rPr lang="zh-CN" altLang="en-US"/>
              <a:t>章节标题 </a:t>
            </a:r>
            <a:r>
              <a:rPr lang="en-US" altLang="zh-CN"/>
              <a:t>Click to add title</a:t>
            </a:r>
            <a:endParaRPr lang="zh-CN" altLang="en-US"/>
          </a:p>
        </p:txBody>
      </p:sp>
      <p:sp>
        <p:nvSpPr>
          <p:cNvPr id="3" name="文本占位符 2">
            <a:extLst>
              <a:ext uri="{FF2B5EF4-FFF2-40B4-BE49-F238E27FC236}">
                <a16:creationId xmlns:a16="http://schemas.microsoft.com/office/drawing/2014/main" id="{9FF9930E-40DF-417D-8161-BD38EB172DC1}"/>
              </a:ext>
            </a:extLst>
          </p:cNvPr>
          <p:cNvSpPr>
            <a:spLocks noGrp="1"/>
          </p:cNvSpPr>
          <p:nvPr>
            <p:ph type="body" idx="1" hasCustomPrompt="1"/>
          </p:nvPr>
        </p:nvSpPr>
        <p:spPr>
          <a:xfrm>
            <a:off x="5063682" y="3719850"/>
            <a:ext cx="5398007" cy="505084"/>
          </a:xfrm>
        </p:spPr>
        <p:txBody>
          <a:bodyPr>
            <a:normAutofit/>
          </a:bodyPr>
          <a:lstStyle>
            <a:lvl1pPr marL="0" indent="0">
              <a:lnSpc>
                <a:spcPct val="135000"/>
              </a:lnSpc>
              <a:spcBef>
                <a:spcPts val="1500"/>
              </a:spcBef>
              <a:buNone/>
              <a:defRPr lang="en-US" altLang="zh-CN" sz="1400" kern="1200">
                <a:solidFill>
                  <a:schemeClr val="tx1"/>
                </a:solidFill>
                <a:latin typeface="+mj-lt"/>
                <a:ea typeface="+mj-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章节副标题 </a:t>
            </a:r>
            <a:r>
              <a:rPr lang="en-US" altLang="zh-CN"/>
              <a:t>Click to edit Master text styles</a:t>
            </a:r>
          </a:p>
        </p:txBody>
      </p:sp>
      <p:pic>
        <p:nvPicPr>
          <p:cNvPr id="4" name="图片 3">
            <a:extLst>
              <a:ext uri="{FF2B5EF4-FFF2-40B4-BE49-F238E27FC236}">
                <a16:creationId xmlns:a16="http://schemas.microsoft.com/office/drawing/2014/main" id="{8037E834-47D8-8A08-522D-FEE296BEB51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90471" y="6430428"/>
            <a:ext cx="1396294" cy="216000"/>
          </a:xfrm>
          <a:prstGeom prst="rect">
            <a:avLst/>
          </a:prstGeom>
        </p:spPr>
      </p:pic>
      <p:sp>
        <p:nvSpPr>
          <p:cNvPr id="6" name="文本占位符 2">
            <a:extLst>
              <a:ext uri="{FF2B5EF4-FFF2-40B4-BE49-F238E27FC236}">
                <a16:creationId xmlns:a16="http://schemas.microsoft.com/office/drawing/2014/main" id="{55F77487-F10D-0649-8965-89F07F6D3527}"/>
              </a:ext>
            </a:extLst>
          </p:cNvPr>
          <p:cNvSpPr>
            <a:spLocks noGrp="1"/>
          </p:cNvSpPr>
          <p:nvPr>
            <p:ph type="body" idx="10" hasCustomPrompt="1"/>
          </p:nvPr>
        </p:nvSpPr>
        <p:spPr>
          <a:xfrm>
            <a:off x="5063682" y="2121884"/>
            <a:ext cx="1485117" cy="897610"/>
          </a:xfrm>
        </p:spPr>
        <p:txBody>
          <a:bodyPr>
            <a:noAutofit/>
          </a:bodyPr>
          <a:lstStyle>
            <a:lvl1pPr marL="0" indent="0">
              <a:lnSpc>
                <a:spcPct val="135000"/>
              </a:lnSpc>
              <a:spcBef>
                <a:spcPts val="1500"/>
              </a:spcBef>
              <a:buNone/>
              <a:defRPr lang="en-US" altLang="zh-CN" sz="4800" b="1" kern="1200">
                <a:solidFill>
                  <a:schemeClr val="tx1"/>
                </a:solidFill>
                <a:latin typeface="+mj-lt"/>
                <a:ea typeface="+mj-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Part</a:t>
            </a:r>
          </a:p>
        </p:txBody>
      </p:sp>
      <p:sp>
        <p:nvSpPr>
          <p:cNvPr id="7" name="文本占位符 2">
            <a:extLst>
              <a:ext uri="{FF2B5EF4-FFF2-40B4-BE49-F238E27FC236}">
                <a16:creationId xmlns:a16="http://schemas.microsoft.com/office/drawing/2014/main" id="{7BAEC6E4-FC2F-9045-BDCB-7F86AD87230C}"/>
              </a:ext>
            </a:extLst>
          </p:cNvPr>
          <p:cNvSpPr>
            <a:spLocks noGrp="1"/>
          </p:cNvSpPr>
          <p:nvPr>
            <p:ph type="body" idx="11" hasCustomPrompt="1"/>
          </p:nvPr>
        </p:nvSpPr>
        <p:spPr>
          <a:xfrm>
            <a:off x="6568533" y="2116617"/>
            <a:ext cx="1485117" cy="897610"/>
          </a:xfrm>
        </p:spPr>
        <p:txBody>
          <a:bodyPr>
            <a:noAutofit/>
          </a:bodyPr>
          <a:lstStyle>
            <a:lvl1pPr marL="0" indent="0">
              <a:lnSpc>
                <a:spcPct val="135000"/>
              </a:lnSpc>
              <a:spcBef>
                <a:spcPts val="1500"/>
              </a:spcBef>
              <a:buNone/>
              <a:defRPr lang="en-US" altLang="zh-CN" sz="4800" b="1" kern="1200">
                <a:solidFill>
                  <a:schemeClr val="accent1"/>
                </a:solidFill>
                <a:latin typeface="+mj-lt"/>
                <a:ea typeface="+mj-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01</a:t>
            </a:r>
          </a:p>
        </p:txBody>
      </p:sp>
    </p:spTree>
    <p:extLst>
      <p:ext uri="{BB962C8B-B14F-4D97-AF65-F5344CB8AC3E}">
        <p14:creationId xmlns:p14="http://schemas.microsoft.com/office/powerpoint/2010/main" val="2548683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副章节页_Sub section page">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FF306A3-FE5F-D217-E363-EB257E3F95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2" name="矩形 41">
            <a:extLst>
              <a:ext uri="{FF2B5EF4-FFF2-40B4-BE49-F238E27FC236}">
                <a16:creationId xmlns:a16="http://schemas.microsoft.com/office/drawing/2014/main" id="{A587B265-C2CB-09AA-B09F-F41C7466F3DF}"/>
              </a:ext>
            </a:extLst>
          </p:cNvPr>
          <p:cNvSpPr/>
          <p:nvPr userDrawn="1"/>
        </p:nvSpPr>
        <p:spPr>
          <a:xfrm>
            <a:off x="485065" y="992362"/>
            <a:ext cx="5040000" cy="2592000"/>
          </a:xfrm>
          <a:prstGeom prst="rect">
            <a:avLst/>
          </a:prstGeom>
          <a:solidFill>
            <a:srgbClr val="00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标题 1">
            <a:extLst>
              <a:ext uri="{FF2B5EF4-FFF2-40B4-BE49-F238E27FC236}">
                <a16:creationId xmlns:a16="http://schemas.microsoft.com/office/drawing/2014/main" id="{74785802-2053-93B2-64DA-54F9DAAAD5EB}"/>
              </a:ext>
            </a:extLst>
          </p:cNvPr>
          <p:cNvSpPr>
            <a:spLocks noGrp="1"/>
          </p:cNvSpPr>
          <p:nvPr>
            <p:ph type="title" hasCustomPrompt="1"/>
          </p:nvPr>
        </p:nvSpPr>
        <p:spPr>
          <a:xfrm>
            <a:off x="653045" y="2137835"/>
            <a:ext cx="4680000" cy="461665"/>
          </a:xfrm>
        </p:spPr>
        <p:txBody>
          <a:bodyPr vert="horz" wrap="square" lIns="91440" tIns="45720" rIns="91440" bIns="45720" rtlCol="0" anchor="b">
            <a:spAutoFit/>
          </a:bodyPr>
          <a:lstStyle>
            <a:lvl1pPr>
              <a:lnSpc>
                <a:spcPct val="100000"/>
              </a:lnSpc>
              <a:defRPr lang="zh-CN" altLang="en-US" sz="2400">
                <a:solidFill>
                  <a:schemeClr val="tx1"/>
                </a:solidFill>
                <a:latin typeface="+mj-lt"/>
                <a:ea typeface="+mj-ea"/>
              </a:defRPr>
            </a:lvl1pPr>
          </a:lstStyle>
          <a:p>
            <a:pPr lvl="0" defTabSz="914354"/>
            <a:r>
              <a:rPr lang="zh-CN" altLang="en-US"/>
              <a:t>章节标题 </a:t>
            </a:r>
            <a:r>
              <a:rPr lang="en-US" altLang="zh-CN"/>
              <a:t>Click to add title</a:t>
            </a:r>
            <a:endParaRPr lang="zh-CN" altLang="en-US"/>
          </a:p>
        </p:txBody>
      </p:sp>
      <p:sp>
        <p:nvSpPr>
          <p:cNvPr id="44" name="文本占位符 2">
            <a:extLst>
              <a:ext uri="{FF2B5EF4-FFF2-40B4-BE49-F238E27FC236}">
                <a16:creationId xmlns:a16="http://schemas.microsoft.com/office/drawing/2014/main" id="{72A16398-11AE-3935-E719-578C4DA9CF20}"/>
              </a:ext>
            </a:extLst>
          </p:cNvPr>
          <p:cNvSpPr>
            <a:spLocks noGrp="1"/>
          </p:cNvSpPr>
          <p:nvPr>
            <p:ph type="body" idx="1" hasCustomPrompt="1"/>
          </p:nvPr>
        </p:nvSpPr>
        <p:spPr>
          <a:xfrm>
            <a:off x="653045" y="2633822"/>
            <a:ext cx="4680000" cy="642163"/>
          </a:xfrm>
        </p:spPr>
        <p:txBody>
          <a:bodyPr wrap="square">
            <a:spAutoFit/>
          </a:bodyPr>
          <a:lstStyle>
            <a:lvl1pPr marL="0" indent="0">
              <a:lnSpc>
                <a:spcPct val="135000"/>
              </a:lnSpc>
              <a:spcBef>
                <a:spcPts val="0"/>
              </a:spcBef>
              <a:buNone/>
              <a:defRPr lang="en-US" altLang="zh-CN" sz="1400" kern="1200">
                <a:solidFill>
                  <a:schemeClr val="tx1"/>
                </a:solidFill>
                <a:latin typeface="+mj-lt"/>
                <a:ea typeface="+mj-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marR="0" lvl="0" indent="0" algn="l" defTabSz="914400" rtl="0" eaLnBrk="1" fontAlgn="auto" latinLnBrk="0" hangingPunct="1">
              <a:lnSpc>
                <a:spcPct val="135000"/>
              </a:lnSpc>
              <a:spcBef>
                <a:spcPts val="1500"/>
              </a:spcBef>
              <a:spcAft>
                <a:spcPts val="0"/>
              </a:spcAft>
              <a:buClrTx/>
              <a:buSzTx/>
              <a:buFont typeface="Arial" panose="020B0604020202020204" pitchFamily="34" charset="0"/>
              <a:buNone/>
              <a:tabLst/>
              <a:defRPr/>
            </a:pPr>
            <a:r>
              <a:rPr lang="zh-CN" altLang="en-US"/>
              <a:t>章节副标题 </a:t>
            </a:r>
            <a:r>
              <a:rPr lang="en-US" altLang="zh-CN"/>
              <a:t>Click to edit Master text styles</a:t>
            </a:r>
            <a:r>
              <a:rPr lang="zh-CN" altLang="en-US"/>
              <a:t>章节副标题 </a:t>
            </a:r>
            <a:r>
              <a:rPr lang="en-US" altLang="zh-CN"/>
              <a:t>Click to edit Master text styles</a:t>
            </a:r>
          </a:p>
        </p:txBody>
      </p:sp>
      <p:sp>
        <p:nvSpPr>
          <p:cNvPr id="45" name="文本占位符 2">
            <a:extLst>
              <a:ext uri="{FF2B5EF4-FFF2-40B4-BE49-F238E27FC236}">
                <a16:creationId xmlns:a16="http://schemas.microsoft.com/office/drawing/2014/main" id="{FA454791-C5FF-A729-ABD1-C9F6058BB318}"/>
              </a:ext>
            </a:extLst>
          </p:cNvPr>
          <p:cNvSpPr>
            <a:spLocks noGrp="1"/>
          </p:cNvSpPr>
          <p:nvPr>
            <p:ph type="body" idx="10" hasCustomPrompt="1"/>
          </p:nvPr>
        </p:nvSpPr>
        <p:spPr>
          <a:xfrm>
            <a:off x="653046" y="1190349"/>
            <a:ext cx="1256435" cy="832344"/>
          </a:xfrm>
        </p:spPr>
        <p:txBody>
          <a:bodyPr>
            <a:spAutoFit/>
          </a:bodyPr>
          <a:lstStyle>
            <a:lvl1pPr marL="0" indent="0">
              <a:lnSpc>
                <a:spcPct val="135000"/>
              </a:lnSpc>
              <a:spcBef>
                <a:spcPts val="1500"/>
              </a:spcBef>
              <a:buNone/>
              <a:defRPr lang="en-US" altLang="zh-CN" sz="4000" b="1" kern="1200">
                <a:solidFill>
                  <a:schemeClr val="tx1"/>
                </a:solidFill>
                <a:latin typeface="+mj-lt"/>
                <a:ea typeface="+mj-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Part</a:t>
            </a:r>
          </a:p>
        </p:txBody>
      </p:sp>
      <p:sp>
        <p:nvSpPr>
          <p:cNvPr id="46" name="文本占位符 2">
            <a:extLst>
              <a:ext uri="{FF2B5EF4-FFF2-40B4-BE49-F238E27FC236}">
                <a16:creationId xmlns:a16="http://schemas.microsoft.com/office/drawing/2014/main" id="{28A5ACF7-1001-1454-F1B9-D45AB845D5B2}"/>
              </a:ext>
            </a:extLst>
          </p:cNvPr>
          <p:cNvSpPr>
            <a:spLocks noGrp="1"/>
          </p:cNvSpPr>
          <p:nvPr>
            <p:ph type="body" idx="11" hasCustomPrompt="1"/>
          </p:nvPr>
        </p:nvSpPr>
        <p:spPr>
          <a:xfrm>
            <a:off x="1909481" y="1190349"/>
            <a:ext cx="3423564" cy="832344"/>
          </a:xfrm>
        </p:spPr>
        <p:txBody>
          <a:bodyPr wrap="square">
            <a:spAutoFit/>
          </a:bodyPr>
          <a:lstStyle>
            <a:lvl1pPr marL="0" indent="0">
              <a:lnSpc>
                <a:spcPct val="135000"/>
              </a:lnSpc>
              <a:spcBef>
                <a:spcPts val="1500"/>
              </a:spcBef>
              <a:buNone/>
              <a:defRPr lang="en-US" altLang="zh-CN" sz="4000" b="1" kern="1200">
                <a:solidFill>
                  <a:schemeClr val="accent1"/>
                </a:solidFill>
                <a:latin typeface="+mj-lt"/>
                <a:ea typeface="+mj-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02-01</a:t>
            </a:r>
          </a:p>
        </p:txBody>
      </p:sp>
    </p:spTree>
    <p:extLst>
      <p:ext uri="{BB962C8B-B14F-4D97-AF65-F5344CB8AC3E}">
        <p14:creationId xmlns:p14="http://schemas.microsoft.com/office/powerpoint/2010/main" val="2802087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准内容页_Standard page">
    <p:bg>
      <p:bgPr>
        <a:solidFill>
          <a:srgbClr val="161A16"/>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654AAA9-6449-EC43-A22D-9CF53456EA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内容占位符 2">
            <a:extLst>
              <a:ext uri="{FF2B5EF4-FFF2-40B4-BE49-F238E27FC236}">
                <a16:creationId xmlns:a16="http://schemas.microsoft.com/office/drawing/2014/main" id="{F04E3A4C-FA95-184B-986B-C7B891285495}"/>
              </a:ext>
            </a:extLst>
          </p:cNvPr>
          <p:cNvSpPr>
            <a:spLocks noGrp="1"/>
          </p:cNvSpPr>
          <p:nvPr>
            <p:ph idx="1" hasCustomPrompt="1"/>
          </p:nvPr>
        </p:nvSpPr>
        <p:spPr>
          <a:xfrm>
            <a:off x="666750" y="1102658"/>
            <a:ext cx="10858500" cy="5133041"/>
          </a:xfrm>
        </p:spPr>
        <p:txBody>
          <a:bodyPr>
            <a:normAutofit/>
          </a:bodyPr>
          <a:lstStyle>
            <a:lvl1pPr marL="180000" indent="-180000">
              <a:lnSpc>
                <a:spcPct val="135000"/>
              </a:lnSpc>
              <a:spcBef>
                <a:spcPts val="1500"/>
              </a:spcBef>
              <a:buFont typeface="Arial" panose="020B0604020202020204" pitchFamily="34" charset="0"/>
              <a:buChar char="•"/>
              <a:defRPr sz="1400">
                <a:latin typeface="+mn-lt"/>
                <a:ea typeface="+mn-ea"/>
              </a:defRPr>
            </a:lvl1pPr>
            <a:lvl2pPr>
              <a:defRPr sz="1400">
                <a:latin typeface="+mn-ea"/>
                <a:ea typeface="+mn-ea"/>
              </a:defRPr>
            </a:lvl2pPr>
            <a:lvl3pPr>
              <a:defRPr sz="1400">
                <a:latin typeface="+mn-ea"/>
                <a:ea typeface="+mn-ea"/>
              </a:defRPr>
            </a:lvl3pPr>
            <a:lvl4pPr>
              <a:defRPr sz="1400">
                <a:latin typeface="+mn-ea"/>
                <a:ea typeface="+mn-ea"/>
              </a:defRPr>
            </a:lvl4pPr>
            <a:lvl5pPr>
              <a:defRPr>
                <a:latin typeface="+mn-lt"/>
              </a:defRPr>
            </a:lvl5pPr>
          </a:lstStyle>
          <a:p>
            <a:pPr lvl="0"/>
            <a:r>
              <a:rPr lang="zh-CN" altLang="en-US"/>
              <a:t>一级段落内容 </a:t>
            </a:r>
            <a:r>
              <a:rPr lang="en-US" altLang="zh-CN"/>
              <a:t>Click to edit Master text styles</a:t>
            </a:r>
          </a:p>
        </p:txBody>
      </p:sp>
      <p:sp>
        <p:nvSpPr>
          <p:cNvPr id="4" name="标题 3">
            <a:extLst>
              <a:ext uri="{FF2B5EF4-FFF2-40B4-BE49-F238E27FC236}">
                <a16:creationId xmlns:a16="http://schemas.microsoft.com/office/drawing/2014/main" id="{733FCC5E-CEBE-604F-B58B-2B31CE3889B6}"/>
              </a:ext>
            </a:extLst>
          </p:cNvPr>
          <p:cNvSpPr>
            <a:spLocks noGrp="1"/>
          </p:cNvSpPr>
          <p:nvPr>
            <p:ph type="title"/>
          </p:nvPr>
        </p:nvSpPr>
        <p:spPr>
          <a:xfrm>
            <a:off x="660400" y="0"/>
            <a:ext cx="10858500" cy="885600"/>
          </a:xfrm>
        </p:spPr>
        <p:txBody>
          <a:bodyPr/>
          <a:lstStyle>
            <a:lvl1pPr>
              <a:defRPr>
                <a:latin typeface="+mj-lt"/>
                <a:ea typeface="+mj-ea"/>
              </a:defRPr>
            </a:lvl1pPr>
          </a:lstStyle>
          <a:p>
            <a:r>
              <a:rPr kumimoji="1" lang="zh-CN" altLang="en-US"/>
              <a:t>单击此处编辑母版标题样式</a:t>
            </a:r>
          </a:p>
        </p:txBody>
      </p:sp>
      <p:sp>
        <p:nvSpPr>
          <p:cNvPr id="8" name="矩形 7">
            <a:extLst>
              <a:ext uri="{FF2B5EF4-FFF2-40B4-BE49-F238E27FC236}">
                <a16:creationId xmlns:a16="http://schemas.microsoft.com/office/drawing/2014/main" id="{EB89C5B5-ADAD-534F-B78B-EA70DA99B121}"/>
              </a:ext>
            </a:extLst>
          </p:cNvPr>
          <p:cNvSpPr/>
          <p:nvPr userDrawn="1"/>
        </p:nvSpPr>
        <p:spPr>
          <a:xfrm>
            <a:off x="394841" y="531921"/>
            <a:ext cx="162000" cy="16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 name="图片 1">
            <a:extLst>
              <a:ext uri="{FF2B5EF4-FFF2-40B4-BE49-F238E27FC236}">
                <a16:creationId xmlns:a16="http://schemas.microsoft.com/office/drawing/2014/main" id="{6F007121-1597-4E94-D330-81C0E9A77D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90471" y="6430428"/>
            <a:ext cx="1396294" cy="216000"/>
          </a:xfrm>
          <a:prstGeom prst="rect">
            <a:avLst/>
          </a:prstGeom>
        </p:spPr>
      </p:pic>
    </p:spTree>
    <p:extLst>
      <p:ext uri="{BB962C8B-B14F-4D97-AF65-F5344CB8AC3E}">
        <p14:creationId xmlns:p14="http://schemas.microsoft.com/office/powerpoint/2010/main" val="82374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准内容页@大字号版_Standard page@larger">
    <p:bg>
      <p:bgPr>
        <a:solidFill>
          <a:srgbClr val="161A16"/>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654AAA9-6449-EC43-A22D-9CF53456EA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内容占位符 2">
            <a:extLst>
              <a:ext uri="{FF2B5EF4-FFF2-40B4-BE49-F238E27FC236}">
                <a16:creationId xmlns:a16="http://schemas.microsoft.com/office/drawing/2014/main" id="{F04E3A4C-FA95-184B-986B-C7B891285495}"/>
              </a:ext>
            </a:extLst>
          </p:cNvPr>
          <p:cNvSpPr>
            <a:spLocks noGrp="1"/>
          </p:cNvSpPr>
          <p:nvPr>
            <p:ph idx="1" hasCustomPrompt="1"/>
          </p:nvPr>
        </p:nvSpPr>
        <p:spPr>
          <a:xfrm>
            <a:off x="666750" y="1102658"/>
            <a:ext cx="10858500" cy="5133041"/>
          </a:xfrm>
        </p:spPr>
        <p:txBody>
          <a:bodyPr>
            <a:normAutofit/>
          </a:bodyPr>
          <a:lstStyle>
            <a:lvl1pPr marL="180000" indent="-180000">
              <a:lnSpc>
                <a:spcPct val="135000"/>
              </a:lnSpc>
              <a:spcBef>
                <a:spcPts val="1500"/>
              </a:spcBef>
              <a:buFont typeface="Arial" panose="020B0604020202020204" pitchFamily="34" charset="0"/>
              <a:buChar char="•"/>
              <a:defRPr sz="2000">
                <a:latin typeface="+mn-lt"/>
                <a:ea typeface="+mn-ea"/>
              </a:defRPr>
            </a:lvl1pPr>
            <a:lvl2pPr>
              <a:defRPr sz="1400">
                <a:latin typeface="+mn-ea"/>
                <a:ea typeface="+mn-ea"/>
              </a:defRPr>
            </a:lvl2pPr>
            <a:lvl3pPr>
              <a:defRPr sz="1400">
                <a:latin typeface="+mn-ea"/>
                <a:ea typeface="+mn-ea"/>
              </a:defRPr>
            </a:lvl3pPr>
            <a:lvl4pPr>
              <a:defRPr sz="1400">
                <a:latin typeface="+mn-ea"/>
                <a:ea typeface="+mn-ea"/>
              </a:defRPr>
            </a:lvl4pPr>
            <a:lvl5pPr>
              <a:defRPr>
                <a:latin typeface="+mn-lt"/>
              </a:defRPr>
            </a:lvl5pPr>
          </a:lstStyle>
          <a:p>
            <a:pPr lvl="0"/>
            <a:r>
              <a:rPr lang="zh-CN" altLang="en-US"/>
              <a:t>一级段落内容 </a:t>
            </a:r>
            <a:r>
              <a:rPr lang="en-US" altLang="zh-CN"/>
              <a:t>Click to edit Master text styles</a:t>
            </a:r>
          </a:p>
        </p:txBody>
      </p:sp>
      <p:sp>
        <p:nvSpPr>
          <p:cNvPr id="4" name="标题 3">
            <a:extLst>
              <a:ext uri="{FF2B5EF4-FFF2-40B4-BE49-F238E27FC236}">
                <a16:creationId xmlns:a16="http://schemas.microsoft.com/office/drawing/2014/main" id="{733FCC5E-CEBE-604F-B58B-2B31CE3889B6}"/>
              </a:ext>
            </a:extLst>
          </p:cNvPr>
          <p:cNvSpPr>
            <a:spLocks noGrp="1"/>
          </p:cNvSpPr>
          <p:nvPr>
            <p:ph type="title"/>
          </p:nvPr>
        </p:nvSpPr>
        <p:spPr>
          <a:xfrm>
            <a:off x="660400" y="0"/>
            <a:ext cx="10858500" cy="885600"/>
          </a:xfrm>
        </p:spPr>
        <p:txBody>
          <a:bodyPr/>
          <a:lstStyle>
            <a:lvl1pPr>
              <a:defRPr>
                <a:latin typeface="+mj-lt"/>
                <a:ea typeface="+mj-ea"/>
              </a:defRPr>
            </a:lvl1pPr>
          </a:lstStyle>
          <a:p>
            <a:r>
              <a:rPr kumimoji="1" lang="zh-CN" altLang="en-US"/>
              <a:t>单击此处编辑母版标题样式</a:t>
            </a:r>
          </a:p>
        </p:txBody>
      </p:sp>
      <p:sp>
        <p:nvSpPr>
          <p:cNvPr id="8" name="矩形 7">
            <a:extLst>
              <a:ext uri="{FF2B5EF4-FFF2-40B4-BE49-F238E27FC236}">
                <a16:creationId xmlns:a16="http://schemas.microsoft.com/office/drawing/2014/main" id="{EB89C5B5-ADAD-534F-B78B-EA70DA99B121}"/>
              </a:ext>
            </a:extLst>
          </p:cNvPr>
          <p:cNvSpPr/>
          <p:nvPr userDrawn="1"/>
        </p:nvSpPr>
        <p:spPr>
          <a:xfrm>
            <a:off x="394841" y="531921"/>
            <a:ext cx="162000" cy="16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 name="图片 1">
            <a:extLst>
              <a:ext uri="{FF2B5EF4-FFF2-40B4-BE49-F238E27FC236}">
                <a16:creationId xmlns:a16="http://schemas.microsoft.com/office/drawing/2014/main" id="{6F007121-1597-4E94-D330-81C0E9A77D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90471" y="6430428"/>
            <a:ext cx="1396294" cy="216000"/>
          </a:xfrm>
          <a:prstGeom prst="rect">
            <a:avLst/>
          </a:prstGeom>
        </p:spPr>
      </p:pic>
    </p:spTree>
    <p:extLst>
      <p:ext uri="{BB962C8B-B14F-4D97-AF65-F5344CB8AC3E}">
        <p14:creationId xmlns:p14="http://schemas.microsoft.com/office/powerpoint/2010/main" val="3947134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准内容页（小标题）_Standard page with subtitle">
    <p:bg>
      <p:bgPr>
        <a:solidFill>
          <a:srgbClr val="161A16"/>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654AAA9-6449-EC43-A22D-9CF53456EA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内容占位符 2">
            <a:extLst>
              <a:ext uri="{FF2B5EF4-FFF2-40B4-BE49-F238E27FC236}">
                <a16:creationId xmlns:a16="http://schemas.microsoft.com/office/drawing/2014/main" id="{F04E3A4C-FA95-184B-986B-C7B891285495}"/>
              </a:ext>
            </a:extLst>
          </p:cNvPr>
          <p:cNvSpPr>
            <a:spLocks noGrp="1"/>
          </p:cNvSpPr>
          <p:nvPr>
            <p:ph idx="1" hasCustomPrompt="1"/>
          </p:nvPr>
        </p:nvSpPr>
        <p:spPr>
          <a:xfrm>
            <a:off x="666750" y="1739152"/>
            <a:ext cx="10858500" cy="4496547"/>
          </a:xfrm>
        </p:spPr>
        <p:txBody>
          <a:bodyPr>
            <a:normAutofit/>
          </a:bodyPr>
          <a:lstStyle>
            <a:lvl1pPr marL="180000" indent="-180000">
              <a:lnSpc>
                <a:spcPct val="135000"/>
              </a:lnSpc>
              <a:spcBef>
                <a:spcPts val="1500"/>
              </a:spcBef>
              <a:buFont typeface="Arial" panose="020B0604020202020204" pitchFamily="34" charset="0"/>
              <a:buChar char="•"/>
              <a:defRPr sz="1400">
                <a:latin typeface="+mn-lt"/>
                <a:ea typeface="+mn-ea"/>
              </a:defRPr>
            </a:lvl1pPr>
            <a:lvl2pPr>
              <a:defRPr sz="1400">
                <a:latin typeface="+mn-ea"/>
                <a:ea typeface="+mn-ea"/>
              </a:defRPr>
            </a:lvl2pPr>
            <a:lvl3pPr>
              <a:defRPr sz="1400">
                <a:latin typeface="+mn-ea"/>
                <a:ea typeface="+mn-ea"/>
              </a:defRPr>
            </a:lvl3pPr>
            <a:lvl4pPr>
              <a:defRPr sz="1400">
                <a:latin typeface="+mn-ea"/>
                <a:ea typeface="+mn-ea"/>
              </a:defRPr>
            </a:lvl4pPr>
            <a:lvl5pPr>
              <a:defRPr>
                <a:latin typeface="+mn-lt"/>
              </a:defRPr>
            </a:lvl5pPr>
          </a:lstStyle>
          <a:p>
            <a:pPr lvl="0"/>
            <a:r>
              <a:rPr lang="zh-CN" altLang="en-US"/>
              <a:t>一级段落内容 </a:t>
            </a:r>
            <a:r>
              <a:rPr lang="en-US" altLang="zh-CN"/>
              <a:t>Click to edit Master text styles</a:t>
            </a:r>
          </a:p>
        </p:txBody>
      </p:sp>
      <p:sp>
        <p:nvSpPr>
          <p:cNvPr id="4" name="标题 3">
            <a:extLst>
              <a:ext uri="{FF2B5EF4-FFF2-40B4-BE49-F238E27FC236}">
                <a16:creationId xmlns:a16="http://schemas.microsoft.com/office/drawing/2014/main" id="{733FCC5E-CEBE-604F-B58B-2B31CE3889B6}"/>
              </a:ext>
            </a:extLst>
          </p:cNvPr>
          <p:cNvSpPr>
            <a:spLocks noGrp="1"/>
          </p:cNvSpPr>
          <p:nvPr>
            <p:ph type="title"/>
          </p:nvPr>
        </p:nvSpPr>
        <p:spPr>
          <a:xfrm>
            <a:off x="660400" y="0"/>
            <a:ext cx="10858500" cy="886691"/>
          </a:xfrm>
        </p:spPr>
        <p:txBody>
          <a:bodyPr/>
          <a:lstStyle>
            <a:lvl1pPr>
              <a:defRPr>
                <a:latin typeface="+mj-lt"/>
                <a:ea typeface="+mj-ea"/>
              </a:defRPr>
            </a:lvl1pPr>
          </a:lstStyle>
          <a:p>
            <a:r>
              <a:rPr kumimoji="1" lang="zh-CN" altLang="en-US"/>
              <a:t>单击此处编辑母版标题样式</a:t>
            </a:r>
          </a:p>
        </p:txBody>
      </p:sp>
      <p:sp>
        <p:nvSpPr>
          <p:cNvPr id="8" name="矩形 7">
            <a:extLst>
              <a:ext uri="{FF2B5EF4-FFF2-40B4-BE49-F238E27FC236}">
                <a16:creationId xmlns:a16="http://schemas.microsoft.com/office/drawing/2014/main" id="{EB89C5B5-ADAD-534F-B78B-EA70DA99B121}"/>
              </a:ext>
            </a:extLst>
          </p:cNvPr>
          <p:cNvSpPr/>
          <p:nvPr userDrawn="1"/>
        </p:nvSpPr>
        <p:spPr>
          <a:xfrm>
            <a:off x="394841" y="531921"/>
            <a:ext cx="162000" cy="16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 name="图片 1">
            <a:extLst>
              <a:ext uri="{FF2B5EF4-FFF2-40B4-BE49-F238E27FC236}">
                <a16:creationId xmlns:a16="http://schemas.microsoft.com/office/drawing/2014/main" id="{6F007121-1597-4E94-D330-81C0E9A77D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90471" y="6430428"/>
            <a:ext cx="1396294" cy="216000"/>
          </a:xfrm>
          <a:prstGeom prst="rect">
            <a:avLst/>
          </a:prstGeom>
        </p:spPr>
      </p:pic>
      <p:sp>
        <p:nvSpPr>
          <p:cNvPr id="10" name="文本占位符 8">
            <a:extLst>
              <a:ext uri="{FF2B5EF4-FFF2-40B4-BE49-F238E27FC236}">
                <a16:creationId xmlns:a16="http://schemas.microsoft.com/office/drawing/2014/main" id="{C1C77039-7AAC-444D-917D-DD4127569BD5}"/>
              </a:ext>
            </a:extLst>
          </p:cNvPr>
          <p:cNvSpPr>
            <a:spLocks noGrp="1"/>
          </p:cNvSpPr>
          <p:nvPr>
            <p:ph type="body" sz="quarter" idx="14" hasCustomPrompt="1"/>
          </p:nvPr>
        </p:nvSpPr>
        <p:spPr>
          <a:xfrm>
            <a:off x="666750" y="1060433"/>
            <a:ext cx="10857600" cy="528815"/>
          </a:xfrm>
        </p:spPr>
        <p:txBody>
          <a:bodyPr>
            <a:noAutofit/>
          </a:bodyPr>
          <a:lstStyle>
            <a:lvl1pPr marL="0" indent="0" algn="l">
              <a:buFont typeface="+mj-lt"/>
              <a:buNone/>
              <a:defRPr sz="1800" b="1">
                <a:latin typeface="+mj-lt"/>
                <a:ea typeface="+mj-ea"/>
              </a:defRPr>
            </a:lvl1pPr>
            <a:lvl2pPr marL="457200" indent="0">
              <a:buFont typeface="+mj-ea"/>
              <a:buNone/>
              <a:defRPr/>
            </a:lvl2pPr>
            <a:lvl3pPr marL="1257300" indent="-342900">
              <a:buFont typeface="+mj-lt"/>
              <a:buAutoNum type="alphaLcParenR"/>
              <a:defRPr/>
            </a:lvl3pPr>
          </a:lstStyle>
          <a:p>
            <a:pPr lvl="0"/>
            <a:r>
              <a:rPr lang="zh-CN" altLang="en-US"/>
              <a:t>小标题 </a:t>
            </a:r>
            <a:r>
              <a:rPr lang="en-US" altLang="zh-CN"/>
              <a:t>Subtitle</a:t>
            </a:r>
            <a:endParaRPr lang="zh-CN" altLang="en-US"/>
          </a:p>
        </p:txBody>
      </p:sp>
    </p:spTree>
    <p:extLst>
      <p:ext uri="{BB962C8B-B14F-4D97-AF65-F5344CB8AC3E}">
        <p14:creationId xmlns:p14="http://schemas.microsoft.com/office/powerpoint/2010/main" val="380869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准内容页（小标题）@大字号版_Standard page with subtitle@larger">
    <p:bg>
      <p:bgPr>
        <a:solidFill>
          <a:srgbClr val="161A16"/>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654AAA9-6449-EC43-A22D-9CF53456EA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内容占位符 2">
            <a:extLst>
              <a:ext uri="{FF2B5EF4-FFF2-40B4-BE49-F238E27FC236}">
                <a16:creationId xmlns:a16="http://schemas.microsoft.com/office/drawing/2014/main" id="{F04E3A4C-FA95-184B-986B-C7B891285495}"/>
              </a:ext>
            </a:extLst>
          </p:cNvPr>
          <p:cNvSpPr>
            <a:spLocks noGrp="1"/>
          </p:cNvSpPr>
          <p:nvPr>
            <p:ph idx="1" hasCustomPrompt="1"/>
          </p:nvPr>
        </p:nvSpPr>
        <p:spPr>
          <a:xfrm>
            <a:off x="666750" y="1739152"/>
            <a:ext cx="10858500" cy="4496547"/>
          </a:xfrm>
        </p:spPr>
        <p:txBody>
          <a:bodyPr>
            <a:normAutofit/>
          </a:bodyPr>
          <a:lstStyle>
            <a:lvl1pPr marL="180000" indent="-180000">
              <a:lnSpc>
                <a:spcPct val="135000"/>
              </a:lnSpc>
              <a:spcBef>
                <a:spcPts val="1500"/>
              </a:spcBef>
              <a:buFont typeface="Arial" panose="020B0604020202020204" pitchFamily="34" charset="0"/>
              <a:buChar char="•"/>
              <a:defRPr sz="2000">
                <a:latin typeface="+mn-lt"/>
                <a:ea typeface="+mn-ea"/>
              </a:defRPr>
            </a:lvl1pPr>
            <a:lvl2pPr>
              <a:defRPr sz="1400">
                <a:latin typeface="+mn-ea"/>
                <a:ea typeface="+mn-ea"/>
              </a:defRPr>
            </a:lvl2pPr>
            <a:lvl3pPr>
              <a:defRPr sz="1400">
                <a:latin typeface="+mn-ea"/>
                <a:ea typeface="+mn-ea"/>
              </a:defRPr>
            </a:lvl3pPr>
            <a:lvl4pPr>
              <a:defRPr sz="1400">
                <a:latin typeface="+mn-ea"/>
                <a:ea typeface="+mn-ea"/>
              </a:defRPr>
            </a:lvl4pPr>
            <a:lvl5pPr>
              <a:defRPr>
                <a:latin typeface="+mn-lt"/>
              </a:defRPr>
            </a:lvl5pPr>
          </a:lstStyle>
          <a:p>
            <a:pPr lvl="0"/>
            <a:r>
              <a:rPr lang="zh-CN" altLang="en-US"/>
              <a:t>一级段落内容 </a:t>
            </a:r>
            <a:r>
              <a:rPr lang="en-US" altLang="zh-CN"/>
              <a:t>Click to edit Master text styles</a:t>
            </a:r>
          </a:p>
        </p:txBody>
      </p:sp>
      <p:sp>
        <p:nvSpPr>
          <p:cNvPr id="4" name="标题 3">
            <a:extLst>
              <a:ext uri="{FF2B5EF4-FFF2-40B4-BE49-F238E27FC236}">
                <a16:creationId xmlns:a16="http://schemas.microsoft.com/office/drawing/2014/main" id="{733FCC5E-CEBE-604F-B58B-2B31CE3889B6}"/>
              </a:ext>
            </a:extLst>
          </p:cNvPr>
          <p:cNvSpPr>
            <a:spLocks noGrp="1"/>
          </p:cNvSpPr>
          <p:nvPr>
            <p:ph type="title"/>
          </p:nvPr>
        </p:nvSpPr>
        <p:spPr>
          <a:xfrm>
            <a:off x="660400" y="0"/>
            <a:ext cx="10858500" cy="886691"/>
          </a:xfrm>
        </p:spPr>
        <p:txBody>
          <a:bodyPr/>
          <a:lstStyle>
            <a:lvl1pPr>
              <a:defRPr>
                <a:latin typeface="+mj-lt"/>
                <a:ea typeface="+mj-ea"/>
              </a:defRPr>
            </a:lvl1pPr>
          </a:lstStyle>
          <a:p>
            <a:r>
              <a:rPr kumimoji="1" lang="zh-CN" altLang="en-US"/>
              <a:t>单击此处编辑母版标题样式</a:t>
            </a:r>
          </a:p>
        </p:txBody>
      </p:sp>
      <p:sp>
        <p:nvSpPr>
          <p:cNvPr id="8" name="矩形 7">
            <a:extLst>
              <a:ext uri="{FF2B5EF4-FFF2-40B4-BE49-F238E27FC236}">
                <a16:creationId xmlns:a16="http://schemas.microsoft.com/office/drawing/2014/main" id="{EB89C5B5-ADAD-534F-B78B-EA70DA99B121}"/>
              </a:ext>
            </a:extLst>
          </p:cNvPr>
          <p:cNvSpPr/>
          <p:nvPr userDrawn="1"/>
        </p:nvSpPr>
        <p:spPr>
          <a:xfrm>
            <a:off x="394841" y="531921"/>
            <a:ext cx="162000" cy="16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 name="图片 1">
            <a:extLst>
              <a:ext uri="{FF2B5EF4-FFF2-40B4-BE49-F238E27FC236}">
                <a16:creationId xmlns:a16="http://schemas.microsoft.com/office/drawing/2014/main" id="{6F007121-1597-4E94-D330-81C0E9A77D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90471" y="6430428"/>
            <a:ext cx="1396294" cy="216000"/>
          </a:xfrm>
          <a:prstGeom prst="rect">
            <a:avLst/>
          </a:prstGeom>
        </p:spPr>
      </p:pic>
      <p:sp>
        <p:nvSpPr>
          <p:cNvPr id="10" name="文本占位符 8">
            <a:extLst>
              <a:ext uri="{FF2B5EF4-FFF2-40B4-BE49-F238E27FC236}">
                <a16:creationId xmlns:a16="http://schemas.microsoft.com/office/drawing/2014/main" id="{C1C77039-7AAC-444D-917D-DD4127569BD5}"/>
              </a:ext>
            </a:extLst>
          </p:cNvPr>
          <p:cNvSpPr>
            <a:spLocks noGrp="1"/>
          </p:cNvSpPr>
          <p:nvPr>
            <p:ph type="body" sz="quarter" idx="14" hasCustomPrompt="1"/>
          </p:nvPr>
        </p:nvSpPr>
        <p:spPr>
          <a:xfrm>
            <a:off x="666750" y="1060433"/>
            <a:ext cx="10857600" cy="538865"/>
          </a:xfrm>
        </p:spPr>
        <p:txBody>
          <a:bodyPr>
            <a:spAutoFit/>
          </a:bodyPr>
          <a:lstStyle>
            <a:lvl1pPr marL="0" indent="0" algn="l">
              <a:buFont typeface="+mj-lt"/>
              <a:buNone/>
              <a:defRPr sz="2400" b="1">
                <a:latin typeface="+mj-lt"/>
                <a:ea typeface="+mj-ea"/>
              </a:defRPr>
            </a:lvl1pPr>
            <a:lvl2pPr marL="457200" indent="0">
              <a:buFont typeface="+mj-ea"/>
              <a:buNone/>
              <a:defRPr/>
            </a:lvl2pPr>
            <a:lvl3pPr marL="1257300" indent="-342900">
              <a:buFont typeface="+mj-lt"/>
              <a:buAutoNum type="alphaLcParenR"/>
              <a:defRPr/>
            </a:lvl3pPr>
          </a:lstStyle>
          <a:p>
            <a:pPr lvl="0"/>
            <a:r>
              <a:rPr lang="zh-CN" altLang="en-US"/>
              <a:t>小标题 </a:t>
            </a:r>
            <a:r>
              <a:rPr lang="en-US" altLang="zh-CN"/>
              <a:t>Subtitle</a:t>
            </a:r>
            <a:endParaRPr lang="zh-CN" altLang="en-US"/>
          </a:p>
        </p:txBody>
      </p:sp>
    </p:spTree>
    <p:extLst>
      <p:ext uri="{BB962C8B-B14F-4D97-AF65-F5344CB8AC3E}">
        <p14:creationId xmlns:p14="http://schemas.microsoft.com/office/powerpoint/2010/main" val="1981167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带背景）_Title only with 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5159B22-A5B9-5842-9380-4B8501048A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a:extLst>
              <a:ext uri="{FF2B5EF4-FFF2-40B4-BE49-F238E27FC236}">
                <a16:creationId xmlns:a16="http://schemas.microsoft.com/office/drawing/2014/main" id="{652EDE83-63CC-4B33-B715-3953EADE2100}"/>
              </a:ext>
            </a:extLst>
          </p:cNvPr>
          <p:cNvSpPr>
            <a:spLocks noGrp="1"/>
          </p:cNvSpPr>
          <p:nvPr>
            <p:ph type="title" hasCustomPrompt="1"/>
          </p:nvPr>
        </p:nvSpPr>
        <p:spPr>
          <a:xfrm>
            <a:off x="660400" y="0"/>
            <a:ext cx="10857600" cy="885600"/>
          </a:xfrm>
        </p:spPr>
        <p:txBody>
          <a:bodyPr/>
          <a:lstStyle>
            <a:lvl1pPr>
              <a:defRPr>
                <a:solidFill>
                  <a:schemeClr val="tx1"/>
                </a:solidFill>
                <a:latin typeface="+mj-lt"/>
                <a:ea typeface="+mj-ea"/>
              </a:defRPr>
            </a:lvl1pPr>
          </a:lstStyle>
          <a:p>
            <a:r>
              <a:rPr lang="zh-CN" altLang="en-US"/>
              <a:t>页面标题 </a:t>
            </a:r>
            <a:r>
              <a:rPr lang="en-US" altLang="zh-CN"/>
              <a:t>Click to edit Master title style</a:t>
            </a:r>
            <a:endParaRPr lang="zh-CN" altLang="en-US"/>
          </a:p>
        </p:txBody>
      </p:sp>
      <p:sp>
        <p:nvSpPr>
          <p:cNvPr id="7" name="矩形 6">
            <a:extLst>
              <a:ext uri="{FF2B5EF4-FFF2-40B4-BE49-F238E27FC236}">
                <a16:creationId xmlns:a16="http://schemas.microsoft.com/office/drawing/2014/main" id="{DEC0D41F-1457-E247-9EE6-581B5649A025}"/>
              </a:ext>
            </a:extLst>
          </p:cNvPr>
          <p:cNvSpPr/>
          <p:nvPr userDrawn="1"/>
        </p:nvSpPr>
        <p:spPr>
          <a:xfrm>
            <a:off x="394841" y="531921"/>
            <a:ext cx="162000" cy="16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a:extLst>
              <a:ext uri="{FF2B5EF4-FFF2-40B4-BE49-F238E27FC236}">
                <a16:creationId xmlns:a16="http://schemas.microsoft.com/office/drawing/2014/main" id="{E07339A9-7759-B9C2-AC5D-3BDF9F5E880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90471" y="6430428"/>
            <a:ext cx="1396294" cy="216000"/>
          </a:xfrm>
          <a:prstGeom prst="rect">
            <a:avLst/>
          </a:prstGeom>
        </p:spPr>
      </p:pic>
    </p:spTree>
    <p:extLst>
      <p:ext uri="{BB962C8B-B14F-4D97-AF65-F5344CB8AC3E}">
        <p14:creationId xmlns:p14="http://schemas.microsoft.com/office/powerpoint/2010/main" val="3257642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无背景）_Title only without 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2EDE83-63CC-4B33-B715-3953EADE2100}"/>
              </a:ext>
            </a:extLst>
          </p:cNvPr>
          <p:cNvSpPr>
            <a:spLocks noGrp="1"/>
          </p:cNvSpPr>
          <p:nvPr>
            <p:ph type="title" hasCustomPrompt="1"/>
          </p:nvPr>
        </p:nvSpPr>
        <p:spPr>
          <a:xfrm>
            <a:off x="660400" y="0"/>
            <a:ext cx="10858500" cy="885600"/>
          </a:xfrm>
        </p:spPr>
        <p:txBody>
          <a:bodyPr/>
          <a:lstStyle>
            <a:lvl1pPr>
              <a:defRPr>
                <a:solidFill>
                  <a:schemeClr val="tx1"/>
                </a:solidFill>
                <a:latin typeface="+mj-lt"/>
                <a:ea typeface="+mj-ea"/>
              </a:defRPr>
            </a:lvl1pPr>
          </a:lstStyle>
          <a:p>
            <a:r>
              <a:rPr lang="zh-CN" altLang="en-US"/>
              <a:t>页面标题 </a:t>
            </a:r>
            <a:r>
              <a:rPr lang="en-US" altLang="zh-CN"/>
              <a:t>Click to edit Master title style</a:t>
            </a:r>
            <a:endParaRPr lang="zh-CN" altLang="en-US"/>
          </a:p>
        </p:txBody>
      </p:sp>
      <p:sp>
        <p:nvSpPr>
          <p:cNvPr id="9" name="矩形 8">
            <a:extLst>
              <a:ext uri="{FF2B5EF4-FFF2-40B4-BE49-F238E27FC236}">
                <a16:creationId xmlns:a16="http://schemas.microsoft.com/office/drawing/2014/main" id="{66CB5896-4F73-054A-B470-33A2E57E6F39}"/>
              </a:ext>
            </a:extLst>
          </p:cNvPr>
          <p:cNvSpPr/>
          <p:nvPr userDrawn="1"/>
        </p:nvSpPr>
        <p:spPr>
          <a:xfrm>
            <a:off x="394841" y="531921"/>
            <a:ext cx="162000" cy="16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323829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1_仅标题（无背景）_Title only without bg@White">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2EDE83-63CC-4B33-B715-3953EADE2100}"/>
              </a:ext>
            </a:extLst>
          </p:cNvPr>
          <p:cNvSpPr>
            <a:spLocks noGrp="1"/>
          </p:cNvSpPr>
          <p:nvPr>
            <p:ph type="title" hasCustomPrompt="1"/>
          </p:nvPr>
        </p:nvSpPr>
        <p:spPr>
          <a:xfrm>
            <a:off x="660400" y="0"/>
            <a:ext cx="10858500" cy="885600"/>
          </a:xfrm>
        </p:spPr>
        <p:txBody>
          <a:bodyPr/>
          <a:lstStyle>
            <a:lvl1pPr>
              <a:defRPr>
                <a:solidFill>
                  <a:schemeClr val="tx1"/>
                </a:solidFill>
                <a:latin typeface="+mj-lt"/>
                <a:ea typeface="+mj-ea"/>
              </a:defRPr>
            </a:lvl1pPr>
          </a:lstStyle>
          <a:p>
            <a:r>
              <a:rPr lang="zh-CN" altLang="en-US"/>
              <a:t>页面标题 </a:t>
            </a:r>
            <a:r>
              <a:rPr lang="en-US" altLang="zh-CN"/>
              <a:t>Click to edit Master title style</a:t>
            </a:r>
            <a:endParaRPr lang="zh-CN" altLang="en-US"/>
          </a:p>
        </p:txBody>
      </p:sp>
      <p:sp>
        <p:nvSpPr>
          <p:cNvPr id="9" name="矩形 8">
            <a:extLst>
              <a:ext uri="{FF2B5EF4-FFF2-40B4-BE49-F238E27FC236}">
                <a16:creationId xmlns:a16="http://schemas.microsoft.com/office/drawing/2014/main" id="{66CB5896-4F73-054A-B470-33A2E57E6F39}"/>
              </a:ext>
            </a:extLst>
          </p:cNvPr>
          <p:cNvSpPr/>
          <p:nvPr userDrawn="1"/>
        </p:nvSpPr>
        <p:spPr>
          <a:xfrm>
            <a:off x="394841" y="531921"/>
            <a:ext cx="162000" cy="16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6" name="图片 5">
            <a:extLst>
              <a:ext uri="{FF2B5EF4-FFF2-40B4-BE49-F238E27FC236}">
                <a16:creationId xmlns:a16="http://schemas.microsoft.com/office/drawing/2014/main" id="{6DC2E126-F1F0-DC2F-9023-1008D5842B40}"/>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a:stretch/>
        </p:blipFill>
        <p:spPr>
          <a:xfrm>
            <a:off x="10490471" y="6430428"/>
            <a:ext cx="1396294" cy="216000"/>
          </a:xfrm>
          <a:prstGeom prst="rect">
            <a:avLst/>
          </a:prstGeom>
          <a:solidFill>
            <a:schemeClr val="bg1"/>
          </a:solidFill>
        </p:spPr>
      </p:pic>
    </p:spTree>
    <p:extLst>
      <p:ext uri="{BB962C8B-B14F-4D97-AF65-F5344CB8AC3E}">
        <p14:creationId xmlns:p14="http://schemas.microsoft.com/office/powerpoint/2010/main" val="422436266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页_Empty">
    <p:bg>
      <p:bgPr>
        <a:solidFill>
          <a:srgbClr val="161A1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162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底_End page">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FF63671-BA4E-5946-9548-B2324E5540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文本占位符 6">
            <a:extLst>
              <a:ext uri="{FF2B5EF4-FFF2-40B4-BE49-F238E27FC236}">
                <a16:creationId xmlns:a16="http://schemas.microsoft.com/office/drawing/2014/main" id="{C2320649-ACD7-42E9-A261-E6ED46ACB452}"/>
              </a:ext>
            </a:extLst>
          </p:cNvPr>
          <p:cNvSpPr>
            <a:spLocks noGrp="1"/>
          </p:cNvSpPr>
          <p:nvPr>
            <p:ph type="body" sz="quarter" idx="13" hasCustomPrompt="1"/>
          </p:nvPr>
        </p:nvSpPr>
        <p:spPr>
          <a:xfrm>
            <a:off x="2772980" y="2182868"/>
            <a:ext cx="6869953" cy="1643062"/>
          </a:xfrm>
        </p:spPr>
        <p:txBody>
          <a:bodyPr vert="horz" lIns="91440" tIns="45720" rIns="91440" bIns="45720" rtlCol="0" anchor="b">
            <a:noAutofit/>
          </a:bodyPr>
          <a:lstStyle>
            <a:lvl1pPr marL="0" indent="0" algn="ctr">
              <a:lnSpc>
                <a:spcPct val="100000"/>
              </a:lnSpc>
              <a:spcBef>
                <a:spcPts val="1500"/>
              </a:spcBef>
              <a:buNone/>
              <a:defRPr lang="en-US" altLang="zh-CN" sz="6000" b="1" i="0" smtClean="0">
                <a:solidFill>
                  <a:schemeClr val="tx1"/>
                </a:solidFill>
                <a:latin typeface="+mj-lt"/>
                <a:ea typeface="+mj-ea"/>
                <a:cs typeface="+mj-cs"/>
              </a:defRPr>
            </a:lvl1pPr>
            <a:lvl2pPr marL="457200" indent="0">
              <a:buNone/>
              <a:defRPr lang="en-US" altLang="zh-CN" smtClean="0"/>
            </a:lvl2pPr>
            <a:lvl3pPr>
              <a:defRPr lang="en-US" altLang="zh-CN" smtClean="0"/>
            </a:lvl3pPr>
            <a:lvl4pPr>
              <a:defRPr lang="en-US" altLang="zh-CN" smtClean="0"/>
            </a:lvl4pPr>
            <a:lvl5pPr>
              <a:defRPr lang="zh-CN" altLang="en-US"/>
            </a:lvl5pPr>
          </a:lstStyle>
          <a:p>
            <a:pPr marL="228600" lvl="0" indent="-228600" defTabSz="914354">
              <a:spcBef>
                <a:spcPct val="0"/>
              </a:spcBef>
            </a:pPr>
            <a:r>
              <a:rPr lang="en-US" altLang="zh-CN"/>
              <a:t>Thanks.</a:t>
            </a:r>
          </a:p>
        </p:txBody>
      </p:sp>
      <p:pic>
        <p:nvPicPr>
          <p:cNvPr id="6" name="图片 5">
            <a:extLst>
              <a:ext uri="{FF2B5EF4-FFF2-40B4-BE49-F238E27FC236}">
                <a16:creationId xmlns:a16="http://schemas.microsoft.com/office/drawing/2014/main" id="{3E355470-8C21-4741-BD41-6764222AFB4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338819" y="6437997"/>
            <a:ext cx="1514361" cy="234266"/>
          </a:xfrm>
          <a:prstGeom prst="rect">
            <a:avLst/>
          </a:prstGeom>
        </p:spPr>
      </p:pic>
      <p:sp>
        <p:nvSpPr>
          <p:cNvPr id="5" name="文本占位符 6">
            <a:extLst>
              <a:ext uri="{FF2B5EF4-FFF2-40B4-BE49-F238E27FC236}">
                <a16:creationId xmlns:a16="http://schemas.microsoft.com/office/drawing/2014/main" id="{CE275F6D-275C-7545-B6F4-CB484D314576}"/>
              </a:ext>
            </a:extLst>
          </p:cNvPr>
          <p:cNvSpPr>
            <a:spLocks noGrp="1"/>
          </p:cNvSpPr>
          <p:nvPr>
            <p:ph type="body" sz="quarter" idx="14" hasCustomPrompt="1"/>
          </p:nvPr>
        </p:nvSpPr>
        <p:spPr>
          <a:xfrm>
            <a:off x="2772979" y="3966845"/>
            <a:ext cx="6869953" cy="605155"/>
          </a:xfrm>
        </p:spPr>
        <p:txBody>
          <a:bodyPr vert="horz" lIns="91440" tIns="45720" rIns="91440" bIns="45720" rtlCol="0" anchor="b">
            <a:noAutofit/>
          </a:bodyPr>
          <a:lstStyle>
            <a:lvl1pPr marL="0" indent="0" algn="ctr">
              <a:lnSpc>
                <a:spcPct val="100000"/>
              </a:lnSpc>
              <a:spcBef>
                <a:spcPts val="1500"/>
              </a:spcBef>
              <a:buNone/>
              <a:defRPr lang="en-US" altLang="zh-CN" sz="2400" b="0" i="0" smtClean="0">
                <a:solidFill>
                  <a:schemeClr val="tx1"/>
                </a:solidFill>
                <a:latin typeface="+mj-lt"/>
                <a:ea typeface="+mj-ea"/>
                <a:cs typeface="+mj-cs"/>
              </a:defRPr>
            </a:lvl1pPr>
            <a:lvl2pPr marL="457200" indent="0">
              <a:buNone/>
              <a:defRPr lang="en-US" altLang="zh-CN" smtClean="0"/>
            </a:lvl2pPr>
            <a:lvl3pPr>
              <a:defRPr lang="en-US" altLang="zh-CN" smtClean="0"/>
            </a:lvl3pPr>
            <a:lvl4pPr>
              <a:defRPr lang="en-US" altLang="zh-CN" smtClean="0"/>
            </a:lvl4pPr>
            <a:lvl5pPr>
              <a:defRPr lang="zh-CN" altLang="en-US"/>
            </a:lvl5pPr>
          </a:lstStyle>
          <a:p>
            <a:pPr marL="228600" lvl="0" indent="-228600" defTabSz="914354">
              <a:spcBef>
                <a:spcPct val="0"/>
              </a:spcBef>
            </a:pPr>
            <a:r>
              <a:rPr lang="zh-CN" altLang="en-US"/>
              <a:t>副标题</a:t>
            </a:r>
            <a:endParaRPr lang="en-US" altLang="zh-CN"/>
          </a:p>
        </p:txBody>
      </p:sp>
    </p:spTree>
    <p:extLst>
      <p:ext uri="{BB962C8B-B14F-4D97-AF65-F5344CB8AC3E}">
        <p14:creationId xmlns:p14="http://schemas.microsoft.com/office/powerpoint/2010/main" val="3444805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Only-Light">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9525">
            <a:noFill/>
            <a:prstDash val="solid"/>
          </a:ln>
        </p:spPr>
      </p:pic>
      <p:sp>
        <p:nvSpPr>
          <p:cNvPr id="3" name="AutoShape 3"/>
          <p:cNvSpPr>
            <a:spLocks noGrp="1"/>
          </p:cNvSpPr>
          <p:nvPr>
            <p:ph type="body" sz="quarter" idx="32" hasCustomPrompt="1"/>
          </p:nvPr>
        </p:nvSpPr>
        <p:spPr>
          <a:xfrm>
            <a:off x="660400" y="0"/>
            <a:ext cx="10858500" cy="1028700"/>
          </a:xfrm>
          <a:prstGeom prst="rect">
            <a:avLst/>
          </a:prstGeom>
          <a:noFill/>
          <a:ln w="9525">
            <a:noFill/>
            <a:prstDash val="solid"/>
          </a:ln>
        </p:spPr>
        <p:txBody>
          <a:bodyPr lIns="95250" tIns="47625" rIns="95250" bIns="47625" anchor="b">
            <a:noAutofit/>
          </a:bodyPr>
          <a:lstStyle>
            <a:lvl1pPr algn="l">
              <a:lnSpc>
                <a:spcPct val="90000"/>
              </a:lnSpc>
              <a:defRPr sz="2700" b="1" i="0" u="none" strike="noStrike">
                <a:solidFill>
                  <a:srgbClr val="0D0D0D">
                    <a:alpha val="100000"/>
                  </a:srgbClr>
                </a:solidFill>
                <a:latin typeface="微软雅黑"/>
              </a:defRPr>
            </a:lvl1pPr>
          </a:lstStyle>
          <a:p>
            <a:pPr indent="0" algn="l">
              <a:lnSpc>
                <a:spcPct val="90000"/>
              </a:lnSpc>
            </a:pPr>
            <a:r>
              <a:rPr lang="en-US" sz="2775" b="1" i="0" u="none" strike="noStrike">
                <a:solidFill>
                  <a:srgbClr val="0D0D0D"/>
                </a:solidFill>
                <a:latin typeface="微软雅黑"/>
              </a:rPr>
              <a:t>单击此处编辑母版标题样式</a:t>
            </a:r>
          </a:p>
        </p:txBody>
      </p:sp>
      <p:sp>
        <p:nvSpPr>
          <p:cNvPr id="4" name="AutoShape 4"/>
          <p:cNvSpPr/>
          <p:nvPr/>
        </p:nvSpPr>
        <p:spPr>
          <a:xfrm>
            <a:off x="355599" y="663737"/>
            <a:ext cx="180623" cy="231422"/>
          </a:xfrm>
          <a:prstGeom prst="rect">
            <a:avLst/>
          </a:prstGeom>
          <a:solidFill>
            <a:srgbClr val="11D05C">
              <a:alpha val="100000"/>
            </a:srgbClr>
          </a:solidFill>
          <a:ln w="9525">
            <a:noFill/>
            <a:prstDash val="solid"/>
          </a:ln>
        </p:spPr>
        <p:txBody>
          <a:bodyPr lIns="95250" tIns="47625" rIns="95250" bIns="47625" rtlCol="0" anchor="ctr">
            <a:noAutofit/>
          </a:bodyPr>
          <a:lstStyle/>
          <a:p>
            <a:pPr algn="ctr">
              <a:defRPr/>
            </a:pPr>
            <a:endParaRPr/>
          </a:p>
        </p:txBody>
      </p:sp>
      <p:pic>
        <p:nvPicPr>
          <p:cNvPr id="5" name="Picture 5"/>
          <p:cNvPicPr>
            <a:picLocks noChangeAspect="1"/>
          </p:cNvPicPr>
          <p:nvPr/>
        </p:nvPicPr>
        <p:blipFill>
          <a:blip r:embed="rId3"/>
          <a:srcRect/>
          <a:stretch>
            <a:fillRect/>
          </a:stretch>
        </p:blipFill>
        <p:spPr>
          <a:xfrm>
            <a:off x="10482814" y="6388340"/>
            <a:ext cx="1439813" cy="223971"/>
          </a:xfrm>
          <a:prstGeom prst="rect">
            <a:avLst/>
          </a:prstGeom>
          <a:ln w="9525">
            <a:noFill/>
            <a:prstDash val="solid"/>
          </a:ln>
        </p:spPr>
      </p:pic>
    </p:spTree>
    <p:extLst>
      <p:ext uri="{BB962C8B-B14F-4D97-AF65-F5344CB8AC3E}">
        <p14:creationId xmlns:p14="http://schemas.microsoft.com/office/powerpoint/2010/main" val="14484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61A16"/>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307103-D92B-4D3C-B386-9FD58793CACA}"/>
              </a:ext>
            </a:extLst>
          </p:cNvPr>
          <p:cNvSpPr>
            <a:spLocks noGrp="1"/>
          </p:cNvSpPr>
          <p:nvPr>
            <p:ph type="title"/>
          </p:nvPr>
        </p:nvSpPr>
        <p:spPr>
          <a:xfrm>
            <a:off x="660400" y="0"/>
            <a:ext cx="10858500" cy="1028700"/>
          </a:xfrm>
          <a:prstGeom prst="rect">
            <a:avLst/>
          </a:prstGeom>
        </p:spPr>
        <p:txBody>
          <a:bodyPr vert="horz" lIns="91440" tIns="45720" rIns="91440" bIns="45720" rtlCol="0" anchor="b">
            <a:noAutofit/>
          </a:bodyPr>
          <a:lstStyle/>
          <a:p>
            <a:pPr lvl="0" defTabSz="914354"/>
            <a:r>
              <a:rPr lang="zh-CN" altLang="en-US"/>
              <a:t>页面标题 </a:t>
            </a:r>
            <a:r>
              <a:rPr lang="en-US" altLang="zh-CN"/>
              <a:t>Click to edit Master title style</a:t>
            </a:r>
            <a:endParaRPr lang="zh-CN" altLang="en-US"/>
          </a:p>
        </p:txBody>
      </p:sp>
      <p:sp>
        <p:nvSpPr>
          <p:cNvPr id="3" name="文本占位符 2">
            <a:extLst>
              <a:ext uri="{FF2B5EF4-FFF2-40B4-BE49-F238E27FC236}">
                <a16:creationId xmlns:a16="http://schemas.microsoft.com/office/drawing/2014/main" id="{0F8920D0-E0E5-40BB-AEDA-3D7A0909240E}"/>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a:t>一级段落内容 </a:t>
            </a:r>
            <a:r>
              <a:rPr lang="en-US" altLang="zh-CN"/>
              <a:t>Click to edit Master text styles</a:t>
            </a:r>
          </a:p>
        </p:txBody>
      </p:sp>
      <p:pic>
        <p:nvPicPr>
          <p:cNvPr id="7" name="图片 6">
            <a:extLst>
              <a:ext uri="{FF2B5EF4-FFF2-40B4-BE49-F238E27FC236}">
                <a16:creationId xmlns:a16="http://schemas.microsoft.com/office/drawing/2014/main" id="{33CEF31F-B6BD-7743-A2B8-38ED26999066}"/>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p:blipFill>
        <p:spPr>
          <a:xfrm>
            <a:off x="10490471" y="6430428"/>
            <a:ext cx="1396294" cy="216000"/>
          </a:xfrm>
          <a:prstGeom prst="rect">
            <a:avLst/>
          </a:prstGeom>
        </p:spPr>
      </p:pic>
    </p:spTree>
    <p:extLst>
      <p:ext uri="{BB962C8B-B14F-4D97-AF65-F5344CB8AC3E}">
        <p14:creationId xmlns:p14="http://schemas.microsoft.com/office/powerpoint/2010/main" val="1467915953"/>
      </p:ext>
    </p:extLst>
  </p:cSld>
  <p:clrMap bg1="dk1" tx1="lt1" bg2="dk2" tx2="lt2" accent1="accent1" accent2="accent2" accent3="accent3" accent4="accent4" accent5="accent5" accent6="accent6" hlink="hlink" folHlink="folHlink"/>
  <p:sldLayoutIdLst>
    <p:sldLayoutId id="2147483649" r:id="rId1"/>
    <p:sldLayoutId id="2147483664" r:id="rId2"/>
    <p:sldLayoutId id="2147483660" r:id="rId3"/>
    <p:sldLayoutId id="2147483666" r:id="rId4"/>
    <p:sldLayoutId id="2147483650" r:id="rId5"/>
    <p:sldLayoutId id="2147483668" r:id="rId6"/>
    <p:sldLayoutId id="2147483659" r:id="rId7"/>
    <p:sldLayoutId id="2147483667" r:id="rId8"/>
    <p:sldLayoutId id="2147483654" r:id="rId9"/>
    <p:sldLayoutId id="2147483658" r:id="rId10"/>
    <p:sldLayoutId id="2147483665" r:id="rId11"/>
    <p:sldLayoutId id="2147483655" r:id="rId12"/>
    <p:sldLayoutId id="2147483656" r:id="rId13"/>
    <p:sldLayoutId id="2147483670" r:id="rId14"/>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0" indent="-180000" algn="l" defTabSz="914400" rtl="0" eaLnBrk="1" latinLnBrk="0" hangingPunct="1">
        <a:lnSpc>
          <a:spcPct val="135000"/>
        </a:lnSpc>
        <a:spcBef>
          <a:spcPts val="1500"/>
        </a:spcBef>
        <a:buFont typeface="Arial" panose="020B0604020202020204" pitchFamily="34" charset="0"/>
        <a:buChar char="•"/>
        <a:defRPr sz="1400" kern="1200">
          <a:solidFill>
            <a:schemeClr val="tx1"/>
          </a:solidFill>
          <a:latin typeface="+mn-ea"/>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ea"/>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ea"/>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0.png"/><Relationship Id="rId3" Type="http://schemas.openxmlformats.org/officeDocument/2006/relationships/tags" Target="../tags/tag4.xml"/><Relationship Id="rId7" Type="http://schemas.openxmlformats.org/officeDocument/2006/relationships/slideLayout" Target="../slideLayouts/slideLayout11.xml"/><Relationship Id="rId12" Type="http://schemas.openxmlformats.org/officeDocument/2006/relationships/image" Target="../media/image15.png"/><Relationship Id="rId17" Type="http://schemas.openxmlformats.org/officeDocument/2006/relationships/image" Target="../media/image19.png"/><Relationship Id="rId2" Type="http://schemas.openxmlformats.org/officeDocument/2006/relationships/tags" Target="../tags/tag3.xml"/><Relationship Id="rId16" Type="http://schemas.openxmlformats.org/officeDocument/2006/relationships/hyperlink" Target="https://www.cncf.io/about/join/" TargetMode="Externa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14.png"/><Relationship Id="rId5" Type="http://schemas.openxmlformats.org/officeDocument/2006/relationships/tags" Target="../tags/tag6.xml"/><Relationship Id="rId15" Type="http://schemas.openxmlformats.org/officeDocument/2006/relationships/image" Target="../media/image18.png"/><Relationship Id="rId10" Type="http://schemas.openxmlformats.org/officeDocument/2006/relationships/image" Target="../media/image13.jpeg"/><Relationship Id="rId4" Type="http://schemas.openxmlformats.org/officeDocument/2006/relationships/tags" Target="../tags/tag5.xml"/><Relationship Id="rId9" Type="http://schemas.openxmlformats.org/officeDocument/2006/relationships/image" Target="../media/image12.png"/><Relationship Id="rId1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kubernetes-sigs/inference-perf" TargetMode="External"/><Relationship Id="rId2" Type="http://schemas.openxmlformats.org/officeDocument/2006/relationships/image" Target="../media/image21.jpg"/><Relationship Id="rId1" Type="http://schemas.openxmlformats.org/officeDocument/2006/relationships/slideLayout" Target="../slideLayouts/slideLayout11.xml"/><Relationship Id="rId6" Type="http://schemas.openxmlformats.org/officeDocument/2006/relationships/hyperlink" Target="https://kubernetes.io/docs/concepts/scheduling-eviction/dynamic-resource-allocation/" TargetMode="External"/><Relationship Id="rId5" Type="http://schemas.openxmlformats.org/officeDocument/2006/relationships/hyperlink" Target="https://github.com/kubernetes-sigs/lws" TargetMode="External"/><Relationship Id="rId4" Type="http://schemas.openxmlformats.org/officeDocument/2006/relationships/hyperlink" Target="https://github.com/kubernetes-sigs/gateway-api-inference-extension"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1.xml"/><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hyperlink" Target="https://www.envoyproxy.io/docs/envoy/latest/configuration/http/http_filters/ext_proc_filter" TargetMode="External"/><Relationship Id="rId2" Type="http://schemas.openxmlformats.org/officeDocument/2006/relationships/image" Target="../media/image26.jpeg"/><Relationship Id="rId1" Type="http://schemas.openxmlformats.org/officeDocument/2006/relationships/slideLayout" Target="../slideLayouts/slideLayout11.xml"/><Relationship Id="rId5" Type="http://schemas.openxmlformats.org/officeDocument/2006/relationships/image" Target="../media/image27.jpeg"/><Relationship Id="rId4" Type="http://schemas.openxmlformats.org/officeDocument/2006/relationships/hyperlink" Target="https://gateway-api-inference-extension.sigs.k8s.io/concepts/api-overview/"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4E05E-66AF-8140-9247-9E5DFF382B84}"/>
              </a:ext>
            </a:extLst>
          </p:cNvPr>
          <p:cNvSpPr>
            <a:spLocks noGrp="1"/>
          </p:cNvSpPr>
          <p:nvPr>
            <p:ph type="ctrTitle"/>
          </p:nvPr>
        </p:nvSpPr>
        <p:spPr>
          <a:xfrm>
            <a:off x="660399" y="2018505"/>
            <a:ext cx="9887099" cy="1602719"/>
          </a:xfrm>
        </p:spPr>
        <p:txBody>
          <a:bodyPr/>
          <a:lstStyle/>
          <a:p>
            <a:r>
              <a:rPr lang="zh-CN" altLang="en-US" dirty="0">
                <a:latin typeface="-apple-system"/>
              </a:rPr>
              <a:t>深入浅出讲解 </a:t>
            </a:r>
            <a:r>
              <a:rPr lang="en-US" altLang="zh-CN" dirty="0">
                <a:latin typeface="-apple-system"/>
              </a:rPr>
              <a:t>DeepSeek + K8S </a:t>
            </a:r>
            <a:r>
              <a:rPr lang="zh-CN" altLang="en-US" dirty="0">
                <a:latin typeface="-apple-system"/>
              </a:rPr>
              <a:t>分布式推理</a:t>
            </a:r>
            <a:endParaRPr lang="en-CN" dirty="0"/>
          </a:p>
        </p:txBody>
      </p:sp>
      <p:sp>
        <p:nvSpPr>
          <p:cNvPr id="3" name="Subtitle 2">
            <a:extLst>
              <a:ext uri="{FF2B5EF4-FFF2-40B4-BE49-F238E27FC236}">
                <a16:creationId xmlns:a16="http://schemas.microsoft.com/office/drawing/2014/main" id="{987F89D0-3F53-D14F-B9E2-CD2080AAF9F3}"/>
              </a:ext>
            </a:extLst>
          </p:cNvPr>
          <p:cNvSpPr>
            <a:spLocks noGrp="1"/>
          </p:cNvSpPr>
          <p:nvPr>
            <p:ph type="subTitle" idx="1"/>
          </p:nvPr>
        </p:nvSpPr>
        <p:spPr>
          <a:xfrm>
            <a:off x="660399" y="3884507"/>
            <a:ext cx="7882709" cy="736920"/>
          </a:xfrm>
        </p:spPr>
        <p:txBody>
          <a:bodyPr>
            <a:normAutofit lnSpcReduction="10000"/>
          </a:bodyPr>
          <a:lstStyle/>
          <a:p>
            <a:r>
              <a:rPr kumimoji="1" lang="en-US" altLang="zh-CN" dirty="0" err="1"/>
              <a:t>Hongbing</a:t>
            </a:r>
            <a:r>
              <a:rPr kumimoji="1" lang="en-US" altLang="zh-CN" dirty="0"/>
              <a:t> Kay Yan</a:t>
            </a:r>
          </a:p>
          <a:p>
            <a:r>
              <a:rPr kumimoji="1" lang="en-US" altLang="zh-CN" dirty="0"/>
              <a:t>2025.07</a:t>
            </a:r>
          </a:p>
          <a:p>
            <a:endParaRPr lang="en-CN" dirty="0"/>
          </a:p>
        </p:txBody>
      </p:sp>
    </p:spTree>
    <p:extLst>
      <p:ext uri="{BB962C8B-B14F-4D97-AF65-F5344CB8AC3E}">
        <p14:creationId xmlns:p14="http://schemas.microsoft.com/office/powerpoint/2010/main" val="2124084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a:extLst>
              <a:ext uri="{FF2B5EF4-FFF2-40B4-BE49-F238E27FC236}">
                <a16:creationId xmlns:a16="http://schemas.microsoft.com/office/drawing/2014/main" id="{F04424FB-61DA-E740-9924-6BC4593FB960}"/>
              </a:ext>
            </a:extLst>
          </p:cNvPr>
          <p:cNvSpPr>
            <a:spLocks noGrp="1"/>
          </p:cNvSpPr>
          <p:nvPr>
            <p:ph type="title"/>
          </p:nvPr>
        </p:nvSpPr>
        <p:spPr/>
        <p:txBody>
          <a:bodyPr/>
          <a:lstStyle/>
          <a:p>
            <a:r>
              <a:rPr lang="zh-CN" altLang="en-US" dirty="0"/>
              <a:t>目录</a:t>
            </a:r>
          </a:p>
        </p:txBody>
      </p:sp>
      <p:sp>
        <p:nvSpPr>
          <p:cNvPr id="18" name="文本占位符 17">
            <a:extLst>
              <a:ext uri="{FF2B5EF4-FFF2-40B4-BE49-F238E27FC236}">
                <a16:creationId xmlns:a16="http://schemas.microsoft.com/office/drawing/2014/main" id="{E5A7DDB5-F640-1F44-9007-F3B8F35617D3}"/>
              </a:ext>
            </a:extLst>
          </p:cNvPr>
          <p:cNvSpPr>
            <a:spLocks noGrp="1"/>
          </p:cNvSpPr>
          <p:nvPr>
            <p:ph type="body" idx="11"/>
          </p:nvPr>
        </p:nvSpPr>
        <p:spPr/>
        <p:txBody>
          <a:bodyPr/>
          <a:lstStyle/>
          <a:p>
            <a:r>
              <a:rPr lang="en-US" altLang="zh-CN"/>
              <a:t>Content</a:t>
            </a:r>
            <a:endParaRPr lang="zh-CN" altLang="en-US"/>
          </a:p>
        </p:txBody>
      </p:sp>
      <p:sp>
        <p:nvSpPr>
          <p:cNvPr id="13" name="文本占位符 12">
            <a:extLst>
              <a:ext uri="{FF2B5EF4-FFF2-40B4-BE49-F238E27FC236}">
                <a16:creationId xmlns:a16="http://schemas.microsoft.com/office/drawing/2014/main" id="{0BFC7275-F633-B74D-893B-E57B41DC2CFE}"/>
              </a:ext>
            </a:extLst>
          </p:cNvPr>
          <p:cNvSpPr>
            <a:spLocks noGrp="1"/>
          </p:cNvSpPr>
          <p:nvPr>
            <p:ph type="body" sz="quarter" idx="12"/>
          </p:nvPr>
        </p:nvSpPr>
        <p:spPr/>
        <p:txBody>
          <a:bodyPr>
            <a:normAutofit/>
          </a:bodyPr>
          <a:lstStyle/>
          <a:p>
            <a:r>
              <a:rPr lang="en-US" altLang="zh-CN" dirty="0"/>
              <a:t>Kubernetes </a:t>
            </a:r>
            <a:r>
              <a:rPr lang="zh-CN" altLang="en-US" dirty="0"/>
              <a:t>分布式推理</a:t>
            </a:r>
            <a:endParaRPr lang="en-US" altLang="zh-CN" dirty="0"/>
          </a:p>
          <a:p>
            <a:r>
              <a:rPr lang="en-US" altLang="zh-CN" dirty="0"/>
              <a:t>WG-Serving </a:t>
            </a:r>
            <a:r>
              <a:rPr lang="zh-CN" altLang="en-US" dirty="0"/>
              <a:t>工作组核心贡献</a:t>
            </a:r>
          </a:p>
          <a:p>
            <a:pPr algn="l"/>
            <a:r>
              <a:rPr lang="en-US" altLang="zh-CN" dirty="0"/>
              <a:t>LWS(Leader Worker Set) </a:t>
            </a:r>
            <a:r>
              <a:rPr lang="zh-CN" altLang="en-US" dirty="0"/>
              <a:t>深度解析</a:t>
            </a:r>
            <a:endParaRPr lang="en-US" altLang="zh-CN" dirty="0"/>
          </a:p>
          <a:p>
            <a:pPr algn="l"/>
            <a:r>
              <a:rPr lang="zh-CN" altLang="en-US" dirty="0"/>
              <a:t>技术演进和未来展望</a:t>
            </a:r>
            <a:endParaRPr lang="en-US" altLang="zh-CN" dirty="0"/>
          </a:p>
        </p:txBody>
      </p:sp>
    </p:spTree>
    <p:extLst>
      <p:ext uri="{BB962C8B-B14F-4D97-AF65-F5344CB8AC3E}">
        <p14:creationId xmlns:p14="http://schemas.microsoft.com/office/powerpoint/2010/main" val="759257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AB98B-93AF-A841-831C-6405855E2D90}"/>
              </a:ext>
            </a:extLst>
          </p:cNvPr>
          <p:cNvSpPr>
            <a:spLocks noGrp="1"/>
          </p:cNvSpPr>
          <p:nvPr>
            <p:ph type="title"/>
          </p:nvPr>
        </p:nvSpPr>
        <p:spPr/>
        <p:txBody>
          <a:bodyPr/>
          <a:lstStyle/>
          <a:p>
            <a:r>
              <a:rPr lang="en-US" altLang="zh-CN" dirty="0"/>
              <a:t>Kubernetes </a:t>
            </a:r>
            <a:r>
              <a:rPr lang="zh-CN" altLang="en-US" dirty="0"/>
              <a:t>分布式推理</a:t>
            </a:r>
            <a:endParaRPr lang="zh-CN" altLang="en-US" dirty="0">
              <a:latin typeface="-apple-system"/>
            </a:endParaRPr>
          </a:p>
        </p:txBody>
      </p:sp>
      <p:sp>
        <p:nvSpPr>
          <p:cNvPr id="4" name="Text Placeholder 3">
            <a:extLst>
              <a:ext uri="{FF2B5EF4-FFF2-40B4-BE49-F238E27FC236}">
                <a16:creationId xmlns:a16="http://schemas.microsoft.com/office/drawing/2014/main" id="{F2223098-A9CB-0746-B49D-1FA97659463F}"/>
              </a:ext>
            </a:extLst>
          </p:cNvPr>
          <p:cNvSpPr>
            <a:spLocks noGrp="1"/>
          </p:cNvSpPr>
          <p:nvPr>
            <p:ph type="body" idx="10"/>
          </p:nvPr>
        </p:nvSpPr>
        <p:spPr/>
        <p:txBody>
          <a:bodyPr/>
          <a:lstStyle/>
          <a:p>
            <a:r>
              <a:rPr lang="en-CN"/>
              <a:t>Part</a:t>
            </a:r>
          </a:p>
        </p:txBody>
      </p:sp>
      <p:sp>
        <p:nvSpPr>
          <p:cNvPr id="5" name="Text Placeholder 4">
            <a:extLst>
              <a:ext uri="{FF2B5EF4-FFF2-40B4-BE49-F238E27FC236}">
                <a16:creationId xmlns:a16="http://schemas.microsoft.com/office/drawing/2014/main" id="{23039CD1-B8E5-4149-9230-0E24111C0B02}"/>
              </a:ext>
            </a:extLst>
          </p:cNvPr>
          <p:cNvSpPr>
            <a:spLocks noGrp="1"/>
          </p:cNvSpPr>
          <p:nvPr>
            <p:ph type="body" idx="11"/>
          </p:nvPr>
        </p:nvSpPr>
        <p:spPr/>
        <p:txBody>
          <a:bodyPr/>
          <a:lstStyle/>
          <a:p>
            <a:r>
              <a:rPr lang="en-US" altLang="zh-CN" dirty="0"/>
              <a:t>01</a:t>
            </a:r>
            <a:endParaRPr lang="en-CN" dirty="0"/>
          </a:p>
        </p:txBody>
      </p:sp>
    </p:spTree>
    <p:extLst>
      <p:ext uri="{BB962C8B-B14F-4D97-AF65-F5344CB8AC3E}">
        <p14:creationId xmlns:p14="http://schemas.microsoft.com/office/powerpoint/2010/main" val="1261659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97485B5-28D2-1D8E-067A-93D9AE323C71}"/>
              </a:ext>
            </a:extLst>
          </p:cNvPr>
          <p:cNvSpPr>
            <a:spLocks noGrp="1"/>
          </p:cNvSpPr>
          <p:nvPr>
            <p:ph type="body" sz="quarter" idx="32"/>
          </p:nvPr>
        </p:nvSpPr>
        <p:spPr/>
        <p:txBody>
          <a:bodyPr/>
          <a:lstStyle/>
          <a:p>
            <a:pPr indent="0">
              <a:buNone/>
            </a:pPr>
            <a:r>
              <a:rPr lang="en-US" altLang="zh-CN" dirty="0"/>
              <a:t>Inference: </a:t>
            </a:r>
            <a:r>
              <a:rPr lang="zh-CN" altLang="en-US" dirty="0"/>
              <a:t>从一个单机的 </a:t>
            </a:r>
            <a:r>
              <a:rPr lang="en-US" altLang="zh-CN" dirty="0"/>
              <a:t>Hello World </a:t>
            </a:r>
            <a:r>
              <a:rPr lang="zh-CN" altLang="en-US" dirty="0"/>
              <a:t>开始</a:t>
            </a:r>
          </a:p>
        </p:txBody>
      </p:sp>
      <p:sp>
        <p:nvSpPr>
          <p:cNvPr id="17" name="文本框 16">
            <a:extLst>
              <a:ext uri="{FF2B5EF4-FFF2-40B4-BE49-F238E27FC236}">
                <a16:creationId xmlns:a16="http://schemas.microsoft.com/office/drawing/2014/main" id="{563ADC4A-A1C8-4155-C0E4-60EC50CFEBD9}"/>
              </a:ext>
            </a:extLst>
          </p:cNvPr>
          <p:cNvSpPr txBox="1"/>
          <p:nvPr/>
        </p:nvSpPr>
        <p:spPr>
          <a:xfrm>
            <a:off x="303268" y="1470393"/>
            <a:ext cx="11662167"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dirty="0">
                <a:solidFill>
                  <a:schemeClr val="bg1"/>
                </a:solidFill>
              </a:rPr>
              <a:t>docker run </a:t>
            </a:r>
            <a:r>
              <a:rPr lang="en-US" altLang="zh-CN" b="1" dirty="0">
                <a:solidFill>
                  <a:schemeClr val="accent1"/>
                </a:solidFill>
              </a:rPr>
              <a:t>--</a:t>
            </a:r>
            <a:r>
              <a:rPr lang="en-US" altLang="zh-CN" b="1" dirty="0" err="1">
                <a:solidFill>
                  <a:schemeClr val="accent1"/>
                </a:solidFill>
              </a:rPr>
              <a:t>gpus</a:t>
            </a:r>
            <a:r>
              <a:rPr lang="en-US" altLang="zh-CN" b="1" dirty="0">
                <a:solidFill>
                  <a:schemeClr val="accent1"/>
                </a:solidFill>
              </a:rPr>
              <a:t> all </a:t>
            </a:r>
            <a:r>
              <a:rPr lang="en-US" altLang="zh-CN" dirty="0">
                <a:solidFill>
                  <a:schemeClr val="bg1"/>
                </a:solidFill>
              </a:rPr>
              <a:t>\</a:t>
            </a:r>
          </a:p>
          <a:p>
            <a:r>
              <a:rPr lang="en-US" altLang="zh-CN" dirty="0">
                <a:solidFill>
                  <a:schemeClr val="bg1"/>
                </a:solidFill>
              </a:rPr>
              <a:t>    --</a:t>
            </a:r>
            <a:r>
              <a:rPr lang="en-US" altLang="zh-CN" dirty="0" err="1">
                <a:solidFill>
                  <a:schemeClr val="bg1"/>
                </a:solidFill>
              </a:rPr>
              <a:t>shm</a:t>
            </a:r>
            <a:r>
              <a:rPr lang="en-US" altLang="zh-CN" dirty="0">
                <a:solidFill>
                  <a:schemeClr val="bg1"/>
                </a:solidFill>
              </a:rPr>
              <a:t>-size 32g \</a:t>
            </a:r>
          </a:p>
          <a:p>
            <a:r>
              <a:rPr lang="en-US" altLang="zh-CN" dirty="0">
                <a:solidFill>
                  <a:schemeClr val="bg1"/>
                </a:solidFill>
              </a:rPr>
              <a:t>    -p 30000:30000 \</a:t>
            </a:r>
          </a:p>
          <a:p>
            <a:r>
              <a:rPr lang="en-US" altLang="zh-CN" dirty="0">
                <a:solidFill>
                  <a:schemeClr val="bg1"/>
                </a:solidFill>
              </a:rPr>
              <a:t>    -v ~/.cache/</a:t>
            </a:r>
            <a:r>
              <a:rPr lang="en-US" altLang="zh-CN" dirty="0" err="1">
                <a:solidFill>
                  <a:schemeClr val="bg1"/>
                </a:solidFill>
              </a:rPr>
              <a:t>huggingface</a:t>
            </a:r>
            <a:r>
              <a:rPr lang="en-US" altLang="zh-CN" dirty="0">
                <a:solidFill>
                  <a:schemeClr val="bg1"/>
                </a:solidFill>
              </a:rPr>
              <a:t>:/root/.cache/</a:t>
            </a:r>
            <a:r>
              <a:rPr lang="en-US" altLang="zh-CN" dirty="0" err="1">
                <a:solidFill>
                  <a:schemeClr val="bg1"/>
                </a:solidFill>
              </a:rPr>
              <a:t>huggingface</a:t>
            </a:r>
            <a:r>
              <a:rPr lang="en-US" altLang="zh-CN" dirty="0">
                <a:solidFill>
                  <a:schemeClr val="bg1"/>
                </a:solidFill>
              </a:rPr>
              <a:t> \</a:t>
            </a:r>
          </a:p>
          <a:p>
            <a:r>
              <a:rPr lang="en-US" altLang="zh-CN" dirty="0">
                <a:solidFill>
                  <a:schemeClr val="bg1"/>
                </a:solidFill>
              </a:rPr>
              <a:t>    --env "HF_TOKEN=&lt;secret&gt;" \</a:t>
            </a:r>
          </a:p>
          <a:p>
            <a:r>
              <a:rPr lang="en-US" altLang="zh-CN" dirty="0">
                <a:solidFill>
                  <a:schemeClr val="bg1"/>
                </a:solidFill>
              </a:rPr>
              <a:t>    --</a:t>
            </a:r>
            <a:r>
              <a:rPr lang="en-US" altLang="zh-CN" dirty="0" err="1">
                <a:solidFill>
                  <a:schemeClr val="bg1"/>
                </a:solidFill>
              </a:rPr>
              <a:t>ipc</a:t>
            </a:r>
            <a:r>
              <a:rPr lang="en-US" altLang="zh-CN" dirty="0">
                <a:solidFill>
                  <a:schemeClr val="bg1"/>
                </a:solidFill>
              </a:rPr>
              <a:t>=host \</a:t>
            </a:r>
          </a:p>
          <a:p>
            <a:r>
              <a:rPr lang="en-US" altLang="zh-CN" dirty="0">
                <a:solidFill>
                  <a:schemeClr val="bg1"/>
                </a:solidFill>
              </a:rPr>
              <a:t>    </a:t>
            </a:r>
            <a:r>
              <a:rPr lang="en-US" altLang="zh-CN" b="1" dirty="0" err="1">
                <a:solidFill>
                  <a:schemeClr val="accent1"/>
                </a:solidFill>
              </a:rPr>
              <a:t>lmsysorg</a:t>
            </a:r>
            <a:r>
              <a:rPr lang="en-US" altLang="zh-CN" b="1" dirty="0">
                <a:solidFill>
                  <a:schemeClr val="accent1"/>
                </a:solidFill>
              </a:rPr>
              <a:t>/</a:t>
            </a:r>
            <a:r>
              <a:rPr lang="en-US" altLang="zh-CN" b="1" dirty="0" err="1">
                <a:solidFill>
                  <a:schemeClr val="accent1"/>
                </a:solidFill>
              </a:rPr>
              <a:t>sglang:latest</a:t>
            </a:r>
            <a:r>
              <a:rPr lang="en-US" altLang="zh-CN" b="1" dirty="0">
                <a:solidFill>
                  <a:schemeClr val="accent1"/>
                </a:solidFill>
              </a:rPr>
              <a:t> </a:t>
            </a:r>
            <a:r>
              <a:rPr lang="en-US" altLang="zh-CN" dirty="0">
                <a:solidFill>
                  <a:schemeClr val="bg1"/>
                </a:solidFill>
              </a:rPr>
              <a:t>\</a:t>
            </a:r>
          </a:p>
          <a:p>
            <a:r>
              <a:rPr lang="en-US" altLang="zh-CN" dirty="0">
                <a:solidFill>
                  <a:schemeClr val="bg1"/>
                </a:solidFill>
              </a:rPr>
              <a:t>    python3 -m </a:t>
            </a:r>
            <a:r>
              <a:rPr lang="en-US" altLang="zh-CN" dirty="0" err="1">
                <a:solidFill>
                  <a:schemeClr val="bg1"/>
                </a:solidFill>
              </a:rPr>
              <a:t>sglang.launch_server</a:t>
            </a:r>
            <a:r>
              <a:rPr lang="en-US" altLang="zh-CN" dirty="0">
                <a:solidFill>
                  <a:schemeClr val="bg1"/>
                </a:solidFill>
              </a:rPr>
              <a:t> --model-path </a:t>
            </a:r>
            <a:r>
              <a:rPr lang="en-US" altLang="zh-CN" b="1" dirty="0">
                <a:solidFill>
                  <a:schemeClr val="accent1"/>
                </a:solidFill>
              </a:rPr>
              <a:t>meta-llama/Llama-3.1-8B-Instruct </a:t>
            </a:r>
            <a:r>
              <a:rPr lang="en-US" altLang="zh-CN" dirty="0">
                <a:solidFill>
                  <a:schemeClr val="bg1"/>
                </a:solidFill>
              </a:rPr>
              <a:t>--host 0.0.0.0 --port 30000</a:t>
            </a:r>
            <a:endParaRPr lang="zh-CN" altLang="en-US" dirty="0">
              <a:solidFill>
                <a:schemeClr val="bg1"/>
              </a:solidFill>
            </a:endParaRPr>
          </a:p>
        </p:txBody>
      </p:sp>
      <p:sp>
        <p:nvSpPr>
          <p:cNvPr id="19" name="文本框 18">
            <a:extLst>
              <a:ext uri="{FF2B5EF4-FFF2-40B4-BE49-F238E27FC236}">
                <a16:creationId xmlns:a16="http://schemas.microsoft.com/office/drawing/2014/main" id="{5077E911-81B3-209C-DDDA-890A77B9F012}"/>
              </a:ext>
            </a:extLst>
          </p:cNvPr>
          <p:cNvSpPr txBox="1"/>
          <p:nvPr/>
        </p:nvSpPr>
        <p:spPr>
          <a:xfrm>
            <a:off x="442265" y="4507800"/>
            <a:ext cx="6055029" cy="1384995"/>
          </a:xfrm>
          <a:prstGeom prst="rect">
            <a:avLst/>
          </a:prstGeom>
          <a:noFill/>
        </p:spPr>
        <p:txBody>
          <a:bodyPr wrap="square">
            <a:spAutoFit/>
          </a:bodyPr>
          <a:lstStyle/>
          <a:p>
            <a:pPr>
              <a:buFont typeface="+mj-lt"/>
              <a:buAutoNum type="arabicPeriod"/>
            </a:pPr>
            <a:r>
              <a:rPr lang="zh-CN" altLang="en-US" sz="2800" dirty="0">
                <a:solidFill>
                  <a:schemeClr val="bg1"/>
                </a:solidFill>
              </a:rPr>
              <a:t>启动一个 </a:t>
            </a:r>
            <a:r>
              <a:rPr lang="en-US" altLang="zh-CN" sz="2800" b="1" dirty="0" err="1">
                <a:solidFill>
                  <a:schemeClr val="accent1"/>
                </a:solidFill>
              </a:rPr>
              <a:t>SGLang</a:t>
            </a:r>
            <a:r>
              <a:rPr lang="en-US" altLang="zh-CN" sz="2800" dirty="0">
                <a:solidFill>
                  <a:schemeClr val="bg1"/>
                </a:solidFill>
              </a:rPr>
              <a:t> </a:t>
            </a:r>
            <a:r>
              <a:rPr lang="zh-CN" altLang="en-US" sz="2800" dirty="0">
                <a:solidFill>
                  <a:schemeClr val="bg1"/>
                </a:solidFill>
              </a:rPr>
              <a:t>的 </a:t>
            </a:r>
            <a:r>
              <a:rPr lang="en-US" altLang="zh-CN" sz="2800" b="1" dirty="0">
                <a:solidFill>
                  <a:schemeClr val="accent1"/>
                </a:solidFill>
              </a:rPr>
              <a:t>Docker</a:t>
            </a:r>
            <a:r>
              <a:rPr lang="en-US" altLang="zh-CN" sz="2800" dirty="0">
                <a:solidFill>
                  <a:schemeClr val="bg1"/>
                </a:solidFill>
              </a:rPr>
              <a:t> </a:t>
            </a:r>
            <a:r>
              <a:rPr lang="zh-CN" altLang="en-US" sz="2800" dirty="0">
                <a:solidFill>
                  <a:schemeClr val="bg1"/>
                </a:solidFill>
              </a:rPr>
              <a:t>容器</a:t>
            </a:r>
          </a:p>
          <a:p>
            <a:pPr>
              <a:buFont typeface="+mj-lt"/>
              <a:buAutoNum type="arabicPeriod"/>
            </a:pPr>
            <a:r>
              <a:rPr lang="zh-CN" altLang="en-US" sz="2800" dirty="0">
                <a:solidFill>
                  <a:schemeClr val="bg1"/>
                </a:solidFill>
              </a:rPr>
              <a:t>从 </a:t>
            </a:r>
            <a:r>
              <a:rPr lang="en-US" altLang="zh-CN" sz="2800" dirty="0" err="1">
                <a:solidFill>
                  <a:schemeClr val="bg1"/>
                </a:solidFill>
              </a:rPr>
              <a:t>huggingface</a:t>
            </a:r>
            <a:r>
              <a:rPr lang="en-US" altLang="zh-CN" sz="2800" dirty="0">
                <a:solidFill>
                  <a:schemeClr val="bg1"/>
                </a:solidFill>
              </a:rPr>
              <a:t> </a:t>
            </a:r>
            <a:r>
              <a:rPr lang="zh-CN" altLang="en-US" sz="2800" dirty="0">
                <a:solidFill>
                  <a:schemeClr val="bg1"/>
                </a:solidFill>
              </a:rPr>
              <a:t>下载 </a:t>
            </a:r>
            <a:r>
              <a:rPr lang="en-US" altLang="zh-CN" sz="2800" b="1" dirty="0">
                <a:solidFill>
                  <a:schemeClr val="accent1"/>
                </a:solidFill>
              </a:rPr>
              <a:t>Llama</a:t>
            </a:r>
            <a:r>
              <a:rPr lang="en-US" altLang="zh-CN" sz="2800" dirty="0">
                <a:solidFill>
                  <a:schemeClr val="bg1"/>
                </a:solidFill>
              </a:rPr>
              <a:t> </a:t>
            </a:r>
            <a:r>
              <a:rPr lang="zh-CN" altLang="en-US" sz="2800" dirty="0">
                <a:solidFill>
                  <a:schemeClr val="bg1"/>
                </a:solidFill>
              </a:rPr>
              <a:t>模型</a:t>
            </a:r>
          </a:p>
          <a:p>
            <a:pPr>
              <a:buFont typeface="+mj-lt"/>
              <a:buAutoNum type="arabicPeriod"/>
            </a:pPr>
            <a:r>
              <a:rPr lang="zh-CN" altLang="en-US" sz="2800" dirty="0">
                <a:solidFill>
                  <a:schemeClr val="bg1"/>
                </a:solidFill>
                <a:effectLst/>
              </a:rPr>
              <a:t>在 </a:t>
            </a:r>
            <a:r>
              <a:rPr lang="en-US" altLang="zh-CN" sz="2800" b="1" dirty="0">
                <a:solidFill>
                  <a:schemeClr val="accent1"/>
                </a:solidFill>
                <a:effectLst/>
              </a:rPr>
              <a:t>GPU</a:t>
            </a:r>
            <a:r>
              <a:rPr lang="en-US" altLang="zh-CN" sz="2800" dirty="0">
                <a:solidFill>
                  <a:schemeClr val="bg1"/>
                </a:solidFill>
                <a:effectLst/>
              </a:rPr>
              <a:t> </a:t>
            </a:r>
            <a:r>
              <a:rPr lang="zh-CN" altLang="en-US" sz="2800" dirty="0">
                <a:solidFill>
                  <a:schemeClr val="bg1"/>
                </a:solidFill>
                <a:effectLst/>
              </a:rPr>
              <a:t>上跑起来</a:t>
            </a:r>
            <a:endParaRPr lang="zh-CN" altLang="en-US" sz="2800" dirty="0">
              <a:solidFill>
                <a:schemeClr val="bg1"/>
              </a:solidFill>
            </a:endParaRPr>
          </a:p>
        </p:txBody>
      </p:sp>
      <p:pic>
        <p:nvPicPr>
          <p:cNvPr id="2058" name="Picture 10" descr="AWS | Community | SGLang on ECS: efficiently serving leading OSS LLMs on AWS">
            <a:extLst>
              <a:ext uri="{FF2B5EF4-FFF2-40B4-BE49-F238E27FC236}">
                <a16:creationId xmlns:a16="http://schemas.microsoft.com/office/drawing/2014/main" id="{188002CF-D0F1-6D3E-EE99-47906784E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0074" y="3930194"/>
            <a:ext cx="4535361" cy="291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0957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E7F0B-9F18-1D71-2BCE-02A79F9A85B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1385B4A3-CBDC-F2DB-1CA7-90812362D35E}"/>
              </a:ext>
            </a:extLst>
          </p:cNvPr>
          <p:cNvSpPr>
            <a:spLocks noGrp="1"/>
          </p:cNvSpPr>
          <p:nvPr>
            <p:ph type="body" sz="quarter" idx="32"/>
          </p:nvPr>
        </p:nvSpPr>
        <p:spPr/>
        <p:txBody>
          <a:bodyPr/>
          <a:lstStyle/>
          <a:p>
            <a:pPr indent="0">
              <a:buNone/>
            </a:pPr>
            <a:r>
              <a:rPr lang="en-US" altLang="zh-CN" dirty="0" err="1"/>
              <a:t>DeepSeek</a:t>
            </a:r>
            <a:r>
              <a:rPr lang="en-US" altLang="zh-CN" dirty="0"/>
              <a:t> R1 671b Hardware requirements</a:t>
            </a:r>
            <a:endParaRPr lang="zh-CN" altLang="en-US" dirty="0"/>
          </a:p>
        </p:txBody>
      </p:sp>
      <p:sp>
        <p:nvSpPr>
          <p:cNvPr id="4" name="文本框 3">
            <a:extLst>
              <a:ext uri="{FF2B5EF4-FFF2-40B4-BE49-F238E27FC236}">
                <a16:creationId xmlns:a16="http://schemas.microsoft.com/office/drawing/2014/main" id="{11D4B7C4-069A-1232-1501-4577A9673BE1}"/>
              </a:ext>
            </a:extLst>
          </p:cNvPr>
          <p:cNvSpPr txBox="1"/>
          <p:nvPr/>
        </p:nvSpPr>
        <p:spPr>
          <a:xfrm>
            <a:off x="7479341" y="5848320"/>
            <a:ext cx="4493538" cy="523220"/>
          </a:xfrm>
          <a:prstGeom prst="rect">
            <a:avLst/>
          </a:prstGeom>
          <a:noFill/>
        </p:spPr>
        <p:txBody>
          <a:bodyPr wrap="none" rtlCol="0">
            <a:spAutoFit/>
          </a:bodyPr>
          <a:lstStyle/>
          <a:p>
            <a:r>
              <a:rPr lang="zh-CN" altLang="en-US" sz="2800" dirty="0">
                <a:solidFill>
                  <a:schemeClr val="bg1"/>
                </a:solidFill>
              </a:rPr>
              <a:t>模型太大，一锅“炖”不下</a:t>
            </a:r>
          </a:p>
        </p:txBody>
      </p:sp>
      <p:pic>
        <p:nvPicPr>
          <p:cNvPr id="5122" name="Picture 2">
            <a:extLst>
              <a:ext uri="{FF2B5EF4-FFF2-40B4-BE49-F238E27FC236}">
                <a16:creationId xmlns:a16="http://schemas.microsoft.com/office/drawing/2014/main" id="{A3815336-1AE6-0CEC-FD3D-F474EC3C1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62" y="592752"/>
            <a:ext cx="3493346" cy="498554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5CC7D65F-62C4-CB49-A2FA-AC95214D02C4}"/>
              </a:ext>
            </a:extLst>
          </p:cNvPr>
          <p:cNvSpPr txBox="1"/>
          <p:nvPr/>
        </p:nvSpPr>
        <p:spPr>
          <a:xfrm>
            <a:off x="474431" y="6177076"/>
            <a:ext cx="6095234" cy="523220"/>
          </a:xfrm>
          <a:prstGeom prst="rect">
            <a:avLst/>
          </a:prstGeom>
          <a:noFill/>
        </p:spPr>
        <p:txBody>
          <a:bodyPr wrap="square">
            <a:spAutoFit/>
          </a:bodyPr>
          <a:lstStyle/>
          <a:p>
            <a:r>
              <a:rPr lang="en-US" altLang="zh-CN" sz="1400" b="0" i="0" dirty="0" err="1">
                <a:solidFill>
                  <a:srgbClr val="222832"/>
                </a:solidFill>
                <a:effectLst/>
                <a:latin typeface="-apple-system"/>
              </a:rPr>
              <a:t>DeepSeek</a:t>
            </a:r>
            <a:r>
              <a:rPr lang="en-US" altLang="zh-CN" sz="1400" b="0" i="0" dirty="0">
                <a:solidFill>
                  <a:srgbClr val="222832"/>
                </a:solidFill>
                <a:effectLst/>
                <a:latin typeface="-apple-system"/>
              </a:rPr>
              <a:t> R1 </a:t>
            </a:r>
            <a:r>
              <a:rPr lang="zh-CN" altLang="en-US" sz="1400" b="0" i="0" dirty="0">
                <a:solidFill>
                  <a:srgbClr val="222832"/>
                </a:solidFill>
                <a:effectLst/>
                <a:latin typeface="-apple-system"/>
              </a:rPr>
              <a:t>需要 </a:t>
            </a:r>
            <a:r>
              <a:rPr lang="en-US" altLang="zh-CN" sz="1400" b="0" i="0" dirty="0">
                <a:solidFill>
                  <a:srgbClr val="222832"/>
                </a:solidFill>
                <a:effectLst/>
                <a:latin typeface="-apple-system"/>
              </a:rPr>
              <a:t>1</a:t>
            </a:r>
            <a:r>
              <a:rPr lang="en-US" altLang="zh-CN" sz="1400" dirty="0">
                <a:solidFill>
                  <a:srgbClr val="222832"/>
                </a:solidFill>
                <a:latin typeface="-apple-system"/>
              </a:rPr>
              <a:t>.3TB (FP16), </a:t>
            </a:r>
            <a:r>
              <a:rPr lang="en-US" altLang="zh-CN" sz="1400" b="0" i="0" dirty="0">
                <a:solidFill>
                  <a:srgbClr val="222832"/>
                </a:solidFill>
                <a:effectLst/>
                <a:latin typeface="-apple-system"/>
              </a:rPr>
              <a:t>671GB </a:t>
            </a:r>
            <a:r>
              <a:rPr lang="en-US" altLang="zh-CN" sz="1400" dirty="0">
                <a:solidFill>
                  <a:srgbClr val="222832"/>
                </a:solidFill>
                <a:latin typeface="-apple-system"/>
              </a:rPr>
              <a:t>(FP8) </a:t>
            </a:r>
            <a:r>
              <a:rPr lang="zh-CN" altLang="en-US" sz="1400" dirty="0">
                <a:solidFill>
                  <a:srgbClr val="222832"/>
                </a:solidFill>
                <a:latin typeface="-apple-system"/>
              </a:rPr>
              <a:t>显存，</a:t>
            </a:r>
            <a:endParaRPr lang="en-US" altLang="zh-CN" sz="1400" b="0" i="0" dirty="0">
              <a:solidFill>
                <a:srgbClr val="222832"/>
              </a:solidFill>
              <a:effectLst/>
              <a:latin typeface="-apple-system"/>
            </a:endParaRPr>
          </a:p>
          <a:p>
            <a:r>
              <a:rPr lang="zh-CN" altLang="en-US" sz="1400" dirty="0">
                <a:solidFill>
                  <a:srgbClr val="222832"/>
                </a:solidFill>
                <a:latin typeface="-apple-system"/>
              </a:rPr>
              <a:t>因此 </a:t>
            </a:r>
            <a:r>
              <a:rPr lang="en-US" altLang="zh-CN" sz="1400" b="0" i="0" dirty="0" err="1">
                <a:solidFill>
                  <a:srgbClr val="222832"/>
                </a:solidFill>
                <a:effectLst/>
                <a:latin typeface="-apple-system"/>
              </a:rPr>
              <a:t>DeepSeek</a:t>
            </a:r>
            <a:r>
              <a:rPr lang="en-US" altLang="zh-CN" sz="1400" b="0" i="0" dirty="0">
                <a:solidFill>
                  <a:srgbClr val="222832"/>
                </a:solidFill>
                <a:effectLst/>
                <a:latin typeface="-apple-system"/>
              </a:rPr>
              <a:t> R1 </a:t>
            </a:r>
            <a:r>
              <a:rPr lang="zh-CN" altLang="en-US" sz="1400" b="0" i="0" dirty="0">
                <a:solidFill>
                  <a:srgbClr val="222832"/>
                </a:solidFill>
                <a:effectLst/>
                <a:latin typeface="-apple-system"/>
              </a:rPr>
              <a:t>需要分布式推理</a:t>
            </a:r>
            <a:endParaRPr lang="zh-CN" altLang="en-US" sz="1400" dirty="0"/>
          </a:p>
        </p:txBody>
      </p:sp>
      <p:graphicFrame>
        <p:nvGraphicFramePr>
          <p:cNvPr id="8" name="表格 7">
            <a:extLst>
              <a:ext uri="{FF2B5EF4-FFF2-40B4-BE49-F238E27FC236}">
                <a16:creationId xmlns:a16="http://schemas.microsoft.com/office/drawing/2014/main" id="{F0496066-4D6E-3F89-33F8-E5FA667603B9}"/>
              </a:ext>
            </a:extLst>
          </p:cNvPr>
          <p:cNvGraphicFramePr>
            <a:graphicFrameLocks noGrp="1"/>
          </p:cNvGraphicFramePr>
          <p:nvPr>
            <p:extLst>
              <p:ext uri="{D42A27DB-BD31-4B8C-83A1-F6EECF244321}">
                <p14:modId xmlns:p14="http://schemas.microsoft.com/office/powerpoint/2010/main" val="1197086586"/>
              </p:ext>
            </p:extLst>
          </p:nvPr>
        </p:nvGraphicFramePr>
        <p:xfrm>
          <a:off x="558214" y="1199473"/>
          <a:ext cx="6743201" cy="4755534"/>
        </p:xfrm>
        <a:graphic>
          <a:graphicData uri="http://schemas.openxmlformats.org/drawingml/2006/table">
            <a:tbl>
              <a:tblPr/>
              <a:tblGrid>
                <a:gridCol w="2596527">
                  <a:extLst>
                    <a:ext uri="{9D8B030D-6E8A-4147-A177-3AD203B41FA5}">
                      <a16:colId xmlns:a16="http://schemas.microsoft.com/office/drawing/2014/main" val="2297907193"/>
                    </a:ext>
                  </a:extLst>
                </a:gridCol>
                <a:gridCol w="4146674">
                  <a:extLst>
                    <a:ext uri="{9D8B030D-6E8A-4147-A177-3AD203B41FA5}">
                      <a16:colId xmlns:a16="http://schemas.microsoft.com/office/drawing/2014/main" val="1791501294"/>
                    </a:ext>
                  </a:extLst>
                </a:gridCol>
              </a:tblGrid>
              <a:tr h="261520">
                <a:tc>
                  <a:txBody>
                    <a:bodyPr/>
                    <a:lstStyle/>
                    <a:p>
                      <a:pPr algn="l">
                        <a:buNone/>
                      </a:pPr>
                      <a:r>
                        <a:rPr lang="en-US" sz="1400" dirty="0">
                          <a:solidFill>
                            <a:srgbClr val="222832"/>
                          </a:solidFill>
                          <a:effectLst/>
                        </a:rPr>
                        <a:t>Weight Type</a:t>
                      </a:r>
                    </a:p>
                  </a:txBody>
                  <a:tcPr marL="69497" marR="69497" marT="34749" marB="34749">
                    <a:lnL w="4763" cap="flat" cmpd="sng" algn="ctr">
                      <a:solidFill>
                        <a:srgbClr val="A080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A08013"/>
                      </a:solidFill>
                      <a:prstDash val="solid"/>
                      <a:round/>
                      <a:headEnd type="none" w="med" len="med"/>
                      <a:tailEnd type="none" w="med" len="med"/>
                    </a:lnT>
                    <a:lnB w="4763" cap="flat" cmpd="sng" algn="ctr">
                      <a:solidFill>
                        <a:srgbClr val="A07F13"/>
                      </a:solidFill>
                      <a:prstDash val="solid"/>
                      <a:round/>
                      <a:headEnd type="none" w="med" len="med"/>
                      <a:tailEnd type="none" w="med" len="med"/>
                    </a:lnB>
                    <a:solidFill>
                      <a:srgbClr val="F3F4F5"/>
                    </a:solidFill>
                  </a:tcPr>
                </a:tc>
                <a:tc>
                  <a:txBody>
                    <a:bodyPr/>
                    <a:lstStyle/>
                    <a:p>
                      <a:pPr algn="l">
                        <a:buNone/>
                      </a:pPr>
                      <a:r>
                        <a:rPr lang="en-US" sz="1400">
                          <a:solidFill>
                            <a:srgbClr val="222832"/>
                          </a:solidFill>
                          <a:effectLst/>
                        </a:rPr>
                        <a:t>Configuration</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E07E13"/>
                      </a:solidFill>
                      <a:prstDash val="solid"/>
                      <a:round/>
                      <a:headEnd type="none" w="med" len="med"/>
                      <a:tailEnd type="none" w="med" len="med"/>
                    </a:lnR>
                    <a:lnT w="4763" cap="flat" cmpd="sng" algn="ctr">
                      <a:solidFill>
                        <a:srgbClr val="608013"/>
                      </a:solidFill>
                      <a:prstDash val="solid"/>
                      <a:round/>
                      <a:headEnd type="none" w="med" len="med"/>
                      <a:tailEnd type="none" w="med" len="med"/>
                    </a:lnT>
                    <a:lnB w="4763" cap="flat" cmpd="sng" algn="ctr">
                      <a:solidFill>
                        <a:srgbClr val="807D13"/>
                      </a:solidFill>
                      <a:prstDash val="solid"/>
                      <a:round/>
                      <a:headEnd type="none" w="med" len="med"/>
                      <a:tailEnd type="none" w="med" len="med"/>
                    </a:lnB>
                    <a:solidFill>
                      <a:srgbClr val="F3F4F5"/>
                    </a:solidFill>
                  </a:tcPr>
                </a:tc>
                <a:extLst>
                  <a:ext uri="{0D108BD9-81ED-4DB2-BD59-A6C34878D82A}">
                    <a16:rowId xmlns:a16="http://schemas.microsoft.com/office/drawing/2014/main" val="361991256"/>
                  </a:ext>
                </a:extLst>
              </a:tr>
              <a:tr h="642546">
                <a:tc>
                  <a:txBody>
                    <a:bodyPr/>
                    <a:lstStyle/>
                    <a:p>
                      <a:pPr>
                        <a:buNone/>
                      </a:pPr>
                      <a:r>
                        <a:rPr lang="en-US" sz="1400" b="1">
                          <a:solidFill>
                            <a:srgbClr val="222832"/>
                          </a:solidFill>
                          <a:effectLst/>
                        </a:rPr>
                        <a:t>Full precision FP8</a:t>
                      </a:r>
                      <a:br>
                        <a:rPr lang="en-US" sz="1400">
                          <a:solidFill>
                            <a:srgbClr val="222832"/>
                          </a:solidFill>
                          <a:effectLst/>
                        </a:rPr>
                      </a:br>
                      <a:r>
                        <a:rPr lang="en-US" sz="1400" i="1">
                          <a:solidFill>
                            <a:srgbClr val="222832"/>
                          </a:solidFill>
                          <a:effectLst/>
                        </a:rPr>
                        <a:t>(recommended)</a:t>
                      </a:r>
                      <a:endParaRPr lang="en-US" sz="1400">
                        <a:solidFill>
                          <a:srgbClr val="222832"/>
                        </a:solidFill>
                        <a:effectLst/>
                      </a:endParaRPr>
                    </a:p>
                  </a:txBody>
                  <a:tcPr marL="69497" marR="69497" marT="34749" marB="34749">
                    <a:lnL w="4763" cap="flat" cmpd="sng" algn="ctr">
                      <a:solidFill>
                        <a:srgbClr val="A07F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A07F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tc>
                  <a:txBody>
                    <a:bodyPr/>
                    <a:lstStyle/>
                    <a:p>
                      <a:pPr>
                        <a:buNone/>
                      </a:pPr>
                      <a:r>
                        <a:rPr lang="en-US" sz="1400">
                          <a:solidFill>
                            <a:srgbClr val="222832"/>
                          </a:solidFill>
                          <a:effectLst/>
                        </a:rPr>
                        <a:t>8 x H200</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407F13"/>
                      </a:solidFill>
                      <a:prstDash val="solid"/>
                      <a:round/>
                      <a:headEnd type="none" w="med" len="med"/>
                      <a:tailEnd type="none" w="med" len="med"/>
                    </a:lnR>
                    <a:lnT w="4763" cap="flat" cmpd="sng" algn="ctr">
                      <a:solidFill>
                        <a:srgbClr val="807D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extLst>
                  <a:ext uri="{0D108BD9-81ED-4DB2-BD59-A6C34878D82A}">
                    <a16:rowId xmlns:a16="http://schemas.microsoft.com/office/drawing/2014/main" val="4076850208"/>
                  </a:ext>
                </a:extLst>
              </a:tr>
              <a:tr h="261520">
                <a:tc>
                  <a:txBody>
                    <a:bodyPr/>
                    <a:lstStyle/>
                    <a:p>
                      <a:pPr>
                        <a:buNone/>
                      </a:pPr>
                      <a:endParaRPr lang="zh-CN" alt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tc>
                  <a:txBody>
                    <a:bodyPr/>
                    <a:lstStyle/>
                    <a:p>
                      <a:pPr>
                        <a:buNone/>
                      </a:pPr>
                      <a:r>
                        <a:rPr lang="en-US" sz="1400" dirty="0">
                          <a:solidFill>
                            <a:srgbClr val="222832"/>
                          </a:solidFill>
                          <a:effectLst/>
                        </a:rPr>
                        <a:t>8 x MI300X</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608313"/>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extLst>
                  <a:ext uri="{0D108BD9-81ED-4DB2-BD59-A6C34878D82A}">
                    <a16:rowId xmlns:a16="http://schemas.microsoft.com/office/drawing/2014/main" val="2771453304"/>
                  </a:ext>
                </a:extLst>
              </a:tr>
              <a:tr h="449783">
                <a:tc>
                  <a:txBody>
                    <a:bodyPr/>
                    <a:lstStyle/>
                    <a:p>
                      <a:pPr>
                        <a:buNone/>
                      </a:pPr>
                      <a:endParaRPr lang="zh-CN" alt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tc>
                  <a:txBody>
                    <a:bodyPr/>
                    <a:lstStyle/>
                    <a:p>
                      <a:pPr>
                        <a:buNone/>
                      </a:pPr>
                      <a:r>
                        <a:rPr lang="pt-BR" sz="1400" dirty="0">
                          <a:solidFill>
                            <a:srgbClr val="222832"/>
                          </a:solidFill>
                          <a:effectLst/>
                        </a:rPr>
                        <a:t>2 x 8 x H100/800/20</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408313"/>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E07B13"/>
                      </a:solidFill>
                      <a:prstDash val="solid"/>
                      <a:round/>
                      <a:headEnd type="none" w="med" len="med"/>
                      <a:tailEnd type="none" w="med" len="med"/>
                    </a:lnB>
                    <a:solidFill>
                      <a:srgbClr val="F3F4F5"/>
                    </a:solidFill>
                  </a:tcPr>
                </a:tc>
                <a:extLst>
                  <a:ext uri="{0D108BD9-81ED-4DB2-BD59-A6C34878D82A}">
                    <a16:rowId xmlns:a16="http://schemas.microsoft.com/office/drawing/2014/main" val="612106976"/>
                  </a:ext>
                </a:extLst>
              </a:tr>
              <a:tr h="449783">
                <a:tc>
                  <a:txBody>
                    <a:bodyPr/>
                    <a:lstStyle/>
                    <a:p>
                      <a:pPr>
                        <a:buNone/>
                      </a:pPr>
                      <a:r>
                        <a:rPr lang="en-US" sz="1400" b="1">
                          <a:solidFill>
                            <a:srgbClr val="222832"/>
                          </a:solidFill>
                          <a:effectLst/>
                        </a:rPr>
                        <a:t>Full precision BF16</a:t>
                      </a:r>
                      <a:endParaRPr 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tc>
                  <a:txBody>
                    <a:bodyPr/>
                    <a:lstStyle/>
                    <a:p>
                      <a:pPr>
                        <a:buNone/>
                      </a:pPr>
                      <a:r>
                        <a:rPr lang="pt-BR" sz="1400" dirty="0">
                          <a:solidFill>
                            <a:srgbClr val="222832"/>
                          </a:solidFill>
                          <a:effectLst/>
                        </a:rPr>
                        <a:t>2 x 8 x H200</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408313"/>
                      </a:solidFill>
                      <a:prstDash val="solid"/>
                      <a:round/>
                      <a:headEnd type="none" w="med" len="med"/>
                      <a:tailEnd type="none" w="med" len="med"/>
                    </a:lnR>
                    <a:lnT w="4763" cap="flat" cmpd="sng" algn="ctr">
                      <a:solidFill>
                        <a:srgbClr val="E07B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extLst>
                  <a:ext uri="{0D108BD9-81ED-4DB2-BD59-A6C34878D82A}">
                    <a16:rowId xmlns:a16="http://schemas.microsoft.com/office/drawing/2014/main" val="1154664665"/>
                  </a:ext>
                </a:extLst>
              </a:tr>
              <a:tr h="261520">
                <a:tc>
                  <a:txBody>
                    <a:bodyPr/>
                    <a:lstStyle/>
                    <a:p>
                      <a:pPr>
                        <a:buNone/>
                      </a:pPr>
                      <a:endParaRPr lang="zh-CN" alt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tc>
                  <a:txBody>
                    <a:bodyPr/>
                    <a:lstStyle/>
                    <a:p>
                      <a:pPr>
                        <a:buNone/>
                      </a:pPr>
                      <a:r>
                        <a:rPr lang="en-US" sz="1400" dirty="0">
                          <a:solidFill>
                            <a:srgbClr val="222832"/>
                          </a:solidFill>
                          <a:effectLst/>
                        </a:rPr>
                        <a:t>2 x 8 x MI300X</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009113"/>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extLst>
                  <a:ext uri="{0D108BD9-81ED-4DB2-BD59-A6C34878D82A}">
                    <a16:rowId xmlns:a16="http://schemas.microsoft.com/office/drawing/2014/main" val="935655603"/>
                  </a:ext>
                </a:extLst>
              </a:tr>
              <a:tr h="449783">
                <a:tc>
                  <a:txBody>
                    <a:bodyPr/>
                    <a:lstStyle/>
                    <a:p>
                      <a:pPr>
                        <a:buNone/>
                      </a:pPr>
                      <a:endParaRPr lang="zh-CN" alt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tc>
                  <a:txBody>
                    <a:bodyPr/>
                    <a:lstStyle/>
                    <a:p>
                      <a:pPr>
                        <a:buNone/>
                      </a:pPr>
                      <a:r>
                        <a:rPr lang="pt-BR" sz="1400" dirty="0">
                          <a:solidFill>
                            <a:srgbClr val="222832"/>
                          </a:solidFill>
                          <a:effectLst/>
                        </a:rPr>
                        <a:t>4 x 8 x H100/800/20</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608E13"/>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extLst>
                  <a:ext uri="{0D108BD9-81ED-4DB2-BD59-A6C34878D82A}">
                    <a16:rowId xmlns:a16="http://schemas.microsoft.com/office/drawing/2014/main" val="3416160251"/>
                  </a:ext>
                </a:extLst>
              </a:tr>
              <a:tr h="449783">
                <a:tc>
                  <a:txBody>
                    <a:bodyPr/>
                    <a:lstStyle/>
                    <a:p>
                      <a:pPr>
                        <a:buNone/>
                      </a:pPr>
                      <a:endParaRPr lang="zh-CN" alt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tc>
                  <a:txBody>
                    <a:bodyPr/>
                    <a:lstStyle/>
                    <a:p>
                      <a:pPr>
                        <a:buNone/>
                      </a:pPr>
                      <a:r>
                        <a:rPr lang="pt-BR" sz="1400" dirty="0">
                          <a:solidFill>
                            <a:srgbClr val="222832"/>
                          </a:solidFill>
                          <a:effectLst/>
                        </a:rPr>
                        <a:t>4 x 8 x A100/A800</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208C13"/>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extLst>
                  <a:ext uri="{0D108BD9-81ED-4DB2-BD59-A6C34878D82A}">
                    <a16:rowId xmlns:a16="http://schemas.microsoft.com/office/drawing/2014/main" val="3936604052"/>
                  </a:ext>
                </a:extLst>
              </a:tr>
              <a:tr h="449783">
                <a:tc>
                  <a:txBody>
                    <a:bodyPr/>
                    <a:lstStyle/>
                    <a:p>
                      <a:pPr>
                        <a:buNone/>
                      </a:pPr>
                      <a:r>
                        <a:rPr lang="en-US" sz="1400" b="1">
                          <a:solidFill>
                            <a:srgbClr val="222832"/>
                          </a:solidFill>
                          <a:effectLst/>
                        </a:rPr>
                        <a:t>Quantized weights (AWQ)</a:t>
                      </a:r>
                      <a:endParaRPr 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tc>
                  <a:txBody>
                    <a:bodyPr/>
                    <a:lstStyle/>
                    <a:p>
                      <a:pPr>
                        <a:buNone/>
                      </a:pPr>
                      <a:r>
                        <a:rPr lang="en-US" sz="1400">
                          <a:solidFill>
                            <a:srgbClr val="222832"/>
                          </a:solidFill>
                          <a:effectLst/>
                        </a:rPr>
                        <a:t>8 x H100/800/20</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808C13"/>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extLst>
                  <a:ext uri="{0D108BD9-81ED-4DB2-BD59-A6C34878D82A}">
                    <a16:rowId xmlns:a16="http://schemas.microsoft.com/office/drawing/2014/main" val="3342899435"/>
                  </a:ext>
                </a:extLst>
              </a:tr>
              <a:tr h="261520">
                <a:tc>
                  <a:txBody>
                    <a:bodyPr/>
                    <a:lstStyle/>
                    <a:p>
                      <a:pPr>
                        <a:buNone/>
                      </a:pPr>
                      <a:endParaRPr lang="zh-CN" alt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tc>
                  <a:txBody>
                    <a:bodyPr/>
                    <a:lstStyle/>
                    <a:p>
                      <a:pPr>
                        <a:buNone/>
                      </a:pPr>
                      <a:r>
                        <a:rPr lang="en-US" sz="1400">
                          <a:solidFill>
                            <a:srgbClr val="222832"/>
                          </a:solidFill>
                          <a:effectLst/>
                        </a:rPr>
                        <a:t>8 x A100/A800</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A09D13"/>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extLst>
                  <a:ext uri="{0D108BD9-81ED-4DB2-BD59-A6C34878D82A}">
                    <a16:rowId xmlns:a16="http://schemas.microsoft.com/office/drawing/2014/main" val="1029645380"/>
                  </a:ext>
                </a:extLst>
              </a:tr>
              <a:tr h="449783">
                <a:tc>
                  <a:txBody>
                    <a:bodyPr/>
                    <a:lstStyle/>
                    <a:p>
                      <a:pPr>
                        <a:buNone/>
                      </a:pPr>
                      <a:r>
                        <a:rPr lang="en-US" sz="1400" b="1">
                          <a:solidFill>
                            <a:srgbClr val="222832"/>
                          </a:solidFill>
                          <a:effectLst/>
                        </a:rPr>
                        <a:t>Quantized weights (int8)</a:t>
                      </a:r>
                      <a:endParaRPr 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tc>
                  <a:txBody>
                    <a:bodyPr/>
                    <a:lstStyle/>
                    <a:p>
                      <a:pPr>
                        <a:buNone/>
                      </a:pPr>
                      <a:r>
                        <a:rPr lang="en-US" sz="1400">
                          <a:solidFill>
                            <a:srgbClr val="222832"/>
                          </a:solidFill>
                          <a:effectLst/>
                        </a:rPr>
                        <a:t>16 x A100/800</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A09B13"/>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FFFFF"/>
                    </a:solidFill>
                  </a:tcPr>
                </a:tc>
                <a:extLst>
                  <a:ext uri="{0D108BD9-81ED-4DB2-BD59-A6C34878D82A}">
                    <a16:rowId xmlns:a16="http://schemas.microsoft.com/office/drawing/2014/main" val="591696712"/>
                  </a:ext>
                </a:extLst>
              </a:tr>
              <a:tr h="261520">
                <a:tc>
                  <a:txBody>
                    <a:bodyPr/>
                    <a:lstStyle/>
                    <a:p>
                      <a:pPr>
                        <a:buNone/>
                      </a:pPr>
                      <a:endParaRPr lang="zh-CN" altLang="en-US" sz="1400">
                        <a:solidFill>
                          <a:srgbClr val="222832"/>
                        </a:solidFill>
                        <a:effectLst/>
                      </a:endParaRPr>
                    </a:p>
                  </a:txBody>
                  <a:tcPr marL="69497" marR="69497" marT="34749" marB="34749">
                    <a:lnL w="4763" cap="flat" cmpd="sng" algn="ctr">
                      <a:solidFill>
                        <a:srgbClr val="607C13"/>
                      </a:solidFill>
                      <a:prstDash val="solid"/>
                      <a:round/>
                      <a:headEnd type="none" w="med" len="med"/>
                      <a:tailEnd type="none" w="med" len="med"/>
                    </a:lnL>
                    <a:lnR w="4763" cap="flat" cmpd="sng" algn="ctr">
                      <a:solidFill>
                        <a:srgbClr val="E5E7EA"/>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607C13"/>
                      </a:solidFill>
                      <a:prstDash val="solid"/>
                      <a:round/>
                      <a:headEnd type="none" w="med" len="med"/>
                      <a:tailEnd type="none" w="med" len="med"/>
                    </a:lnB>
                    <a:solidFill>
                      <a:srgbClr val="F3F4F5"/>
                    </a:solidFill>
                  </a:tcPr>
                </a:tc>
                <a:tc>
                  <a:txBody>
                    <a:bodyPr/>
                    <a:lstStyle/>
                    <a:p>
                      <a:pPr>
                        <a:buNone/>
                      </a:pPr>
                      <a:r>
                        <a:rPr lang="en-US" sz="1400" dirty="0">
                          <a:solidFill>
                            <a:srgbClr val="222832"/>
                          </a:solidFill>
                          <a:effectLst/>
                        </a:rPr>
                        <a:t>32 x L40S</a:t>
                      </a:r>
                    </a:p>
                  </a:txBody>
                  <a:tcPr marL="69497" marR="69497" marT="34749" marB="34749">
                    <a:lnL w="4763" cap="flat" cmpd="sng" algn="ctr">
                      <a:solidFill>
                        <a:srgbClr val="E5E7EA"/>
                      </a:solidFill>
                      <a:prstDash val="solid"/>
                      <a:round/>
                      <a:headEnd type="none" w="med" len="med"/>
                      <a:tailEnd type="none" w="med" len="med"/>
                    </a:lnL>
                    <a:lnR w="4763" cap="flat" cmpd="sng" algn="ctr">
                      <a:solidFill>
                        <a:srgbClr val="A09D13"/>
                      </a:solidFill>
                      <a:prstDash val="solid"/>
                      <a:round/>
                      <a:headEnd type="none" w="med" len="med"/>
                      <a:tailEnd type="none" w="med" len="med"/>
                    </a:lnR>
                    <a:lnT w="4763" cap="flat" cmpd="sng" algn="ctr">
                      <a:solidFill>
                        <a:srgbClr val="607C13"/>
                      </a:solidFill>
                      <a:prstDash val="solid"/>
                      <a:round/>
                      <a:headEnd type="none" w="med" len="med"/>
                      <a:tailEnd type="none" w="med" len="med"/>
                    </a:lnT>
                    <a:lnB w="4763" cap="flat" cmpd="sng" algn="ctr">
                      <a:solidFill>
                        <a:srgbClr val="409E13"/>
                      </a:solidFill>
                      <a:prstDash val="solid"/>
                      <a:round/>
                      <a:headEnd type="none" w="med" len="med"/>
                      <a:tailEnd type="none" w="med" len="med"/>
                    </a:lnB>
                    <a:solidFill>
                      <a:srgbClr val="F3F4F5"/>
                    </a:solidFill>
                  </a:tcPr>
                </a:tc>
                <a:extLst>
                  <a:ext uri="{0D108BD9-81ED-4DB2-BD59-A6C34878D82A}">
                    <a16:rowId xmlns:a16="http://schemas.microsoft.com/office/drawing/2014/main" val="1534897161"/>
                  </a:ext>
                </a:extLst>
              </a:tr>
            </a:tbl>
          </a:graphicData>
        </a:graphic>
      </p:graphicFrame>
    </p:spTree>
    <p:extLst>
      <p:ext uri="{BB962C8B-B14F-4D97-AF65-F5344CB8AC3E}">
        <p14:creationId xmlns:p14="http://schemas.microsoft.com/office/powerpoint/2010/main" val="3470874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79EC07-A741-130E-71D7-82597A1BB80E}"/>
              </a:ext>
            </a:extLst>
          </p:cNvPr>
          <p:cNvSpPr>
            <a:spLocks noGrp="1"/>
          </p:cNvSpPr>
          <p:nvPr>
            <p:ph type="title"/>
          </p:nvPr>
        </p:nvSpPr>
        <p:spPr/>
        <p:txBody>
          <a:bodyPr/>
          <a:lstStyle/>
          <a:p>
            <a:r>
              <a:rPr lang="en-US" altLang="zh-CN" dirty="0">
                <a:sym typeface="+mn-ea"/>
              </a:rPr>
              <a:t>Kubernetes </a:t>
            </a:r>
            <a:r>
              <a:rPr lang="zh-CN" altLang="en-US" dirty="0">
                <a:sym typeface="+mn-ea"/>
              </a:rPr>
              <a:t>是高效管理 </a:t>
            </a:r>
            <a:r>
              <a:rPr lang="en-US" altLang="zh-CN" dirty="0">
                <a:sym typeface="+mn-ea"/>
              </a:rPr>
              <a:t>AI </a:t>
            </a:r>
            <a:r>
              <a:rPr lang="zh-CN" altLang="en-US" dirty="0">
                <a:sym typeface="+mn-ea"/>
              </a:rPr>
              <a:t>基础设施的行业标准</a:t>
            </a:r>
            <a:endParaRPr lang="zh-CN" altLang="en-US" dirty="0"/>
          </a:p>
        </p:txBody>
      </p:sp>
      <p:sp>
        <p:nvSpPr>
          <p:cNvPr id="22" name="矩形 21"/>
          <p:cNvSpPr/>
          <p:nvPr/>
        </p:nvSpPr>
        <p:spPr>
          <a:xfrm>
            <a:off x="3162302" y="1282066"/>
            <a:ext cx="2914015" cy="5240020"/>
          </a:xfrm>
          <a:prstGeom prst="rect">
            <a:avLst/>
          </a:prstGeom>
          <a:solidFill>
            <a:schemeClr val="tx1">
              <a:lumMod val="75000"/>
              <a:lumOff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solidFill>
                <a:schemeClr val="bg1"/>
              </a:solidFill>
            </a:endParaRPr>
          </a:p>
        </p:txBody>
      </p:sp>
      <p:sp>
        <p:nvSpPr>
          <p:cNvPr id="24" name="矩形 23"/>
          <p:cNvSpPr/>
          <p:nvPr/>
        </p:nvSpPr>
        <p:spPr>
          <a:xfrm>
            <a:off x="9121142" y="1282066"/>
            <a:ext cx="2914015" cy="5240020"/>
          </a:xfrm>
          <a:prstGeom prst="rect">
            <a:avLst/>
          </a:prstGeom>
          <a:solidFill>
            <a:schemeClr val="tx1">
              <a:lumMod val="75000"/>
              <a:lumOff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solidFill>
                <a:schemeClr val="bg1"/>
              </a:solidFill>
            </a:endParaRPr>
          </a:p>
        </p:txBody>
      </p:sp>
      <p:sp>
        <p:nvSpPr>
          <p:cNvPr id="23" name="矩形 22"/>
          <p:cNvSpPr/>
          <p:nvPr/>
        </p:nvSpPr>
        <p:spPr>
          <a:xfrm>
            <a:off x="6153151" y="1282066"/>
            <a:ext cx="2914015" cy="5240020"/>
          </a:xfrm>
          <a:prstGeom prst="rect">
            <a:avLst/>
          </a:prstGeom>
          <a:solidFill>
            <a:schemeClr val="tx1">
              <a:lumMod val="75000"/>
              <a:lumOff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solidFill>
                <a:schemeClr val="bg1"/>
              </a:solidFill>
            </a:endParaRPr>
          </a:p>
        </p:txBody>
      </p:sp>
      <p:sp>
        <p:nvSpPr>
          <p:cNvPr id="14" name="矩形 13"/>
          <p:cNvSpPr/>
          <p:nvPr/>
        </p:nvSpPr>
        <p:spPr>
          <a:xfrm>
            <a:off x="151766" y="1282066"/>
            <a:ext cx="2914015" cy="5240020"/>
          </a:xfrm>
          <a:prstGeom prst="rect">
            <a:avLst/>
          </a:prstGeom>
          <a:solidFill>
            <a:schemeClr val="tx1">
              <a:lumMod val="75000"/>
              <a:lumOff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solidFill>
                <a:schemeClr val="bg1"/>
              </a:solidFill>
            </a:endParaRPr>
          </a:p>
        </p:txBody>
      </p:sp>
      <p:sp>
        <p:nvSpPr>
          <p:cNvPr id="3" name="标题 1"/>
          <p:cNvSpPr txBox="1">
            <a:spLocks/>
          </p:cNvSpPr>
          <p:nvPr/>
        </p:nvSpPr>
        <p:spPr>
          <a:xfrm>
            <a:off x="660401" y="114301"/>
            <a:ext cx="10858500" cy="88669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a:lstStyle>
          <a:p>
            <a:endParaRPr lang="zh-CN" altLang="en-US" dirty="0">
              <a:solidFill>
                <a:schemeClr val="bg1"/>
              </a:solidFill>
            </a:endParaRPr>
          </a:p>
        </p:txBody>
      </p:sp>
      <p:pic>
        <p:nvPicPr>
          <p:cNvPr id="280" name="图片 279"/>
          <p:cNvPicPr>
            <a:picLocks noChangeAspect="1"/>
          </p:cNvPicPr>
          <p:nvPr>
            <p:custDataLst>
              <p:tags r:id="rId1"/>
            </p:custDataLst>
          </p:nvPr>
        </p:nvPicPr>
        <p:blipFill>
          <a:blip r:embed="rId8"/>
          <a:srcRect b="12135"/>
          <a:stretch>
            <a:fillRect/>
          </a:stretch>
        </p:blipFill>
        <p:spPr>
          <a:xfrm>
            <a:off x="9368791" y="2250441"/>
            <a:ext cx="2418080" cy="1433195"/>
          </a:xfrm>
          <a:prstGeom prst="rect">
            <a:avLst/>
          </a:prstGeom>
        </p:spPr>
      </p:pic>
      <p:sp>
        <p:nvSpPr>
          <p:cNvPr id="281" name="文本框 280"/>
          <p:cNvSpPr txBox="1"/>
          <p:nvPr>
            <p:custDataLst>
              <p:tags r:id="rId2"/>
            </p:custDataLst>
          </p:nvPr>
        </p:nvSpPr>
        <p:spPr>
          <a:xfrm>
            <a:off x="9248775" y="3785235"/>
            <a:ext cx="2659380" cy="626111"/>
          </a:xfrm>
          <a:prstGeom prst="rect">
            <a:avLst/>
          </a:prstGeom>
          <a:noFill/>
        </p:spPr>
        <p:txBody>
          <a:bodyPr wrap="square">
            <a:noAutofit/>
          </a:bodyPr>
          <a:lstStyle/>
          <a:p>
            <a:pPr algn="ctr" fontAlgn="base">
              <a:lnSpc>
                <a:spcPct val="130000"/>
              </a:lnSpc>
            </a:pPr>
            <a:r>
              <a:rPr sz="1000" b="1">
                <a:solidFill>
                  <a:schemeClr val="bg1"/>
                </a:solidFill>
                <a:latin typeface="Roboto" panose="02000000000000000000" pitchFamily="2" charset="0"/>
              </a:rPr>
              <a:t>CNCF</a:t>
            </a:r>
            <a:r>
              <a:rPr lang="en-US" sz="1000" b="1">
                <a:solidFill>
                  <a:schemeClr val="bg1"/>
                </a:solidFill>
                <a:latin typeface="Roboto" panose="02000000000000000000" pitchFamily="2" charset="0"/>
              </a:rPr>
              <a:t> </a:t>
            </a:r>
            <a:r>
              <a:rPr sz="1000" b="1">
                <a:solidFill>
                  <a:schemeClr val="bg1"/>
                </a:solidFill>
                <a:latin typeface="Roboto" panose="02000000000000000000" pitchFamily="2" charset="0"/>
              </a:rPr>
              <a:t>主席 Priyanka Sharma</a:t>
            </a:r>
            <a:r>
              <a:rPr lang="en-US" sz="1000" b="1">
                <a:solidFill>
                  <a:schemeClr val="bg1"/>
                </a:solidFill>
                <a:latin typeface="Roboto" panose="02000000000000000000" pitchFamily="2" charset="0"/>
              </a:rPr>
              <a:t> 2023 </a:t>
            </a:r>
            <a:r>
              <a:rPr lang="zh-CN" altLang="en-US" sz="1000" b="1" dirty="0">
                <a:solidFill>
                  <a:schemeClr val="bg1"/>
                </a:solidFill>
                <a:latin typeface="Roboto" panose="02000000000000000000" pitchFamily="2" charset="0"/>
              </a:rPr>
              <a:t>演讲</a:t>
            </a:r>
            <a:r>
              <a:rPr lang="en-US" altLang="zh-CN" sz="1000" b="1" dirty="0">
                <a:solidFill>
                  <a:schemeClr val="bg1"/>
                </a:solidFill>
                <a:latin typeface="Roboto" panose="02000000000000000000" pitchFamily="2" charset="0"/>
              </a:rPr>
              <a:t>:</a:t>
            </a:r>
          </a:p>
          <a:p>
            <a:pPr algn="ctr" fontAlgn="base">
              <a:lnSpc>
                <a:spcPct val="130000"/>
              </a:lnSpc>
            </a:pPr>
            <a:r>
              <a:rPr kumimoji="1" sz="1000" dirty="0">
                <a:solidFill>
                  <a:schemeClr val="bg1"/>
                </a:solidFill>
              </a:rPr>
              <a:t>OpenAI、Nvidia 、Hugging Face </a:t>
            </a:r>
          </a:p>
          <a:p>
            <a:pPr algn="ctr" fontAlgn="base">
              <a:lnSpc>
                <a:spcPct val="130000"/>
              </a:lnSpc>
            </a:pPr>
            <a:r>
              <a:rPr kumimoji="1" sz="1000" dirty="0">
                <a:solidFill>
                  <a:schemeClr val="bg1"/>
                </a:solidFill>
              </a:rPr>
              <a:t>全都运行在 Kubernetes 之上</a:t>
            </a:r>
          </a:p>
        </p:txBody>
      </p:sp>
      <p:pic>
        <p:nvPicPr>
          <p:cNvPr id="5" name="图片 4"/>
          <p:cNvPicPr>
            <a:picLocks noChangeAspect="1"/>
          </p:cNvPicPr>
          <p:nvPr/>
        </p:nvPicPr>
        <p:blipFill>
          <a:blip r:embed="rId9"/>
          <a:stretch>
            <a:fillRect/>
          </a:stretch>
        </p:blipFill>
        <p:spPr>
          <a:xfrm>
            <a:off x="468631" y="2030730"/>
            <a:ext cx="2171700" cy="1215391"/>
          </a:xfrm>
          <a:prstGeom prst="rect">
            <a:avLst/>
          </a:prstGeom>
        </p:spPr>
      </p:pic>
      <p:sp>
        <p:nvSpPr>
          <p:cNvPr id="30" name="文本框 29"/>
          <p:cNvSpPr txBox="1"/>
          <p:nvPr/>
        </p:nvSpPr>
        <p:spPr>
          <a:xfrm>
            <a:off x="143509" y="3279141"/>
            <a:ext cx="2970531" cy="682623"/>
          </a:xfrm>
          <a:prstGeom prst="rect">
            <a:avLst/>
          </a:prstGeom>
          <a:noFill/>
        </p:spPr>
        <p:txBody>
          <a:bodyPr wrap="square" rtlCol="0">
            <a:spAutoFit/>
          </a:bodyPr>
          <a:lstStyle/>
          <a:p>
            <a:pPr algn="ctr">
              <a:lnSpc>
                <a:spcPct val="120000"/>
              </a:lnSpc>
            </a:pPr>
            <a:r>
              <a:rPr lang="zh-CN" altLang="en-US" sz="900" b="1" dirty="0">
                <a:solidFill>
                  <a:schemeClr val="bg1"/>
                </a:solidFill>
                <a:sym typeface="+mn-ea"/>
              </a:rPr>
              <a:t>OpenAI</a:t>
            </a:r>
            <a:r>
              <a:rPr lang="en-US" altLang="zh-CN" sz="900" b="1" dirty="0">
                <a:solidFill>
                  <a:schemeClr val="bg1"/>
                </a:solidFill>
                <a:sym typeface="+mn-ea"/>
              </a:rPr>
              <a:t> </a:t>
            </a:r>
            <a:r>
              <a:rPr lang="zh-CN" altLang="en-US" sz="900" b="1" dirty="0">
                <a:solidFill>
                  <a:schemeClr val="bg1"/>
                </a:solidFill>
                <a:sym typeface="+mn-ea"/>
              </a:rPr>
              <a:t>博客《Scaling Kubernetes to 7,500 nodes》</a:t>
            </a:r>
            <a:endParaRPr lang="zh-CN" altLang="en-US" sz="900" b="1" dirty="0">
              <a:solidFill>
                <a:schemeClr val="bg1"/>
              </a:solidFill>
            </a:endParaRPr>
          </a:p>
          <a:p>
            <a:pPr algn="ctr">
              <a:lnSpc>
                <a:spcPct val="120000"/>
              </a:lnSpc>
            </a:pPr>
            <a:r>
              <a:rPr lang="zh-CN" altLang="en-US" sz="1200" dirty="0">
                <a:solidFill>
                  <a:schemeClr val="bg1"/>
                </a:solidFill>
              </a:rPr>
              <a:t>采用 Kubernetes 集群扩展到</a:t>
            </a:r>
            <a:r>
              <a:rPr lang="en-US" altLang="zh-CN" sz="1200" dirty="0">
                <a:solidFill>
                  <a:schemeClr val="bg1"/>
                </a:solidFill>
              </a:rPr>
              <a:t> </a:t>
            </a:r>
            <a:r>
              <a:rPr lang="zh-CN" altLang="en-US" sz="1200" dirty="0">
                <a:solidFill>
                  <a:schemeClr val="bg1"/>
                </a:solidFill>
              </a:rPr>
              <a:t>7,500 个节点</a:t>
            </a:r>
            <a:r>
              <a:rPr lang="en-US" altLang="zh-CN" sz="1200" dirty="0">
                <a:solidFill>
                  <a:schemeClr val="bg1"/>
                </a:solidFill>
              </a:rPr>
              <a:t>，</a:t>
            </a:r>
            <a:r>
              <a:rPr lang="zh-CN" altLang="en-US" sz="1200" dirty="0">
                <a:solidFill>
                  <a:schemeClr val="bg1"/>
                </a:solidFill>
              </a:rPr>
              <a:t>为大模型提供了可扩展的基础设施</a:t>
            </a:r>
          </a:p>
        </p:txBody>
      </p:sp>
      <p:sp>
        <p:nvSpPr>
          <p:cNvPr id="4" name="圆角矩形 2"/>
          <p:cNvSpPr/>
          <p:nvPr/>
        </p:nvSpPr>
        <p:spPr>
          <a:xfrm>
            <a:off x="6324601" y="2454909"/>
            <a:ext cx="2379345" cy="2167891"/>
          </a:xfrm>
          <a:prstGeom prst="roundRect">
            <a:avLst>
              <a:gd name="adj" fmla="val 3937"/>
            </a:avLst>
          </a:prstGeom>
          <a:blipFill>
            <a:blip r:embed="rId1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400">
              <a:solidFill>
                <a:schemeClr val="bg1"/>
              </a:solidFill>
            </a:endParaRPr>
          </a:p>
        </p:txBody>
      </p:sp>
      <p:pic>
        <p:nvPicPr>
          <p:cNvPr id="16" name="图片 15"/>
          <p:cNvPicPr>
            <a:picLocks noChangeAspect="1"/>
          </p:cNvPicPr>
          <p:nvPr>
            <p:custDataLst>
              <p:tags r:id="rId3"/>
            </p:custDataLst>
          </p:nvPr>
        </p:nvPicPr>
        <p:blipFill>
          <a:blip r:embed="rId11"/>
          <a:srcRect r="27095"/>
          <a:stretch>
            <a:fillRect/>
          </a:stretch>
        </p:blipFill>
        <p:spPr>
          <a:xfrm>
            <a:off x="468629" y="4151631"/>
            <a:ext cx="2249171" cy="1343660"/>
          </a:xfrm>
          <a:prstGeom prst="rect">
            <a:avLst/>
          </a:prstGeom>
        </p:spPr>
      </p:pic>
      <p:sp>
        <p:nvSpPr>
          <p:cNvPr id="6" name="文本框 5"/>
          <p:cNvSpPr txBox="1"/>
          <p:nvPr/>
        </p:nvSpPr>
        <p:spPr>
          <a:xfrm>
            <a:off x="102235" y="5495291"/>
            <a:ext cx="2970531" cy="867289"/>
          </a:xfrm>
          <a:prstGeom prst="rect">
            <a:avLst/>
          </a:prstGeom>
          <a:noFill/>
        </p:spPr>
        <p:txBody>
          <a:bodyPr wrap="square" rtlCol="0" anchor="t">
            <a:spAutoFit/>
          </a:bodyPr>
          <a:lstStyle/>
          <a:p>
            <a:pPr lvl="0" algn="ctr">
              <a:lnSpc>
                <a:spcPct val="130000"/>
              </a:lnSpc>
              <a:buClrTx/>
              <a:buSzTx/>
              <a:buFontTx/>
            </a:pPr>
            <a:r>
              <a:rPr lang="zh-CN" altLang="en-US" sz="900" b="1">
                <a:solidFill>
                  <a:schemeClr val="bg1"/>
                </a:solidFill>
                <a:sym typeface="+mn-ea"/>
              </a:rPr>
              <a:t>OpenAI 工程师演讲：</a:t>
            </a:r>
          </a:p>
          <a:p>
            <a:pPr lvl="0" algn="ctr">
              <a:lnSpc>
                <a:spcPct val="110000"/>
              </a:lnSpc>
              <a:buClrTx/>
              <a:buSzTx/>
              <a:buFontTx/>
            </a:pPr>
            <a:r>
              <a:rPr lang="zh-CN" altLang="en-US" sz="1200">
                <a:solidFill>
                  <a:schemeClr val="bg1"/>
                </a:solidFill>
                <a:sym typeface="+mn-ea"/>
              </a:rPr>
              <a:t>自从 2017 年，OpenAI 的基础设施皆建立在 Kubernetes  之下</a:t>
            </a:r>
            <a:r>
              <a:rPr lang="en-US" altLang="zh-CN" sz="1200">
                <a:solidFill>
                  <a:schemeClr val="bg1"/>
                </a:solidFill>
                <a:sym typeface="+mn-ea"/>
              </a:rPr>
              <a:t>，</a:t>
            </a:r>
            <a:r>
              <a:rPr lang="zh-CN" altLang="en-US" sz="1200">
                <a:solidFill>
                  <a:schemeClr val="bg1"/>
                </a:solidFill>
                <a:sym typeface="+mn-ea"/>
              </a:rPr>
              <a:t>目前集群规模早已超过万节点</a:t>
            </a:r>
          </a:p>
        </p:txBody>
      </p:sp>
      <p:sp>
        <p:nvSpPr>
          <p:cNvPr id="12" name="文本框 11"/>
          <p:cNvSpPr txBox="1"/>
          <p:nvPr>
            <p:custDataLst>
              <p:tags r:id="rId4"/>
            </p:custDataLst>
          </p:nvPr>
        </p:nvSpPr>
        <p:spPr>
          <a:xfrm>
            <a:off x="6124577" y="4949190"/>
            <a:ext cx="2914015" cy="790281"/>
          </a:xfrm>
          <a:prstGeom prst="rect">
            <a:avLst/>
          </a:prstGeom>
          <a:noFill/>
        </p:spPr>
        <p:txBody>
          <a:bodyPr wrap="square">
            <a:spAutoFit/>
          </a:bodyPr>
          <a:lstStyle/>
          <a:p>
            <a:pPr algn="ctr" fontAlgn="base">
              <a:lnSpc>
                <a:spcPct val="130000"/>
              </a:lnSpc>
            </a:pPr>
            <a:r>
              <a:rPr lang="en-US" altLang="zh-CN" sz="1200" b="1" dirty="0">
                <a:solidFill>
                  <a:schemeClr val="bg1"/>
                </a:solidFill>
                <a:latin typeface="Roboto" panose="02000000000000000000" pitchFamily="2" charset="0"/>
              </a:rPr>
              <a:t>Nvidia</a:t>
            </a:r>
            <a:r>
              <a:rPr lang="zh-CN" altLang="en-US" sz="1200" b="1" dirty="0">
                <a:solidFill>
                  <a:schemeClr val="bg1"/>
                </a:solidFill>
                <a:latin typeface="Roboto" panose="02000000000000000000" pitchFamily="2" charset="0"/>
              </a:rPr>
              <a:t> </a:t>
            </a:r>
            <a:r>
              <a:rPr lang="en-US" altLang="zh-CN" sz="1200" b="1" dirty="0">
                <a:solidFill>
                  <a:schemeClr val="bg1"/>
                </a:solidFill>
                <a:latin typeface="Roboto" panose="02000000000000000000" pitchFamily="2" charset="0"/>
              </a:rPr>
              <a:t>CEO</a:t>
            </a:r>
            <a:r>
              <a:rPr lang="zh-CN" altLang="en-US" sz="1200" b="1" dirty="0">
                <a:solidFill>
                  <a:schemeClr val="bg1"/>
                </a:solidFill>
                <a:latin typeface="Roboto" panose="02000000000000000000" pitchFamily="2" charset="0"/>
              </a:rPr>
              <a:t> 黄仁勋 </a:t>
            </a:r>
            <a:r>
              <a:rPr lang="en-US" altLang="zh-CN" sz="1200" b="1" dirty="0" err="1">
                <a:solidFill>
                  <a:schemeClr val="bg1"/>
                </a:solidFill>
                <a:latin typeface="Roboto" panose="02000000000000000000" pitchFamily="2" charset="0"/>
              </a:rPr>
              <a:t>Computex</a:t>
            </a:r>
            <a:r>
              <a:rPr lang="en-US" altLang="zh-CN" sz="1200" b="1" dirty="0">
                <a:solidFill>
                  <a:schemeClr val="bg1"/>
                </a:solidFill>
                <a:latin typeface="Roboto" panose="02000000000000000000" pitchFamily="2" charset="0"/>
              </a:rPr>
              <a:t> 2024</a:t>
            </a:r>
            <a:r>
              <a:rPr lang="zh-CN" altLang="en-US" sz="1200" b="1" dirty="0">
                <a:solidFill>
                  <a:schemeClr val="bg1"/>
                </a:solidFill>
                <a:latin typeface="Roboto" panose="02000000000000000000" pitchFamily="2" charset="0"/>
              </a:rPr>
              <a:t> 演讲</a:t>
            </a:r>
            <a:r>
              <a:rPr lang="en-US" altLang="zh-CN" sz="1200" b="1" dirty="0">
                <a:solidFill>
                  <a:schemeClr val="bg1"/>
                </a:solidFill>
                <a:latin typeface="Roboto" panose="02000000000000000000" pitchFamily="2" charset="0"/>
              </a:rPr>
              <a:t>:</a:t>
            </a:r>
          </a:p>
          <a:p>
            <a:pPr algn="ctr" fontAlgn="base">
              <a:lnSpc>
                <a:spcPct val="130000"/>
              </a:lnSpc>
            </a:pPr>
            <a:r>
              <a:rPr kumimoji="1" lang="zh-CN" altLang="en-US" sz="1200" dirty="0">
                <a:solidFill>
                  <a:schemeClr val="bg1"/>
                </a:solidFill>
              </a:rPr>
              <a:t>人工智能新范式</a:t>
            </a:r>
          </a:p>
          <a:p>
            <a:pPr algn="ctr" fontAlgn="base">
              <a:lnSpc>
                <a:spcPct val="130000"/>
              </a:lnSpc>
            </a:pPr>
            <a:r>
              <a:rPr kumimoji="1" lang="zh-CN" altLang="en-US" sz="1200" dirty="0">
                <a:solidFill>
                  <a:schemeClr val="bg1"/>
                </a:solidFill>
              </a:rPr>
              <a:t>需建立在</a:t>
            </a:r>
            <a:r>
              <a:rPr kumimoji="1" lang="en-US" altLang="zh-CN" sz="1200" dirty="0">
                <a:solidFill>
                  <a:schemeClr val="bg1"/>
                </a:solidFill>
              </a:rPr>
              <a:t> Kubernetes </a:t>
            </a:r>
            <a:r>
              <a:rPr kumimoji="1" lang="zh-CN" altLang="en-US" sz="1200" dirty="0">
                <a:solidFill>
                  <a:schemeClr val="bg1"/>
                </a:solidFill>
              </a:rPr>
              <a:t>基础之上</a:t>
            </a:r>
            <a:endParaRPr lang="en-US" altLang="zh-CN" sz="1200" b="1" dirty="0">
              <a:solidFill>
                <a:schemeClr val="bg1"/>
              </a:solidFill>
              <a:latin typeface="Roboto" panose="02000000000000000000" pitchFamily="2" charset="0"/>
            </a:endParaRPr>
          </a:p>
        </p:txBody>
      </p:sp>
      <p:pic>
        <p:nvPicPr>
          <p:cNvPr id="7" name="图片 6" descr="截屏2025-01-11 下午3.42.36"/>
          <p:cNvPicPr>
            <a:picLocks noChangeAspect="1"/>
          </p:cNvPicPr>
          <p:nvPr/>
        </p:nvPicPr>
        <p:blipFill>
          <a:blip r:embed="rId12"/>
          <a:srcRect l="3816" r="3289"/>
          <a:stretch>
            <a:fillRect/>
          </a:stretch>
        </p:blipFill>
        <p:spPr>
          <a:xfrm>
            <a:off x="9523732" y="4694555"/>
            <a:ext cx="2232025" cy="974091"/>
          </a:xfrm>
          <a:prstGeom prst="rect">
            <a:avLst/>
          </a:prstGeom>
        </p:spPr>
      </p:pic>
      <p:grpSp>
        <p:nvGrpSpPr>
          <p:cNvPr id="13" name="组合 12"/>
          <p:cNvGrpSpPr/>
          <p:nvPr/>
        </p:nvGrpSpPr>
        <p:grpSpPr>
          <a:xfrm>
            <a:off x="958215" y="1502411"/>
            <a:ext cx="1452880" cy="391160"/>
            <a:chOff x="1075" y="1680"/>
            <a:chExt cx="6896" cy="1856"/>
          </a:xfrm>
        </p:grpSpPr>
        <p:pic>
          <p:nvPicPr>
            <p:cNvPr id="10" name="图片 9" descr="1681142315open-ai-logo"/>
            <p:cNvPicPr>
              <a:picLocks noChangeAspect="1"/>
            </p:cNvPicPr>
            <p:nvPr/>
          </p:nvPicPr>
          <p:blipFill>
            <a:blip r:embed="rId13">
              <a:lum bright="100000"/>
            </a:blip>
            <a:srcRect l="30158"/>
            <a:stretch>
              <a:fillRect/>
            </a:stretch>
          </p:blipFill>
          <p:spPr>
            <a:xfrm>
              <a:off x="3229" y="1694"/>
              <a:ext cx="4743" cy="1843"/>
            </a:xfrm>
            <a:prstGeom prst="rect">
              <a:avLst/>
            </a:prstGeom>
          </p:spPr>
        </p:pic>
        <p:pic>
          <p:nvPicPr>
            <p:cNvPr id="11" name="图片 10" descr="1681142315open-ai-logo"/>
            <p:cNvPicPr>
              <a:picLocks noChangeAspect="1"/>
            </p:cNvPicPr>
            <p:nvPr/>
          </p:nvPicPr>
          <p:blipFill>
            <a:blip r:embed="rId13"/>
            <a:srcRect r="71227"/>
            <a:stretch>
              <a:fillRect/>
            </a:stretch>
          </p:blipFill>
          <p:spPr>
            <a:xfrm>
              <a:off x="1075" y="1680"/>
              <a:ext cx="1954" cy="1843"/>
            </a:xfrm>
            <a:prstGeom prst="rect">
              <a:avLst/>
            </a:prstGeom>
          </p:spPr>
        </p:pic>
      </p:grpSp>
      <p:pic>
        <p:nvPicPr>
          <p:cNvPr id="20" name="图片 19" descr="图片20250111162344"/>
          <p:cNvPicPr>
            <a:picLocks noChangeAspect="1"/>
          </p:cNvPicPr>
          <p:nvPr/>
        </p:nvPicPr>
        <p:blipFill>
          <a:blip r:embed="rId14"/>
          <a:stretch>
            <a:fillRect/>
          </a:stretch>
        </p:blipFill>
        <p:spPr>
          <a:xfrm>
            <a:off x="3766186" y="1430021"/>
            <a:ext cx="1749425" cy="509905"/>
          </a:xfrm>
          <a:prstGeom prst="rect">
            <a:avLst/>
          </a:prstGeom>
        </p:spPr>
      </p:pic>
      <p:grpSp>
        <p:nvGrpSpPr>
          <p:cNvPr id="17" name="组合 16"/>
          <p:cNvGrpSpPr/>
          <p:nvPr/>
        </p:nvGrpSpPr>
        <p:grpSpPr>
          <a:xfrm>
            <a:off x="6729731" y="1246506"/>
            <a:ext cx="1882140" cy="911225"/>
            <a:chOff x="10562" y="5940"/>
            <a:chExt cx="7063" cy="3966"/>
          </a:xfrm>
        </p:grpSpPr>
        <p:pic>
          <p:nvPicPr>
            <p:cNvPr id="18" name="图片 17"/>
            <p:cNvPicPr>
              <a:picLocks noChangeAspect="1"/>
            </p:cNvPicPr>
            <p:nvPr>
              <p:custDataLst>
                <p:tags r:id="rId5"/>
              </p:custDataLst>
            </p:nvPr>
          </p:nvPicPr>
          <p:blipFill>
            <a:blip r:embed="rId15"/>
            <a:srcRect r="66912"/>
            <a:stretch>
              <a:fillRect/>
            </a:stretch>
          </p:blipFill>
          <p:spPr>
            <a:xfrm>
              <a:off x="10562" y="5940"/>
              <a:ext cx="2337" cy="3967"/>
            </a:xfrm>
            <a:prstGeom prst="rect">
              <a:avLst/>
            </a:prstGeom>
          </p:spPr>
        </p:pic>
        <p:pic>
          <p:nvPicPr>
            <p:cNvPr id="19" name="图片 18"/>
            <p:cNvPicPr>
              <a:picLocks noChangeAspect="1"/>
            </p:cNvPicPr>
            <p:nvPr>
              <p:custDataLst>
                <p:tags r:id="rId6"/>
              </p:custDataLst>
            </p:nvPr>
          </p:nvPicPr>
          <p:blipFill>
            <a:blip r:embed="rId15">
              <a:lum bright="100000"/>
            </a:blip>
            <a:srcRect l="33088"/>
            <a:stretch>
              <a:fillRect/>
            </a:stretch>
          </p:blipFill>
          <p:spPr>
            <a:xfrm>
              <a:off x="12899" y="5940"/>
              <a:ext cx="4726" cy="3967"/>
            </a:xfrm>
            <a:prstGeom prst="rect">
              <a:avLst/>
            </a:prstGeom>
          </p:spPr>
        </p:pic>
      </p:grpSp>
      <p:grpSp>
        <p:nvGrpSpPr>
          <p:cNvPr id="26" name="组合 25"/>
          <p:cNvGrpSpPr/>
          <p:nvPr/>
        </p:nvGrpSpPr>
        <p:grpSpPr>
          <a:xfrm>
            <a:off x="9747251" y="1517651"/>
            <a:ext cx="1831975" cy="356235"/>
            <a:chOff x="13036" y="219"/>
            <a:chExt cx="6808" cy="1324"/>
          </a:xfrm>
        </p:grpSpPr>
        <p:pic>
          <p:nvPicPr>
            <p:cNvPr id="2050" name="Picture 2" descr="CloudNative Computing Foundation 徽标">
              <a:hlinkClick r:id="rId16"/>
            </p:cNvPr>
            <p:cNvPicPr>
              <a:picLocks noChangeAspect="1" noChangeArrowheads="1"/>
            </p:cNvPicPr>
            <p:nvPr/>
          </p:nvPicPr>
          <p:blipFill>
            <a:blip r:embed="rId17">
              <a:extLst>
                <a:ext uri="{28A0092B-C50C-407E-A947-70E740481C1C}">
                  <a14:useLocalDpi xmlns:a14="http://schemas.microsoft.com/office/drawing/2010/main" val="0"/>
                </a:ext>
              </a:extLst>
            </a:blip>
            <a:srcRect r="80689"/>
            <a:stretch>
              <a:fillRect/>
            </a:stretch>
          </p:blipFill>
          <p:spPr bwMode="auto">
            <a:xfrm>
              <a:off x="13036" y="237"/>
              <a:ext cx="1328" cy="130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CloudNative Computing Foundation 徽标">
              <a:hlinkClick r:id="rId16"/>
            </p:cNvPr>
            <p:cNvPicPr>
              <a:picLocks noChangeAspect="1" noChangeArrowheads="1"/>
            </p:cNvPicPr>
            <p:nvPr/>
          </p:nvPicPr>
          <p:blipFill>
            <a:blip r:embed="rId17">
              <a:lum bright="100000"/>
              <a:extLst>
                <a:ext uri="{28A0092B-C50C-407E-A947-70E740481C1C}">
                  <a14:useLocalDpi xmlns:a14="http://schemas.microsoft.com/office/drawing/2010/main" val="0"/>
                </a:ext>
              </a:extLst>
            </a:blip>
            <a:srcRect l="18409"/>
            <a:stretch>
              <a:fillRect/>
            </a:stretch>
          </p:blipFill>
          <p:spPr bwMode="auto">
            <a:xfrm>
              <a:off x="14234" y="219"/>
              <a:ext cx="5611" cy="1307"/>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文本框 7"/>
          <p:cNvSpPr txBox="1"/>
          <p:nvPr/>
        </p:nvSpPr>
        <p:spPr>
          <a:xfrm>
            <a:off x="3121025" y="4198621"/>
            <a:ext cx="2951480" cy="968855"/>
          </a:xfrm>
          <a:prstGeom prst="rect">
            <a:avLst/>
          </a:prstGeom>
          <a:noFill/>
        </p:spPr>
        <p:txBody>
          <a:bodyPr wrap="square" rtlCol="0" anchor="t">
            <a:spAutoFit/>
          </a:bodyPr>
          <a:lstStyle/>
          <a:p>
            <a:pPr lvl="0" algn="ctr">
              <a:lnSpc>
                <a:spcPct val="130000"/>
              </a:lnSpc>
              <a:buClrTx/>
              <a:buSzTx/>
              <a:buFontTx/>
            </a:pPr>
            <a:r>
              <a:rPr lang="zh-CN" altLang="en-US" sz="900" b="1">
                <a:solidFill>
                  <a:schemeClr val="bg1"/>
                </a:solidFill>
                <a:sym typeface="+mn-ea"/>
              </a:rPr>
              <a:t>幻方 AI 博客《HAI Platform：开源的 AI 训练平台》</a:t>
            </a:r>
          </a:p>
          <a:p>
            <a:pPr lvl="0" algn="ctr">
              <a:lnSpc>
                <a:spcPct val="130000"/>
              </a:lnSpc>
              <a:buClrTx/>
              <a:buSzTx/>
              <a:buFontTx/>
            </a:pPr>
            <a:r>
              <a:rPr lang="zh-CN" altLang="en-US" sz="1200">
                <a:solidFill>
                  <a:schemeClr val="bg1"/>
                </a:solidFill>
                <a:sym typeface="+mn-ea"/>
              </a:rPr>
              <a:t>幻方 AI 高效管理 GPU 集群资源的 AI 训练平台方案</a:t>
            </a:r>
            <a:r>
              <a:rPr lang="en-US" altLang="zh-CN" sz="1200">
                <a:solidFill>
                  <a:schemeClr val="bg1"/>
                </a:solidFill>
                <a:sym typeface="+mn-ea"/>
              </a:rPr>
              <a:t> -</a:t>
            </a:r>
            <a:r>
              <a:rPr lang="zh-CN" altLang="en-US" sz="1200">
                <a:solidFill>
                  <a:schemeClr val="bg1"/>
                </a:solidFill>
                <a:sym typeface="+mn-ea"/>
              </a:rPr>
              <a:t> HAI Platform 运行在 Kubernetes 之上</a:t>
            </a:r>
          </a:p>
        </p:txBody>
      </p:sp>
      <p:pic>
        <p:nvPicPr>
          <p:cNvPr id="9" name="图片 8"/>
          <p:cNvPicPr>
            <a:picLocks noChangeAspect="1"/>
          </p:cNvPicPr>
          <p:nvPr/>
        </p:nvPicPr>
        <p:blipFill>
          <a:blip r:embed="rId18"/>
          <a:stretch>
            <a:fillRect/>
          </a:stretch>
        </p:blipFill>
        <p:spPr>
          <a:xfrm>
            <a:off x="3383917" y="2139949"/>
            <a:ext cx="2450465" cy="1858011"/>
          </a:xfrm>
          <a:prstGeom prst="rect">
            <a:avLst/>
          </a:prstGeom>
        </p:spPr>
      </p:pic>
    </p:spTree>
    <p:extLst>
      <p:ext uri="{BB962C8B-B14F-4D97-AF65-F5344CB8AC3E}">
        <p14:creationId xmlns:p14="http://schemas.microsoft.com/office/powerpoint/2010/main" val="2272481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C716F-BBB2-C1DE-DA94-8D5D51E4E3D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7CE4F758-495E-94D0-C12E-50CE00A96A1B}"/>
              </a:ext>
            </a:extLst>
          </p:cNvPr>
          <p:cNvSpPr>
            <a:spLocks noGrp="1"/>
          </p:cNvSpPr>
          <p:nvPr>
            <p:ph type="body" sz="quarter" idx="32"/>
          </p:nvPr>
        </p:nvSpPr>
        <p:spPr/>
        <p:txBody>
          <a:bodyPr/>
          <a:lstStyle/>
          <a:p>
            <a:pPr algn="l" fontAlgn="base">
              <a:buNone/>
            </a:pPr>
            <a:r>
              <a:rPr lang="zh-CN" altLang="en-US" b="0" i="0" dirty="0">
                <a:effectLst/>
                <a:latin typeface="PingFang SC"/>
              </a:rPr>
              <a:t>​</a:t>
            </a:r>
            <a:r>
              <a:rPr lang="zh-CN" altLang="en-US" b="1" i="0" dirty="0">
                <a:effectLst/>
                <a:latin typeface="inherit"/>
              </a:rPr>
              <a:t>​分布式推理</a:t>
            </a:r>
            <a:r>
              <a:rPr lang="zh-CN" altLang="en-US" dirty="0">
                <a:latin typeface="inherit"/>
              </a:rPr>
              <a:t>的 </a:t>
            </a:r>
            <a:r>
              <a:rPr lang="zh-CN" altLang="en-US" b="1" i="0" dirty="0">
                <a:effectLst/>
                <a:latin typeface="inherit"/>
              </a:rPr>
              <a:t>核心挑战与需求​</a:t>
            </a:r>
            <a:r>
              <a:rPr lang="zh-CN" altLang="en-US" b="0" i="0" dirty="0">
                <a:effectLst/>
                <a:latin typeface="PingFang SC"/>
              </a:rPr>
              <a:t>​</a:t>
            </a:r>
          </a:p>
        </p:txBody>
      </p:sp>
      <p:sp>
        <p:nvSpPr>
          <p:cNvPr id="6" name="文本框 5">
            <a:extLst>
              <a:ext uri="{FF2B5EF4-FFF2-40B4-BE49-F238E27FC236}">
                <a16:creationId xmlns:a16="http://schemas.microsoft.com/office/drawing/2014/main" id="{9F5CF610-68D0-083D-D8D6-05E259496860}"/>
              </a:ext>
            </a:extLst>
          </p:cNvPr>
          <p:cNvSpPr txBox="1"/>
          <p:nvPr/>
        </p:nvSpPr>
        <p:spPr>
          <a:xfrm>
            <a:off x="741555" y="1608333"/>
            <a:ext cx="11047513" cy="2839688"/>
          </a:xfrm>
          <a:prstGeom prst="rect">
            <a:avLst/>
          </a:prstGeom>
          <a:noFill/>
        </p:spPr>
        <p:txBody>
          <a:bodyPr wrap="square">
            <a:spAutoFit/>
          </a:bodyPr>
          <a:lstStyle/>
          <a:p>
            <a:pPr marL="342900" indent="-342900" algn="l" fontAlgn="base">
              <a:lnSpc>
                <a:spcPct val="150000"/>
              </a:lnSpc>
              <a:spcBef>
                <a:spcPts val="300"/>
              </a:spcBef>
              <a:spcAft>
                <a:spcPts val="300"/>
              </a:spcAft>
              <a:buFont typeface="Arial" panose="020B0604020202020204" pitchFamily="34" charset="0"/>
              <a:buChar char="•"/>
            </a:pPr>
            <a:r>
              <a:rPr lang="zh-CN" altLang="en-US" sz="2800" dirty="0">
                <a:solidFill>
                  <a:schemeClr val="bg1"/>
                </a:solidFill>
                <a:latin typeface="PingFang SC"/>
              </a:rPr>
              <a:t>大规模模型（如 </a:t>
            </a:r>
            <a:r>
              <a:rPr lang="en-US" altLang="zh-CN" sz="2800" dirty="0" err="1">
                <a:solidFill>
                  <a:schemeClr val="bg1"/>
                </a:solidFill>
                <a:latin typeface="PingFang SC"/>
              </a:rPr>
              <a:t>DeepSeek</a:t>
            </a:r>
            <a:r>
              <a:rPr lang="en-US" altLang="zh-CN" sz="2800" dirty="0">
                <a:solidFill>
                  <a:schemeClr val="bg1"/>
                </a:solidFill>
                <a:latin typeface="PingFang SC"/>
              </a:rPr>
              <a:t> R1 671B </a:t>
            </a:r>
            <a:r>
              <a:rPr lang="en-US" altLang="zh-CN" sz="2800" dirty="0" err="1">
                <a:solidFill>
                  <a:schemeClr val="bg1"/>
                </a:solidFill>
                <a:latin typeface="PingFang SC"/>
              </a:rPr>
              <a:t>LLaMA</a:t>
            </a:r>
            <a:r>
              <a:rPr lang="en-US" altLang="zh-CN" sz="2800" dirty="0">
                <a:solidFill>
                  <a:schemeClr val="bg1"/>
                </a:solidFill>
                <a:latin typeface="PingFang SC"/>
              </a:rPr>
              <a:t> 405B</a:t>
            </a:r>
            <a:r>
              <a:rPr lang="zh-CN" altLang="en-US" sz="2800" dirty="0">
                <a:solidFill>
                  <a:schemeClr val="bg1"/>
                </a:solidFill>
                <a:latin typeface="PingFang SC"/>
              </a:rPr>
              <a:t>）的推理部署</a:t>
            </a:r>
          </a:p>
          <a:p>
            <a:pPr marL="342900" indent="-342900" algn="l" fontAlgn="base">
              <a:lnSpc>
                <a:spcPct val="150000"/>
              </a:lnSpc>
              <a:spcBef>
                <a:spcPts val="300"/>
              </a:spcBef>
              <a:spcAft>
                <a:spcPts val="300"/>
              </a:spcAft>
              <a:buFont typeface="Arial" panose="020B0604020202020204" pitchFamily="34" charset="0"/>
              <a:buChar char="•"/>
            </a:pPr>
            <a:r>
              <a:rPr lang="zh-CN" altLang="en-US" sz="2800" b="0" i="0" dirty="0">
                <a:solidFill>
                  <a:schemeClr val="bg1"/>
                </a:solidFill>
                <a:effectLst/>
                <a:latin typeface="PingFang SC"/>
              </a:rPr>
              <a:t>异构资源（</a:t>
            </a:r>
            <a:r>
              <a:rPr lang="en-US" altLang="zh-CN" sz="2800" b="0" i="0" dirty="0">
                <a:solidFill>
                  <a:schemeClr val="bg1"/>
                </a:solidFill>
                <a:effectLst/>
                <a:latin typeface="PingFang SC"/>
              </a:rPr>
              <a:t>GPU/TPU/</a:t>
            </a:r>
            <a:r>
              <a:rPr lang="zh-CN" altLang="en-US" sz="2800" b="0" i="0" dirty="0">
                <a:solidFill>
                  <a:schemeClr val="bg1"/>
                </a:solidFill>
                <a:effectLst/>
                <a:latin typeface="PingFang SC"/>
              </a:rPr>
              <a:t>国产</a:t>
            </a:r>
            <a:r>
              <a:rPr lang="en-US" altLang="zh-CN" sz="2800" b="0" i="0" dirty="0">
                <a:solidFill>
                  <a:schemeClr val="bg1"/>
                </a:solidFill>
                <a:effectLst/>
                <a:latin typeface="PingFang SC"/>
              </a:rPr>
              <a:t>GPU</a:t>
            </a:r>
            <a:r>
              <a:rPr lang="zh-CN" altLang="en-US" sz="2800" b="0" i="0" dirty="0">
                <a:solidFill>
                  <a:schemeClr val="bg1"/>
                </a:solidFill>
                <a:effectLst/>
                <a:latin typeface="PingFang SC"/>
              </a:rPr>
              <a:t>）的高效利用</a:t>
            </a:r>
            <a:endParaRPr lang="en-US" altLang="zh-CN" sz="2800" b="0" i="0" dirty="0">
              <a:solidFill>
                <a:schemeClr val="bg1"/>
              </a:solidFill>
              <a:effectLst/>
              <a:latin typeface="PingFang SC"/>
            </a:endParaRPr>
          </a:p>
          <a:p>
            <a:pPr marL="342900" indent="-342900" algn="l" fontAlgn="base">
              <a:lnSpc>
                <a:spcPct val="150000"/>
              </a:lnSpc>
              <a:spcBef>
                <a:spcPts val="300"/>
              </a:spcBef>
              <a:spcAft>
                <a:spcPts val="300"/>
              </a:spcAft>
              <a:buFont typeface="Arial" panose="020B0604020202020204" pitchFamily="34" charset="0"/>
              <a:buChar char="•"/>
            </a:pPr>
            <a:r>
              <a:rPr lang="zh-CN" altLang="en-US" sz="2800" b="0" i="0" dirty="0">
                <a:solidFill>
                  <a:schemeClr val="bg1"/>
                </a:solidFill>
                <a:effectLst/>
                <a:latin typeface="PingFang SC"/>
              </a:rPr>
              <a:t>推理引擎 </a:t>
            </a:r>
            <a:r>
              <a:rPr lang="en-US" altLang="zh-CN" sz="2800" b="0" i="0" dirty="0">
                <a:solidFill>
                  <a:schemeClr val="bg1"/>
                </a:solidFill>
                <a:effectLst/>
                <a:latin typeface="PingFang SC"/>
              </a:rPr>
              <a:t>TP/PP/EP </a:t>
            </a:r>
            <a:r>
              <a:rPr lang="zh-CN" altLang="en-US" sz="2800" b="0" i="0" dirty="0">
                <a:solidFill>
                  <a:schemeClr val="bg1"/>
                </a:solidFill>
                <a:effectLst/>
                <a:latin typeface="PingFang SC"/>
              </a:rPr>
              <a:t>并行 和 </a:t>
            </a:r>
            <a:r>
              <a:rPr lang="en-US" altLang="zh-CN" sz="2800" b="0" i="0" dirty="0">
                <a:solidFill>
                  <a:schemeClr val="bg1"/>
                </a:solidFill>
                <a:effectLst/>
                <a:latin typeface="PingFang SC"/>
              </a:rPr>
              <a:t>PD </a:t>
            </a:r>
            <a:r>
              <a:rPr lang="zh-CN" altLang="en-US" sz="2800" b="0" i="0" dirty="0">
                <a:solidFill>
                  <a:schemeClr val="bg1"/>
                </a:solidFill>
                <a:effectLst/>
                <a:latin typeface="PingFang SC"/>
              </a:rPr>
              <a:t>分离 需要</a:t>
            </a:r>
          </a:p>
          <a:p>
            <a:pPr marL="342900" indent="-342900" algn="l" fontAlgn="base">
              <a:lnSpc>
                <a:spcPct val="150000"/>
              </a:lnSpc>
              <a:spcBef>
                <a:spcPts val="300"/>
              </a:spcBef>
              <a:spcAft>
                <a:spcPts val="300"/>
              </a:spcAft>
              <a:buFont typeface="Arial" panose="020B0604020202020204" pitchFamily="34" charset="0"/>
              <a:buChar char="•"/>
            </a:pPr>
            <a:r>
              <a:rPr lang="zh-CN" altLang="en-US" sz="2800" b="0" i="0" dirty="0">
                <a:solidFill>
                  <a:schemeClr val="bg1"/>
                </a:solidFill>
                <a:effectLst/>
                <a:latin typeface="PingFang SC"/>
              </a:rPr>
              <a:t>弹性伸缩与故障恢复机制</a:t>
            </a:r>
          </a:p>
        </p:txBody>
      </p:sp>
    </p:spTree>
    <p:extLst>
      <p:ext uri="{BB962C8B-B14F-4D97-AF65-F5344CB8AC3E}">
        <p14:creationId xmlns:p14="http://schemas.microsoft.com/office/powerpoint/2010/main" val="2051829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E9275-F7AD-0997-FA8D-11EF03BA5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14409-80EB-7B7D-453F-4227930384FE}"/>
              </a:ext>
            </a:extLst>
          </p:cNvPr>
          <p:cNvSpPr>
            <a:spLocks noGrp="1"/>
          </p:cNvSpPr>
          <p:nvPr>
            <p:ph type="title"/>
          </p:nvPr>
        </p:nvSpPr>
        <p:spPr/>
        <p:txBody>
          <a:bodyPr/>
          <a:lstStyle/>
          <a:p>
            <a:r>
              <a:rPr lang="en-US" altLang="zh-CN" dirty="0"/>
              <a:t>K8S WG-Serving </a:t>
            </a:r>
            <a:r>
              <a:rPr lang="zh-CN" altLang="en-US" dirty="0"/>
              <a:t>工作组核心贡献</a:t>
            </a:r>
          </a:p>
        </p:txBody>
      </p:sp>
      <p:sp>
        <p:nvSpPr>
          <p:cNvPr id="4" name="Text Placeholder 3">
            <a:extLst>
              <a:ext uri="{FF2B5EF4-FFF2-40B4-BE49-F238E27FC236}">
                <a16:creationId xmlns:a16="http://schemas.microsoft.com/office/drawing/2014/main" id="{77EB96B5-CC12-A779-D011-A574A4D471E3}"/>
              </a:ext>
            </a:extLst>
          </p:cNvPr>
          <p:cNvSpPr>
            <a:spLocks noGrp="1"/>
          </p:cNvSpPr>
          <p:nvPr>
            <p:ph type="body" idx="10"/>
          </p:nvPr>
        </p:nvSpPr>
        <p:spPr/>
        <p:txBody>
          <a:bodyPr/>
          <a:lstStyle/>
          <a:p>
            <a:r>
              <a:rPr lang="en-CN"/>
              <a:t>Part</a:t>
            </a:r>
          </a:p>
        </p:txBody>
      </p:sp>
      <p:sp>
        <p:nvSpPr>
          <p:cNvPr id="5" name="Text Placeholder 4">
            <a:extLst>
              <a:ext uri="{FF2B5EF4-FFF2-40B4-BE49-F238E27FC236}">
                <a16:creationId xmlns:a16="http://schemas.microsoft.com/office/drawing/2014/main" id="{CCC37EBF-9C80-A9DF-856C-939E5A16CCA9}"/>
              </a:ext>
            </a:extLst>
          </p:cNvPr>
          <p:cNvSpPr>
            <a:spLocks noGrp="1"/>
          </p:cNvSpPr>
          <p:nvPr>
            <p:ph type="body" idx="11"/>
          </p:nvPr>
        </p:nvSpPr>
        <p:spPr/>
        <p:txBody>
          <a:bodyPr/>
          <a:lstStyle/>
          <a:p>
            <a:r>
              <a:rPr lang="en-US" altLang="zh-CN" dirty="0"/>
              <a:t>02</a:t>
            </a:r>
            <a:endParaRPr lang="en-CN" dirty="0"/>
          </a:p>
        </p:txBody>
      </p:sp>
    </p:spTree>
    <p:extLst>
      <p:ext uri="{BB962C8B-B14F-4D97-AF65-F5344CB8AC3E}">
        <p14:creationId xmlns:p14="http://schemas.microsoft.com/office/powerpoint/2010/main" val="1342792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F47F1A9-7597-386B-F2C7-D084E5174D4B}"/>
              </a:ext>
            </a:extLst>
          </p:cNvPr>
          <p:cNvSpPr>
            <a:spLocks noGrp="1"/>
          </p:cNvSpPr>
          <p:nvPr>
            <p:ph type="body" sz="quarter" idx="32"/>
          </p:nvPr>
        </p:nvSpPr>
        <p:spPr/>
        <p:txBody>
          <a:bodyPr/>
          <a:lstStyle/>
          <a:p>
            <a:pPr indent="0">
              <a:buNone/>
            </a:pPr>
            <a:r>
              <a:rPr lang="en-US" altLang="zh-CN" dirty="0"/>
              <a:t>What is K8S WG Serving?</a:t>
            </a:r>
            <a:endParaRPr lang="zh-CN" altLang="en-US" dirty="0"/>
          </a:p>
        </p:txBody>
      </p:sp>
      <p:sp>
        <p:nvSpPr>
          <p:cNvPr id="4" name="文本框 3">
            <a:extLst>
              <a:ext uri="{FF2B5EF4-FFF2-40B4-BE49-F238E27FC236}">
                <a16:creationId xmlns:a16="http://schemas.microsoft.com/office/drawing/2014/main" id="{A7EAF274-3C6C-62A2-72D5-F5A824BEF67A}"/>
              </a:ext>
            </a:extLst>
          </p:cNvPr>
          <p:cNvSpPr txBox="1"/>
          <p:nvPr/>
        </p:nvSpPr>
        <p:spPr>
          <a:xfrm>
            <a:off x="527050" y="2319273"/>
            <a:ext cx="10423045" cy="2970044"/>
          </a:xfrm>
          <a:prstGeom prst="rect">
            <a:avLst/>
          </a:prstGeom>
          <a:noFill/>
        </p:spPr>
        <p:txBody>
          <a:bodyPr wrap="square">
            <a:spAutoFit/>
          </a:bodyPr>
          <a:lstStyle/>
          <a:p>
            <a:pPr marL="285750" indent="-285750" algn="l" fontAlgn="base">
              <a:spcAft>
                <a:spcPts val="900"/>
              </a:spcAft>
              <a:buFont typeface="Arial" panose="020B0604020202020204" pitchFamily="34" charset="0"/>
              <a:buChar char="•"/>
            </a:pPr>
            <a:r>
              <a:rPr lang="zh-CN" altLang="en-US" b="1" i="0" dirty="0">
                <a:solidFill>
                  <a:srgbClr val="000000"/>
                </a:solidFill>
                <a:effectLst/>
                <a:latin typeface="inherit"/>
              </a:rPr>
              <a:t>增强 </a:t>
            </a:r>
            <a:r>
              <a:rPr lang="en-US" altLang="zh-CN" b="1" dirty="0">
                <a:solidFill>
                  <a:srgbClr val="000000"/>
                </a:solidFill>
                <a:latin typeface="inherit"/>
              </a:rPr>
              <a:t>Kubernetes Workload Controllers </a:t>
            </a:r>
            <a:br>
              <a:rPr lang="zh-CN" altLang="en-US" i="0" dirty="0">
                <a:solidFill>
                  <a:srgbClr val="000000"/>
                </a:solidFill>
                <a:effectLst/>
                <a:latin typeface="inherit"/>
              </a:rPr>
            </a:br>
            <a:r>
              <a:rPr lang="zh-CN" altLang="en-US" i="0" dirty="0">
                <a:solidFill>
                  <a:srgbClr val="000000"/>
                </a:solidFill>
                <a:effectLst/>
                <a:latin typeface="inherit"/>
              </a:rPr>
              <a:t>优化 </a:t>
            </a:r>
            <a:r>
              <a:rPr lang="en-US" altLang="zh-CN" dirty="0">
                <a:solidFill>
                  <a:srgbClr val="000000"/>
                </a:solidFill>
                <a:latin typeface="inherit"/>
              </a:rPr>
              <a:t>Kubernetes Workload Controllers</a:t>
            </a:r>
            <a:r>
              <a:rPr lang="zh-CN" altLang="en-US" dirty="0">
                <a:solidFill>
                  <a:srgbClr val="000000"/>
                </a:solidFill>
                <a:latin typeface="inherit"/>
              </a:rPr>
              <a:t>，实现与 </a:t>
            </a:r>
            <a:r>
              <a:rPr lang="en-US" altLang="zh-CN" dirty="0">
                <a:solidFill>
                  <a:srgbClr val="000000"/>
                </a:solidFill>
                <a:latin typeface="inherit"/>
              </a:rPr>
              <a:t>GPU </a:t>
            </a:r>
            <a:r>
              <a:rPr lang="zh-CN" altLang="en-US" dirty="0">
                <a:solidFill>
                  <a:srgbClr val="000000"/>
                </a:solidFill>
                <a:latin typeface="inherit"/>
              </a:rPr>
              <a:t>的无缝集成，并通过主流推理服务框架和模型服务器提升其性能。</a:t>
            </a:r>
            <a:endParaRPr lang="zh-CN" altLang="en-US" b="0" i="0" dirty="0">
              <a:solidFill>
                <a:srgbClr val="000000"/>
              </a:solidFill>
              <a:effectLst/>
              <a:latin typeface="inherit"/>
            </a:endParaRPr>
          </a:p>
          <a:p>
            <a:pPr marL="285750" indent="-285750" algn="l" fontAlgn="base">
              <a:spcBef>
                <a:spcPts val="600"/>
              </a:spcBef>
              <a:spcAft>
                <a:spcPts val="900"/>
              </a:spcAft>
              <a:buFont typeface="Arial" panose="020B0604020202020204" pitchFamily="34" charset="0"/>
              <a:buChar char="•"/>
            </a:pPr>
            <a:r>
              <a:rPr lang="zh-CN" altLang="en-US" b="1" dirty="0">
                <a:solidFill>
                  <a:srgbClr val="000000"/>
                </a:solidFill>
                <a:latin typeface="inherit"/>
              </a:rPr>
              <a:t>探索 </a:t>
            </a:r>
            <a:r>
              <a:rPr lang="en-US" altLang="zh-CN" b="1" dirty="0">
                <a:solidFill>
                  <a:srgbClr val="000000"/>
                </a:solidFill>
                <a:latin typeface="inherit"/>
              </a:rPr>
              <a:t>Orchestration </a:t>
            </a:r>
            <a:r>
              <a:rPr lang="zh-CN" altLang="en-US" b="1" dirty="0">
                <a:solidFill>
                  <a:srgbClr val="000000"/>
                </a:solidFill>
                <a:latin typeface="inherit"/>
              </a:rPr>
              <a:t>和</a:t>
            </a:r>
            <a:r>
              <a:rPr lang="en-US" altLang="zh-CN" b="1" dirty="0">
                <a:solidFill>
                  <a:srgbClr val="000000"/>
                </a:solidFill>
                <a:latin typeface="inherit"/>
              </a:rPr>
              <a:t> Scalability </a:t>
            </a:r>
            <a:r>
              <a:rPr lang="zh-CN" altLang="en-US" b="1" dirty="0">
                <a:solidFill>
                  <a:srgbClr val="000000"/>
                </a:solidFill>
                <a:latin typeface="inherit"/>
              </a:rPr>
              <a:t>解决</a:t>
            </a:r>
            <a:r>
              <a:rPr lang="zh-CN" altLang="en-US" b="1" i="0" dirty="0">
                <a:solidFill>
                  <a:srgbClr val="000000"/>
                </a:solidFill>
                <a:effectLst/>
                <a:latin typeface="inherit"/>
              </a:rPr>
              <a:t>方案</a:t>
            </a:r>
            <a:br>
              <a:rPr lang="zh-CN" altLang="en-US" b="0" i="0" dirty="0">
                <a:solidFill>
                  <a:srgbClr val="000000"/>
                </a:solidFill>
                <a:effectLst/>
                <a:latin typeface="inherit"/>
              </a:rPr>
            </a:br>
            <a:r>
              <a:rPr lang="zh-CN" altLang="en-US" b="0" i="0" dirty="0">
                <a:solidFill>
                  <a:srgbClr val="000000"/>
                </a:solidFill>
                <a:effectLst/>
                <a:latin typeface="inherit"/>
              </a:rPr>
              <a:t>调研并参与能改进 推理</a:t>
            </a:r>
            <a:r>
              <a:rPr lang="zh-CN" altLang="en-US" dirty="0">
                <a:solidFill>
                  <a:srgbClr val="000000"/>
                </a:solidFill>
                <a:latin typeface="inherit"/>
              </a:rPr>
              <a:t>工作负载 </a:t>
            </a:r>
            <a:r>
              <a:rPr lang="en-US" altLang="zh-CN" dirty="0">
                <a:solidFill>
                  <a:srgbClr val="000000"/>
                </a:solidFill>
                <a:latin typeface="inherit"/>
              </a:rPr>
              <a:t>orchestration, scaling, and load balancing </a:t>
            </a:r>
            <a:r>
              <a:rPr lang="zh-CN" altLang="en-US" dirty="0">
                <a:solidFill>
                  <a:srgbClr val="000000"/>
                </a:solidFill>
                <a:latin typeface="inherit"/>
              </a:rPr>
              <a:t>的新项目，确保与基于</a:t>
            </a:r>
            <a:r>
              <a:rPr lang="en-US" altLang="zh-CN" dirty="0">
                <a:solidFill>
                  <a:srgbClr val="000000"/>
                </a:solidFill>
                <a:latin typeface="inherit"/>
              </a:rPr>
              <a:t>Kubernetes</a:t>
            </a:r>
            <a:r>
              <a:rPr lang="zh-CN" altLang="en-US" dirty="0">
                <a:solidFill>
                  <a:srgbClr val="000000"/>
                </a:solidFill>
                <a:latin typeface="inherit"/>
              </a:rPr>
              <a:t>的其他工作负载兼容。</a:t>
            </a:r>
            <a:endParaRPr lang="zh-CN" altLang="en-US" b="0" i="0" dirty="0">
              <a:solidFill>
                <a:srgbClr val="000000"/>
              </a:solidFill>
              <a:effectLst/>
              <a:latin typeface="inherit"/>
            </a:endParaRPr>
          </a:p>
          <a:p>
            <a:pPr marL="285750" indent="-285750" algn="l" fontAlgn="base">
              <a:spcBef>
                <a:spcPts val="600"/>
              </a:spcBef>
              <a:spcAft>
                <a:spcPts val="900"/>
              </a:spcAft>
              <a:buFont typeface="Arial" panose="020B0604020202020204" pitchFamily="34" charset="0"/>
              <a:buChar char="•"/>
            </a:pPr>
            <a:r>
              <a:rPr lang="zh-CN" altLang="en-US" b="1" i="0" dirty="0">
                <a:solidFill>
                  <a:srgbClr val="000000"/>
                </a:solidFill>
                <a:effectLst/>
                <a:latin typeface="inherit"/>
              </a:rPr>
              <a:t>优化推理工作负载的资源共享</a:t>
            </a:r>
            <a:br>
              <a:rPr lang="zh-CN" altLang="en-US" b="0" i="0" dirty="0">
                <a:solidFill>
                  <a:srgbClr val="000000"/>
                </a:solidFill>
                <a:effectLst/>
                <a:latin typeface="inherit"/>
              </a:rPr>
            </a:br>
            <a:r>
              <a:rPr lang="zh-CN" altLang="en-US" b="0" i="0" dirty="0">
                <a:solidFill>
                  <a:srgbClr val="000000"/>
                </a:solidFill>
                <a:effectLst/>
                <a:latin typeface="inherit"/>
              </a:rPr>
              <a:t>在</a:t>
            </a:r>
            <a:r>
              <a:rPr lang="en-US" altLang="zh-CN" b="0" i="0" dirty="0">
                <a:solidFill>
                  <a:srgbClr val="000000"/>
                </a:solidFill>
                <a:effectLst/>
                <a:latin typeface="inherit"/>
              </a:rPr>
              <a:t>Kubernetes</a:t>
            </a:r>
            <a:r>
              <a:rPr lang="zh-CN" altLang="en-US" b="0" i="0" dirty="0">
                <a:solidFill>
                  <a:srgbClr val="000000"/>
                </a:solidFill>
                <a:effectLst/>
                <a:latin typeface="inherit"/>
              </a:rPr>
              <a:t>上安全运行服务型工作负载的同时，动态将闲置资源分配给批处理框架，实现资源利用率最大化。（推理和训练共享集群）</a:t>
            </a:r>
          </a:p>
        </p:txBody>
      </p:sp>
      <p:sp>
        <p:nvSpPr>
          <p:cNvPr id="6" name="文本框 5">
            <a:extLst>
              <a:ext uri="{FF2B5EF4-FFF2-40B4-BE49-F238E27FC236}">
                <a16:creationId xmlns:a16="http://schemas.microsoft.com/office/drawing/2014/main" id="{890F46C9-387F-8A80-0589-0A55200757C1}"/>
              </a:ext>
            </a:extLst>
          </p:cNvPr>
          <p:cNvSpPr txBox="1"/>
          <p:nvPr/>
        </p:nvSpPr>
        <p:spPr>
          <a:xfrm>
            <a:off x="804001" y="1144335"/>
            <a:ext cx="10034983" cy="707886"/>
          </a:xfrm>
          <a:prstGeom prst="rect">
            <a:avLst/>
          </a:prstGeom>
          <a:noFill/>
        </p:spPr>
        <p:txBody>
          <a:bodyPr wrap="square">
            <a:spAutoFit/>
          </a:bodyPr>
          <a:lstStyle/>
          <a:p>
            <a:r>
              <a:rPr lang="en-US" altLang="zh-CN" sz="2000" b="0" i="0" dirty="0">
                <a:solidFill>
                  <a:srgbClr val="1F2328"/>
                </a:solidFill>
                <a:effectLst/>
                <a:latin typeface="-apple-system"/>
              </a:rPr>
              <a:t>Discuss and enhance serving workloads on Kubernetes, specifically focusing on</a:t>
            </a:r>
            <a:r>
              <a:rPr lang="en-US" altLang="zh-CN" sz="2000" b="1" i="0" dirty="0">
                <a:solidFill>
                  <a:schemeClr val="accent1"/>
                </a:solidFill>
                <a:effectLst/>
                <a:latin typeface="-apple-system"/>
              </a:rPr>
              <a:t> hardware-accelerated AI/ML inference</a:t>
            </a:r>
            <a:r>
              <a:rPr lang="en-US" altLang="zh-CN" sz="2000" b="0" i="0" dirty="0">
                <a:solidFill>
                  <a:srgbClr val="1F2328"/>
                </a:solidFill>
                <a:effectLst/>
                <a:latin typeface="-apple-system"/>
              </a:rPr>
              <a:t>. </a:t>
            </a:r>
            <a:endParaRPr lang="zh-CN" altLang="en-US" sz="2000" dirty="0"/>
          </a:p>
        </p:txBody>
      </p:sp>
    </p:spTree>
    <p:extLst>
      <p:ext uri="{BB962C8B-B14F-4D97-AF65-F5344CB8AC3E}">
        <p14:creationId xmlns:p14="http://schemas.microsoft.com/office/powerpoint/2010/main" val="1464956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B5635B-8769-8921-8788-708E4FB7EDA2}"/>
              </a:ext>
            </a:extLst>
          </p:cNvPr>
          <p:cNvSpPr>
            <a:spLocks noGrp="1"/>
          </p:cNvSpPr>
          <p:nvPr>
            <p:ph type="title"/>
          </p:nvPr>
        </p:nvSpPr>
        <p:spPr/>
        <p:txBody>
          <a:bodyPr/>
          <a:lstStyle/>
          <a:p>
            <a:r>
              <a:rPr lang="en-US" altLang="zh-CN" dirty="0">
                <a:solidFill>
                  <a:srgbClr val="202124"/>
                </a:solidFill>
                <a:latin typeface="Google Sans"/>
              </a:rPr>
              <a:t>Gen-AI </a:t>
            </a:r>
            <a:r>
              <a:rPr lang="en-US" altLang="zh-CN" b="1" i="0" dirty="0">
                <a:solidFill>
                  <a:srgbClr val="202124"/>
                </a:solidFill>
                <a:effectLst/>
                <a:latin typeface="Google Sans"/>
              </a:rPr>
              <a:t>inference aware Kubernetes</a:t>
            </a:r>
            <a:endParaRPr lang="zh-CN" altLang="en-US" dirty="0"/>
          </a:p>
        </p:txBody>
      </p:sp>
      <p:pic>
        <p:nvPicPr>
          <p:cNvPr id="4" name="图片 3">
            <a:extLst>
              <a:ext uri="{FF2B5EF4-FFF2-40B4-BE49-F238E27FC236}">
                <a16:creationId xmlns:a16="http://schemas.microsoft.com/office/drawing/2014/main" id="{F220A129-E551-BA5C-AEC1-C46E6705F1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0017" y="1161621"/>
            <a:ext cx="5731210" cy="5167866"/>
          </a:xfrm>
          <a:prstGeom prst="rect">
            <a:avLst/>
          </a:prstGeom>
        </p:spPr>
      </p:pic>
      <p:sp>
        <p:nvSpPr>
          <p:cNvPr id="6" name="文本框 5">
            <a:extLst>
              <a:ext uri="{FF2B5EF4-FFF2-40B4-BE49-F238E27FC236}">
                <a16:creationId xmlns:a16="http://schemas.microsoft.com/office/drawing/2014/main" id="{A582CC77-169E-54F8-7A68-178CA9AD9612}"/>
              </a:ext>
            </a:extLst>
          </p:cNvPr>
          <p:cNvSpPr txBox="1"/>
          <p:nvPr/>
        </p:nvSpPr>
        <p:spPr>
          <a:xfrm>
            <a:off x="452999" y="6495163"/>
            <a:ext cx="9315470" cy="253916"/>
          </a:xfrm>
          <a:prstGeom prst="rect">
            <a:avLst/>
          </a:prstGeom>
          <a:noFill/>
        </p:spPr>
        <p:txBody>
          <a:bodyPr wrap="square">
            <a:spAutoFit/>
          </a:bodyPr>
          <a:lstStyle/>
          <a:p>
            <a:r>
              <a:rPr lang="zh-CN" altLang="en-US" sz="1050" dirty="0"/>
              <a:t>https://cloud.google.com/blog/products/containers-kubernetes/google-bytedance-and-red-hat-improve-ai-on-kubernetes</a:t>
            </a:r>
          </a:p>
        </p:txBody>
      </p:sp>
      <p:sp>
        <p:nvSpPr>
          <p:cNvPr id="7" name="文本框 6">
            <a:extLst>
              <a:ext uri="{FF2B5EF4-FFF2-40B4-BE49-F238E27FC236}">
                <a16:creationId xmlns:a16="http://schemas.microsoft.com/office/drawing/2014/main" id="{C63C9861-FA66-70FD-69B2-EDBAFA938265}"/>
              </a:ext>
            </a:extLst>
          </p:cNvPr>
          <p:cNvSpPr txBox="1"/>
          <p:nvPr/>
        </p:nvSpPr>
        <p:spPr>
          <a:xfrm>
            <a:off x="452999" y="1429913"/>
            <a:ext cx="5731210" cy="4286045"/>
          </a:xfrm>
          <a:prstGeom prst="rect">
            <a:avLst/>
          </a:prstGeom>
          <a:noFill/>
        </p:spPr>
        <p:txBody>
          <a:bodyPr wrap="square">
            <a:spAutoFit/>
          </a:bodyPr>
          <a:lstStyle/>
          <a:p>
            <a:pPr marL="342900" indent="-342900" fontAlgn="base">
              <a:lnSpc>
                <a:spcPct val="150000"/>
              </a:lnSpc>
              <a:spcBef>
                <a:spcPts val="300"/>
              </a:spcBef>
              <a:spcAft>
                <a:spcPts val="300"/>
              </a:spcAft>
              <a:buFont typeface="Arial" panose="020B0604020202020204" pitchFamily="34" charset="0"/>
              <a:buChar char="•"/>
            </a:pPr>
            <a:r>
              <a:rPr lang="en-US" altLang="zh-CN" sz="1600" b="1" u="sng" dirty="0">
                <a:solidFill>
                  <a:srgbClr val="1A73E8"/>
                </a:solidFill>
                <a:latin typeface="Google Sans Text"/>
                <a:hlinkClick r:id="rId3">
                  <a:extLst>
                    <a:ext uri="{A12FA001-AC4F-418D-AE19-62706E023703}">
                      <ahyp:hlinkClr xmlns:ahyp="http://schemas.microsoft.com/office/drawing/2018/hyperlinkcolor" val="tx"/>
                    </a:ext>
                  </a:extLst>
                </a:hlinkClick>
              </a:rPr>
              <a:t>Inference performance</a:t>
            </a:r>
            <a:endParaRPr lang="en-US" altLang="zh-CN" sz="1600" b="1" u="sng" dirty="0">
              <a:solidFill>
                <a:srgbClr val="1A73E8"/>
              </a:solidFill>
              <a:latin typeface="Google Sans Text"/>
            </a:endParaRPr>
          </a:p>
          <a:p>
            <a:pPr marL="800100" lvl="1" indent="-342900" fontAlgn="base">
              <a:lnSpc>
                <a:spcPct val="150000"/>
              </a:lnSpc>
              <a:spcBef>
                <a:spcPts val="300"/>
              </a:spcBef>
              <a:spcAft>
                <a:spcPts val="300"/>
              </a:spcAft>
              <a:buFont typeface="Arial" panose="020B0604020202020204" pitchFamily="34" charset="0"/>
              <a:buChar char="•"/>
            </a:pPr>
            <a:r>
              <a:rPr lang="en-US" altLang="zh-CN" sz="1600" b="0" i="0" dirty="0">
                <a:solidFill>
                  <a:srgbClr val="1F2328"/>
                </a:solidFill>
                <a:effectLst/>
                <a:latin typeface="-apple-system"/>
              </a:rPr>
              <a:t>GenAI inference performance benchmarking tool</a:t>
            </a:r>
            <a:endParaRPr lang="en-US" altLang="zh-CN" sz="1600" b="0" i="0" u="sng" dirty="0">
              <a:solidFill>
                <a:srgbClr val="1A73E8"/>
              </a:solidFill>
              <a:effectLst/>
              <a:latin typeface="Google Sans Text"/>
              <a:hlinkClick r:id="rId4"/>
            </a:endParaRPr>
          </a:p>
          <a:p>
            <a:pPr marL="342900" indent="-342900" fontAlgn="base">
              <a:lnSpc>
                <a:spcPct val="150000"/>
              </a:lnSpc>
              <a:spcBef>
                <a:spcPts val="300"/>
              </a:spcBef>
              <a:spcAft>
                <a:spcPts val="300"/>
              </a:spcAft>
              <a:buFont typeface="Arial" panose="020B0604020202020204" pitchFamily="34" charset="0"/>
              <a:buChar char="•"/>
            </a:pPr>
            <a:r>
              <a:rPr lang="en-US" altLang="zh-CN" sz="1600" b="1" u="sng" dirty="0">
                <a:solidFill>
                  <a:srgbClr val="1A73E8"/>
                </a:solidFill>
                <a:latin typeface="Google Sans Text"/>
                <a:hlinkClick r:id="rId4">
                  <a:extLst>
                    <a:ext uri="{A12FA001-AC4F-418D-AE19-62706E023703}">
                      <ahyp:hlinkClr xmlns:ahyp="http://schemas.microsoft.com/office/drawing/2018/hyperlinkcolor" val="tx"/>
                    </a:ext>
                  </a:extLst>
                </a:hlinkClick>
              </a:rPr>
              <a:t>Gateway API Inference Extension</a:t>
            </a:r>
            <a:endParaRPr lang="en-US" altLang="zh-CN" sz="1600" b="1" u="sng" dirty="0">
              <a:solidFill>
                <a:srgbClr val="1A73E8"/>
              </a:solidFill>
              <a:latin typeface="Google Sans Text"/>
            </a:endParaRPr>
          </a:p>
          <a:p>
            <a:pPr marL="800100" lvl="1" indent="-342900" fontAlgn="base">
              <a:lnSpc>
                <a:spcPct val="150000"/>
              </a:lnSpc>
              <a:spcBef>
                <a:spcPts val="300"/>
              </a:spcBef>
              <a:spcAft>
                <a:spcPts val="300"/>
              </a:spcAft>
              <a:buFont typeface="Arial" panose="020B0604020202020204" pitchFamily="34" charset="0"/>
              <a:buChar char="•"/>
            </a:pPr>
            <a:r>
              <a:rPr lang="en-US" altLang="zh-CN" sz="1600" b="0" i="0" dirty="0">
                <a:solidFill>
                  <a:srgbClr val="5F6368"/>
                </a:solidFill>
                <a:effectLst/>
                <a:latin typeface="Google Sans Text"/>
              </a:rPr>
              <a:t>LLM-aware routing, rather than traditional round robin. </a:t>
            </a:r>
          </a:p>
          <a:p>
            <a:pPr marL="342900" indent="-342900" fontAlgn="base">
              <a:lnSpc>
                <a:spcPct val="150000"/>
              </a:lnSpc>
              <a:spcBef>
                <a:spcPts val="300"/>
              </a:spcBef>
              <a:spcAft>
                <a:spcPts val="300"/>
              </a:spcAft>
              <a:buFont typeface="Arial" panose="020B0604020202020204" pitchFamily="34" charset="0"/>
              <a:buChar char="•"/>
            </a:pPr>
            <a:r>
              <a:rPr lang="en-US" altLang="zh-CN" sz="1600" b="1" u="sng" dirty="0" err="1">
                <a:solidFill>
                  <a:srgbClr val="1A73E8"/>
                </a:solidFill>
                <a:latin typeface="Google Sans Text"/>
                <a:hlinkClick r:id="rId5">
                  <a:extLst>
                    <a:ext uri="{A12FA001-AC4F-418D-AE19-62706E023703}">
                      <ahyp:hlinkClr xmlns:ahyp="http://schemas.microsoft.com/office/drawing/2018/hyperlinkcolor" val="tx"/>
                    </a:ext>
                  </a:extLst>
                </a:hlinkClick>
              </a:rPr>
              <a:t>LeaderWorkerSet</a:t>
            </a:r>
            <a:r>
              <a:rPr lang="en-US" altLang="zh-CN" sz="1600" b="1" u="sng" dirty="0">
                <a:solidFill>
                  <a:srgbClr val="1A73E8"/>
                </a:solidFill>
                <a:latin typeface="Google Sans Text"/>
              </a:rPr>
              <a:t> (LWS)</a:t>
            </a:r>
          </a:p>
          <a:p>
            <a:pPr marL="800100" lvl="1" indent="-342900" fontAlgn="base">
              <a:lnSpc>
                <a:spcPct val="150000"/>
              </a:lnSpc>
              <a:spcBef>
                <a:spcPts val="300"/>
              </a:spcBef>
              <a:spcAft>
                <a:spcPts val="300"/>
              </a:spcAft>
              <a:buFont typeface="Arial" panose="020B0604020202020204" pitchFamily="34" charset="0"/>
              <a:buChar char="•"/>
            </a:pPr>
            <a:r>
              <a:rPr lang="en-US" altLang="zh-CN" sz="1600" b="0" i="0" dirty="0">
                <a:solidFill>
                  <a:srgbClr val="5F6368"/>
                </a:solidFill>
                <a:effectLst/>
                <a:latin typeface="Google Sans Text"/>
              </a:rPr>
              <a:t>Enables multi-host inference for state-of-the-art models</a:t>
            </a:r>
            <a:endParaRPr lang="en-US" altLang="zh-CN" sz="1600" b="0" i="0" u="sng" dirty="0">
              <a:solidFill>
                <a:srgbClr val="1A73E8"/>
              </a:solidFill>
              <a:effectLst/>
              <a:latin typeface="Google Sans Text"/>
              <a:hlinkClick r:id="rId6"/>
            </a:endParaRPr>
          </a:p>
          <a:p>
            <a:pPr marL="342900" indent="-342900" fontAlgn="base">
              <a:lnSpc>
                <a:spcPct val="150000"/>
              </a:lnSpc>
              <a:spcBef>
                <a:spcPts val="300"/>
              </a:spcBef>
              <a:spcAft>
                <a:spcPts val="300"/>
              </a:spcAft>
              <a:buFont typeface="Arial" panose="020B0604020202020204" pitchFamily="34" charset="0"/>
              <a:buChar char="•"/>
            </a:pPr>
            <a:r>
              <a:rPr lang="en-US" altLang="zh-CN" sz="1600" b="1" u="sng" dirty="0">
                <a:solidFill>
                  <a:srgbClr val="1A73E8"/>
                </a:solidFill>
                <a:latin typeface="Google Sans Text"/>
                <a:hlinkClick r:id="rId6">
                  <a:extLst>
                    <a:ext uri="{A12FA001-AC4F-418D-AE19-62706E023703}">
                      <ahyp:hlinkClr xmlns:ahyp="http://schemas.microsoft.com/office/drawing/2018/hyperlinkcolor" val="tx"/>
                    </a:ext>
                  </a:extLst>
                </a:hlinkClick>
              </a:rPr>
              <a:t>Dynamic Resource Allocation</a:t>
            </a:r>
            <a:r>
              <a:rPr lang="en-US" altLang="zh-CN" sz="1600" b="1" u="sng" dirty="0">
                <a:solidFill>
                  <a:srgbClr val="1A73E8"/>
                </a:solidFill>
                <a:latin typeface="Google Sans Text"/>
              </a:rPr>
              <a:t> (DRA)</a:t>
            </a:r>
          </a:p>
          <a:p>
            <a:pPr marL="800100" lvl="1" indent="-342900" fontAlgn="base">
              <a:lnSpc>
                <a:spcPct val="150000"/>
              </a:lnSpc>
              <a:spcBef>
                <a:spcPts val="300"/>
              </a:spcBef>
              <a:spcAft>
                <a:spcPts val="300"/>
              </a:spcAft>
              <a:buFont typeface="Arial" panose="020B0604020202020204" pitchFamily="34" charset="0"/>
              <a:buChar char="•"/>
            </a:pPr>
            <a:r>
              <a:rPr lang="en-US" altLang="zh-CN" sz="1600" b="0" i="0" dirty="0">
                <a:solidFill>
                  <a:srgbClr val="5F6368"/>
                </a:solidFill>
                <a:effectLst/>
                <a:latin typeface="Google Sans Text"/>
              </a:rPr>
              <a:t>simplifies and automates how Kubernetes allocates and schedules GPUs, TPUs, and other devices to pods and workloads. </a:t>
            </a:r>
            <a:endParaRPr lang="zh-CN" altLang="en-US" sz="1600" b="0" i="0" dirty="0">
              <a:effectLst/>
              <a:latin typeface="PingFang SC"/>
            </a:endParaRPr>
          </a:p>
        </p:txBody>
      </p:sp>
    </p:spTree>
    <p:extLst>
      <p:ext uri="{BB962C8B-B14F-4D97-AF65-F5344CB8AC3E}">
        <p14:creationId xmlns:p14="http://schemas.microsoft.com/office/powerpoint/2010/main" val="1259515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618E8-568C-5F38-7F3B-CBBE0662FBF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DEB5ED-19E1-3258-B001-88378053A12C}"/>
              </a:ext>
            </a:extLst>
          </p:cNvPr>
          <p:cNvSpPr>
            <a:spLocks noGrp="1"/>
          </p:cNvSpPr>
          <p:nvPr>
            <p:ph type="title"/>
          </p:nvPr>
        </p:nvSpPr>
        <p:spPr/>
        <p:txBody>
          <a:bodyPr/>
          <a:lstStyle/>
          <a:p>
            <a:r>
              <a:rPr lang="en-US" altLang="zh-CN" sz="2700" dirty="0" err="1">
                <a:solidFill>
                  <a:srgbClr val="0D0D0D">
                    <a:alpha val="100000"/>
                  </a:srgbClr>
                </a:solidFill>
                <a:latin typeface="微软雅黑"/>
                <a:ea typeface="+mn-ea"/>
                <a:cs typeface="+mn-cs"/>
              </a:rPr>
              <a:t>LeaderWorkerSet</a:t>
            </a:r>
            <a:r>
              <a:rPr lang="en-US" altLang="zh-CN" sz="2700" dirty="0">
                <a:solidFill>
                  <a:srgbClr val="0D0D0D">
                    <a:alpha val="100000"/>
                  </a:srgbClr>
                </a:solidFill>
                <a:latin typeface="微软雅黑"/>
                <a:ea typeface="+mn-ea"/>
                <a:cs typeface="+mn-cs"/>
              </a:rPr>
              <a:t> (LWS</a:t>
            </a:r>
            <a:r>
              <a:rPr lang="en-US" altLang="zh-CN" b="1" i="0" dirty="0">
                <a:solidFill>
                  <a:srgbClr val="1F2328"/>
                </a:solidFill>
                <a:effectLst/>
                <a:latin typeface="-apple-system"/>
              </a:rPr>
              <a:t>)</a:t>
            </a:r>
            <a:endParaRPr lang="zh-CN" altLang="en-US" dirty="0"/>
          </a:p>
        </p:txBody>
      </p:sp>
      <p:pic>
        <p:nvPicPr>
          <p:cNvPr id="6146" name="Picture 2" descr="image">
            <a:extLst>
              <a:ext uri="{FF2B5EF4-FFF2-40B4-BE49-F238E27FC236}">
                <a16:creationId xmlns:a16="http://schemas.microsoft.com/office/drawing/2014/main" id="{291A7D77-CDD7-C56C-C9B0-C075004AF3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016" y="1173108"/>
            <a:ext cx="5819984" cy="492214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0E17BC77-0582-21E9-8604-64069C68473B}"/>
              </a:ext>
            </a:extLst>
          </p:cNvPr>
          <p:cNvSpPr txBox="1"/>
          <p:nvPr/>
        </p:nvSpPr>
        <p:spPr>
          <a:xfrm>
            <a:off x="413989" y="1725970"/>
            <a:ext cx="6808339" cy="1703030"/>
          </a:xfrm>
          <a:prstGeom prst="rect">
            <a:avLst/>
          </a:prstGeom>
          <a:noFill/>
        </p:spPr>
        <p:txBody>
          <a:bodyPr wrap="none" rtlCol="0">
            <a:spAutoFit/>
          </a:bodyPr>
          <a:lstStyle/>
          <a:p>
            <a:pPr>
              <a:lnSpc>
                <a:spcPct val="150000"/>
              </a:lnSpc>
            </a:pPr>
            <a:r>
              <a:rPr lang="en-US" altLang="zh-CN" dirty="0"/>
              <a:t>An API for deploying a group of pods as a unit of </a:t>
            </a:r>
          </a:p>
          <a:p>
            <a:pPr>
              <a:lnSpc>
                <a:spcPct val="150000"/>
              </a:lnSpc>
            </a:pPr>
            <a:r>
              <a:rPr lang="en-US" altLang="zh-CN" dirty="0"/>
              <a:t>replication</a:t>
            </a:r>
          </a:p>
          <a:p>
            <a:pPr marL="285750" indent="-285750">
              <a:lnSpc>
                <a:spcPct val="150000"/>
              </a:lnSpc>
              <a:buFont typeface="Arial" panose="020B0604020202020204" pitchFamily="34" charset="0"/>
              <a:buChar char="•"/>
            </a:pPr>
            <a:r>
              <a:rPr lang="en-US" altLang="zh-CN" dirty="0"/>
              <a:t>A group is a “Super Pod”: a single leader and multiple workers</a:t>
            </a:r>
          </a:p>
          <a:p>
            <a:pPr marL="285750" indent="-285750">
              <a:lnSpc>
                <a:spcPct val="150000"/>
              </a:lnSpc>
              <a:buFont typeface="Arial" panose="020B0604020202020204" pitchFamily="34" charset="0"/>
              <a:buChar char="•"/>
            </a:pPr>
            <a:r>
              <a:rPr lang="en-US" altLang="zh-CN" dirty="0"/>
              <a:t>Built on top of </a:t>
            </a:r>
            <a:r>
              <a:rPr lang="en-US" altLang="zh-CN" dirty="0" err="1"/>
              <a:t>StatefulSet</a:t>
            </a:r>
            <a:r>
              <a:rPr lang="en-US" altLang="zh-CN" dirty="0"/>
              <a:t> and supports most of it semantics</a:t>
            </a:r>
            <a:endParaRPr lang="zh-CN" altLang="en-US" dirty="0"/>
          </a:p>
        </p:txBody>
      </p:sp>
    </p:spTree>
    <p:extLst>
      <p:ext uri="{BB962C8B-B14F-4D97-AF65-F5344CB8AC3E}">
        <p14:creationId xmlns:p14="http://schemas.microsoft.com/office/powerpoint/2010/main" val="1001094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DD1C6-2A7D-8F4F-09BF-E7405A44B14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CEE271E-686C-6AD2-BFF2-3342B1279D7F}"/>
              </a:ext>
            </a:extLst>
          </p:cNvPr>
          <p:cNvSpPr>
            <a:spLocks noGrp="1"/>
          </p:cNvSpPr>
          <p:nvPr>
            <p:ph type="title"/>
          </p:nvPr>
        </p:nvSpPr>
        <p:spPr/>
        <p:txBody>
          <a:bodyPr/>
          <a:lstStyle/>
          <a:p>
            <a:r>
              <a:rPr lang="en-US" altLang="zh-CN" dirty="0"/>
              <a:t>Dynamic Resource Allocation (DRA) - Challenge</a:t>
            </a:r>
            <a:endParaRPr lang="zh-CN" altLang="en-US" dirty="0"/>
          </a:p>
        </p:txBody>
      </p:sp>
      <p:sp>
        <p:nvSpPr>
          <p:cNvPr id="8" name="文本框 7">
            <a:extLst>
              <a:ext uri="{FF2B5EF4-FFF2-40B4-BE49-F238E27FC236}">
                <a16:creationId xmlns:a16="http://schemas.microsoft.com/office/drawing/2014/main" id="{48108B79-868E-11F7-8D20-4305B3230B1F}"/>
              </a:ext>
            </a:extLst>
          </p:cNvPr>
          <p:cNvSpPr txBox="1"/>
          <p:nvPr/>
        </p:nvSpPr>
        <p:spPr>
          <a:xfrm>
            <a:off x="504283" y="1031927"/>
            <a:ext cx="6095256" cy="1754326"/>
          </a:xfrm>
          <a:prstGeom prst="rect">
            <a:avLst/>
          </a:prstGeom>
          <a:noFill/>
        </p:spPr>
        <p:txBody>
          <a:bodyPr wrap="square">
            <a:spAutoFit/>
          </a:bodyPr>
          <a:lstStyle/>
          <a:p>
            <a:r>
              <a:rPr lang="zh-CN" altLang="en-US" dirty="0"/>
              <a:t>AI/ML workloads can require a large number of accelerators. As the number of accelerators and nodes grow, so does the complexity of scheduling and the chance that we might encounter failures. </a:t>
            </a:r>
          </a:p>
          <a:p>
            <a:endParaRPr lang="zh-CN" altLang="en-US" dirty="0"/>
          </a:p>
          <a:p>
            <a:r>
              <a:rPr lang="zh-CN" altLang="en-US" b="1" dirty="0">
                <a:solidFill>
                  <a:schemeClr val="accent1"/>
                </a:solidFill>
              </a:rPr>
              <a:t>More Nodes ⇒ More </a:t>
            </a:r>
            <a:r>
              <a:rPr lang="en-US" altLang="zh-CN" b="1" dirty="0">
                <a:solidFill>
                  <a:schemeClr val="accent1"/>
                </a:solidFill>
              </a:rPr>
              <a:t>Complex</a:t>
            </a:r>
            <a:endParaRPr lang="zh-CN" altLang="en-US" b="1" dirty="0">
              <a:solidFill>
                <a:schemeClr val="accent1"/>
              </a:solidFill>
            </a:endParaRPr>
          </a:p>
        </p:txBody>
      </p:sp>
      <p:pic>
        <p:nvPicPr>
          <p:cNvPr id="12" name="图片 11" descr="表格&#10;&#10;AI 生成的内容可能不正确。">
            <a:extLst>
              <a:ext uri="{FF2B5EF4-FFF2-40B4-BE49-F238E27FC236}">
                <a16:creationId xmlns:a16="http://schemas.microsoft.com/office/drawing/2014/main" id="{90E47EA8-A226-D8F8-DDAA-9A47877C70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0874" y="3227628"/>
            <a:ext cx="2853643" cy="3026189"/>
          </a:xfrm>
          <a:prstGeom prst="rect">
            <a:avLst/>
          </a:prstGeom>
        </p:spPr>
      </p:pic>
      <p:pic>
        <p:nvPicPr>
          <p:cNvPr id="14" name="图片 13" descr="图示&#10;&#10;AI 生成的内容可能不正确。">
            <a:extLst>
              <a:ext uri="{FF2B5EF4-FFF2-40B4-BE49-F238E27FC236}">
                <a16:creationId xmlns:a16="http://schemas.microsoft.com/office/drawing/2014/main" id="{31A26B30-1882-C420-97F8-9C25B9C6B6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849" y="2982515"/>
            <a:ext cx="5441547" cy="3698551"/>
          </a:xfrm>
          <a:prstGeom prst="rect">
            <a:avLst/>
          </a:prstGeom>
        </p:spPr>
      </p:pic>
      <p:sp>
        <p:nvSpPr>
          <p:cNvPr id="15" name="文本框 14">
            <a:extLst>
              <a:ext uri="{FF2B5EF4-FFF2-40B4-BE49-F238E27FC236}">
                <a16:creationId xmlns:a16="http://schemas.microsoft.com/office/drawing/2014/main" id="{AAB42EC7-6C62-AAE8-B2E3-FA702DF34FBD}"/>
              </a:ext>
            </a:extLst>
          </p:cNvPr>
          <p:cNvSpPr txBox="1"/>
          <p:nvPr/>
        </p:nvSpPr>
        <p:spPr>
          <a:xfrm>
            <a:off x="7360874" y="6184009"/>
            <a:ext cx="1450077" cy="369332"/>
          </a:xfrm>
          <a:prstGeom prst="rect">
            <a:avLst/>
          </a:prstGeom>
          <a:noFill/>
        </p:spPr>
        <p:txBody>
          <a:bodyPr wrap="none" rtlCol="0">
            <a:spAutoFit/>
          </a:bodyPr>
          <a:lstStyle/>
          <a:p>
            <a:r>
              <a:rPr lang="en-US" altLang="zh-CN" dirty="0"/>
              <a:t>Google TPU</a:t>
            </a:r>
            <a:endParaRPr lang="zh-CN" altLang="en-US" dirty="0"/>
          </a:p>
        </p:txBody>
      </p:sp>
      <p:pic>
        <p:nvPicPr>
          <p:cNvPr id="7" name="图片 6">
            <a:extLst>
              <a:ext uri="{FF2B5EF4-FFF2-40B4-BE49-F238E27FC236}">
                <a16:creationId xmlns:a16="http://schemas.microsoft.com/office/drawing/2014/main" id="{861E655E-71CB-DA1A-5688-8376C7488B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18684" y="1043757"/>
            <a:ext cx="2938021" cy="1794086"/>
          </a:xfrm>
          <a:prstGeom prst="rect">
            <a:avLst/>
          </a:prstGeom>
        </p:spPr>
      </p:pic>
      <p:sp>
        <p:nvSpPr>
          <p:cNvPr id="10" name="文本框 9">
            <a:extLst>
              <a:ext uri="{FF2B5EF4-FFF2-40B4-BE49-F238E27FC236}">
                <a16:creationId xmlns:a16="http://schemas.microsoft.com/office/drawing/2014/main" id="{43A30EFA-4876-9C16-E468-4B1434AFA688}"/>
              </a:ext>
            </a:extLst>
          </p:cNvPr>
          <p:cNvSpPr txBox="1"/>
          <p:nvPr/>
        </p:nvSpPr>
        <p:spPr>
          <a:xfrm>
            <a:off x="7278401" y="2706486"/>
            <a:ext cx="3101154" cy="369332"/>
          </a:xfrm>
          <a:prstGeom prst="rect">
            <a:avLst/>
          </a:prstGeom>
          <a:noFill/>
        </p:spPr>
        <p:txBody>
          <a:bodyPr wrap="square">
            <a:spAutoFit/>
          </a:bodyPr>
          <a:lstStyle/>
          <a:p>
            <a:r>
              <a:rPr lang="en-US" altLang="zh-CN" dirty="0">
                <a:effectLst/>
              </a:rPr>
              <a:t>Node Topology - GPU / NIC</a:t>
            </a:r>
          </a:p>
        </p:txBody>
      </p:sp>
    </p:spTree>
    <p:extLst>
      <p:ext uri="{BB962C8B-B14F-4D97-AF65-F5344CB8AC3E}">
        <p14:creationId xmlns:p14="http://schemas.microsoft.com/office/powerpoint/2010/main" val="4077038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88ECD-CB9D-4526-079F-F02C30860E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099A39-651A-234A-8FB7-1065FA602AFB}"/>
              </a:ext>
            </a:extLst>
          </p:cNvPr>
          <p:cNvSpPr>
            <a:spLocks noGrp="1"/>
          </p:cNvSpPr>
          <p:nvPr>
            <p:ph type="title"/>
          </p:nvPr>
        </p:nvSpPr>
        <p:spPr/>
        <p:txBody>
          <a:bodyPr/>
          <a:lstStyle/>
          <a:p>
            <a:r>
              <a:rPr lang="en-US" altLang="zh-CN" dirty="0"/>
              <a:t>Dynamic Resource Allocation (DRA) - Solution</a:t>
            </a:r>
            <a:endParaRPr lang="zh-CN" altLang="en-US" dirty="0"/>
          </a:p>
        </p:txBody>
      </p:sp>
      <p:sp>
        <p:nvSpPr>
          <p:cNvPr id="5" name="文本框 4">
            <a:extLst>
              <a:ext uri="{FF2B5EF4-FFF2-40B4-BE49-F238E27FC236}">
                <a16:creationId xmlns:a16="http://schemas.microsoft.com/office/drawing/2014/main" id="{B18872A9-D219-E4A7-97D9-2F49FC9D14FE}"/>
              </a:ext>
            </a:extLst>
          </p:cNvPr>
          <p:cNvSpPr txBox="1"/>
          <p:nvPr/>
        </p:nvSpPr>
        <p:spPr>
          <a:xfrm>
            <a:off x="753823" y="3015290"/>
            <a:ext cx="2249334" cy="120032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dirty="0"/>
              <a:t>resources:</a:t>
            </a:r>
          </a:p>
          <a:p>
            <a:r>
              <a:rPr lang="en-US" altLang="zh-CN" dirty="0"/>
              <a:t>  limits:</a:t>
            </a:r>
          </a:p>
          <a:p>
            <a:r>
              <a:rPr lang="en-US" altLang="zh-CN" dirty="0"/>
              <a:t>    nvidia.com/</a:t>
            </a:r>
            <a:r>
              <a:rPr lang="en-US" altLang="zh-CN" dirty="0" err="1"/>
              <a:t>gpu</a:t>
            </a:r>
            <a:r>
              <a:rPr lang="en-US" altLang="zh-CN" dirty="0"/>
              <a:t>: 1</a:t>
            </a:r>
          </a:p>
          <a:p>
            <a:r>
              <a:rPr lang="en-US" altLang="zh-CN" dirty="0"/>
              <a:t>    </a:t>
            </a:r>
            <a:r>
              <a:rPr lang="en-US" altLang="zh-CN" dirty="0" err="1"/>
              <a:t>rdma</a:t>
            </a:r>
            <a:r>
              <a:rPr lang="en-US" altLang="zh-CN" dirty="0"/>
              <a:t>/</a:t>
            </a:r>
            <a:r>
              <a:rPr lang="en-US" altLang="zh-CN" dirty="0" err="1"/>
              <a:t>rdma_a</a:t>
            </a:r>
            <a:r>
              <a:rPr lang="en-US" altLang="zh-CN" dirty="0"/>
              <a:t>: 1</a:t>
            </a:r>
            <a:endParaRPr lang="zh-CN" altLang="en-US" dirty="0"/>
          </a:p>
        </p:txBody>
      </p:sp>
      <p:sp>
        <p:nvSpPr>
          <p:cNvPr id="7" name="文本框 6">
            <a:extLst>
              <a:ext uri="{FF2B5EF4-FFF2-40B4-BE49-F238E27FC236}">
                <a16:creationId xmlns:a16="http://schemas.microsoft.com/office/drawing/2014/main" id="{CA53DBC0-8A89-90F0-1F6A-824D16E3A47E}"/>
              </a:ext>
            </a:extLst>
          </p:cNvPr>
          <p:cNvSpPr txBox="1"/>
          <p:nvPr/>
        </p:nvSpPr>
        <p:spPr>
          <a:xfrm>
            <a:off x="5772986" y="1487767"/>
            <a:ext cx="6419014" cy="440120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400" dirty="0"/>
              <a:t> apiVersion: resource.k8s.io/v1alpha2</a:t>
            </a:r>
          </a:p>
          <a:p>
            <a:r>
              <a:rPr lang="zh-CN" altLang="en-US" sz="1400" dirty="0"/>
              <a:t> kind: ResourceClaim</a:t>
            </a:r>
          </a:p>
          <a:p>
            <a:r>
              <a:rPr lang="zh-CN" altLang="en-US" sz="1400" dirty="0"/>
              <a:t> metadata:</a:t>
            </a:r>
          </a:p>
          <a:p>
            <a:r>
              <a:rPr lang="zh-CN" altLang="en-US" sz="1400" dirty="0"/>
              <a:t>  name: big-gpu-with-aligned-nic</a:t>
            </a:r>
          </a:p>
          <a:p>
            <a:r>
              <a:rPr lang="zh-CN" altLang="en-US" sz="1400" dirty="0"/>
              <a:t> spec:</a:t>
            </a:r>
          </a:p>
          <a:p>
            <a:r>
              <a:rPr lang="zh-CN" altLang="en-US" sz="1400" dirty="0"/>
              <a:t>  devices:</a:t>
            </a:r>
          </a:p>
          <a:p>
            <a:r>
              <a:rPr lang="zh-CN" altLang="en-US" sz="1400" dirty="0"/>
              <a:t>    requests:</a:t>
            </a:r>
          </a:p>
          <a:p>
            <a:r>
              <a:rPr lang="zh-CN" altLang="en-US" sz="1400" dirty="0"/>
              <a:t>    - name: gpu </a:t>
            </a:r>
          </a:p>
          <a:p>
            <a:r>
              <a:rPr lang="zh-CN" altLang="en-US" sz="1400" dirty="0"/>
              <a:t>      deviceClassName: gpu.nvidia.com</a:t>
            </a:r>
          </a:p>
          <a:p>
            <a:r>
              <a:rPr lang="zh-CN" altLang="en-US" sz="1400" dirty="0"/>
              <a:t>      selectors:</a:t>
            </a:r>
          </a:p>
          <a:p>
            <a:r>
              <a:rPr lang="zh-CN" altLang="en-US" sz="1400" dirty="0"/>
              <a:t>      - cel:</a:t>
            </a:r>
          </a:p>
          <a:p>
            <a:r>
              <a:rPr lang="zh-CN" altLang="en-US" sz="1400" dirty="0"/>
              <a:t>          expression: "device.capacity['memory'].compareTo(quantity('80Gi')) &gt;= 0"</a:t>
            </a:r>
          </a:p>
          <a:p>
            <a:r>
              <a:rPr lang="zh-CN" altLang="en-US" sz="1400" dirty="0"/>
              <a:t>    - name: nic</a:t>
            </a:r>
          </a:p>
          <a:p>
            <a:r>
              <a:rPr lang="zh-CN" altLang="en-US" sz="1400" dirty="0"/>
              <a:t>      deviceClassName: rdma.nvidia.com</a:t>
            </a:r>
          </a:p>
          <a:p>
            <a:r>
              <a:rPr lang="zh-CN" altLang="en-US" sz="1400" dirty="0"/>
              <a:t>      selectors:</a:t>
            </a:r>
          </a:p>
          <a:p>
            <a:r>
              <a:rPr lang="zh-CN" altLang="en-US" sz="1400" dirty="0"/>
              <a:t>      - cel:</a:t>
            </a:r>
          </a:p>
          <a:p>
            <a:r>
              <a:rPr lang="zh-CN" altLang="en-US" sz="1400" dirty="0"/>
              <a:t>          expression: "device.attribute['sriovType'] == 'vf'"</a:t>
            </a:r>
          </a:p>
          <a:p>
            <a:r>
              <a:rPr lang="zh-CN" altLang="en-US" sz="1400" dirty="0"/>
              <a:t>    constraints:</a:t>
            </a:r>
          </a:p>
          <a:p>
            <a:r>
              <a:rPr lang="zh-CN" altLang="en-US" sz="1400" dirty="0"/>
              <a:t>    - requestNames: ["gpu", "nic"]</a:t>
            </a:r>
          </a:p>
          <a:p>
            <a:r>
              <a:rPr lang="zh-CN" altLang="en-US" sz="1400" dirty="0"/>
              <a:t>      matchAttribute: k8s.io/pcieRoot</a:t>
            </a:r>
          </a:p>
        </p:txBody>
      </p:sp>
      <p:sp>
        <p:nvSpPr>
          <p:cNvPr id="9" name="箭头: 右 8">
            <a:extLst>
              <a:ext uri="{FF2B5EF4-FFF2-40B4-BE49-F238E27FC236}">
                <a16:creationId xmlns:a16="http://schemas.microsoft.com/office/drawing/2014/main" id="{026B038D-DEE5-C305-E3BE-5537B232310C}"/>
              </a:ext>
            </a:extLst>
          </p:cNvPr>
          <p:cNvSpPr/>
          <p:nvPr/>
        </p:nvSpPr>
        <p:spPr>
          <a:xfrm>
            <a:off x="3612995" y="3433803"/>
            <a:ext cx="1636999" cy="3633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729A36E-A7E0-33B6-3C26-D806966F1540}"/>
              </a:ext>
            </a:extLst>
          </p:cNvPr>
          <p:cNvSpPr txBox="1"/>
          <p:nvPr/>
        </p:nvSpPr>
        <p:spPr>
          <a:xfrm>
            <a:off x="7828713" y="885600"/>
            <a:ext cx="1983802" cy="584775"/>
          </a:xfrm>
          <a:prstGeom prst="rect">
            <a:avLst/>
          </a:prstGeom>
          <a:noFill/>
        </p:spPr>
        <p:txBody>
          <a:bodyPr wrap="square">
            <a:spAutoFit/>
          </a:bodyPr>
          <a:lstStyle/>
          <a:p>
            <a:r>
              <a:rPr lang="en-US" altLang="zh-CN" sz="3200" dirty="0"/>
              <a:t>DRA</a:t>
            </a:r>
            <a:endParaRPr lang="zh-CN" altLang="en-US" sz="3200" dirty="0"/>
          </a:p>
        </p:txBody>
      </p:sp>
      <p:sp>
        <p:nvSpPr>
          <p:cNvPr id="13" name="文本框 12">
            <a:extLst>
              <a:ext uri="{FF2B5EF4-FFF2-40B4-BE49-F238E27FC236}">
                <a16:creationId xmlns:a16="http://schemas.microsoft.com/office/drawing/2014/main" id="{5029BD39-E979-D703-9AC7-9B9F869BC708}"/>
              </a:ext>
            </a:extLst>
          </p:cNvPr>
          <p:cNvSpPr txBox="1"/>
          <p:nvPr/>
        </p:nvSpPr>
        <p:spPr>
          <a:xfrm>
            <a:off x="660400" y="902992"/>
            <a:ext cx="2906938" cy="584775"/>
          </a:xfrm>
          <a:prstGeom prst="rect">
            <a:avLst/>
          </a:prstGeom>
          <a:noFill/>
        </p:spPr>
        <p:txBody>
          <a:bodyPr wrap="square">
            <a:spAutoFit/>
          </a:bodyPr>
          <a:lstStyle/>
          <a:p>
            <a:r>
              <a:rPr lang="en-US" altLang="zh-CN" sz="3200" dirty="0"/>
              <a:t>Device Plugin</a:t>
            </a:r>
            <a:endParaRPr lang="zh-CN" altLang="en-US" sz="3200" dirty="0"/>
          </a:p>
        </p:txBody>
      </p:sp>
      <p:sp>
        <p:nvSpPr>
          <p:cNvPr id="16" name="文本框 15">
            <a:extLst>
              <a:ext uri="{FF2B5EF4-FFF2-40B4-BE49-F238E27FC236}">
                <a16:creationId xmlns:a16="http://schemas.microsoft.com/office/drawing/2014/main" id="{7250AABC-E3DC-92FE-5C5E-D82AAE8360C3}"/>
              </a:ext>
            </a:extLst>
          </p:cNvPr>
          <p:cNvSpPr txBox="1"/>
          <p:nvPr/>
        </p:nvSpPr>
        <p:spPr>
          <a:xfrm>
            <a:off x="753823" y="6218177"/>
            <a:ext cx="2501006" cy="461665"/>
          </a:xfrm>
          <a:prstGeom prst="rect">
            <a:avLst/>
          </a:prstGeom>
          <a:noFill/>
        </p:spPr>
        <p:txBody>
          <a:bodyPr wrap="none" rtlCol="0">
            <a:spAutoFit/>
          </a:bodyPr>
          <a:lstStyle/>
          <a:p>
            <a:r>
              <a:rPr lang="zh-CN" altLang="en-US" sz="1200" dirty="0"/>
              <a:t>灵活性不足，</a:t>
            </a:r>
            <a:endParaRPr lang="en-US" altLang="zh-CN" sz="1200" dirty="0"/>
          </a:p>
          <a:p>
            <a:r>
              <a:rPr lang="zh-CN" altLang="en-US" sz="1200" dirty="0"/>
              <a:t>如无法配置“</a:t>
            </a:r>
            <a:r>
              <a:rPr lang="en-US" altLang="zh-CN" sz="1200" dirty="0"/>
              <a:t>GPU/NIC</a:t>
            </a:r>
            <a:r>
              <a:rPr lang="zh-CN" altLang="en-US" sz="1200" dirty="0"/>
              <a:t>”拓扑感知</a:t>
            </a:r>
          </a:p>
        </p:txBody>
      </p:sp>
      <p:sp>
        <p:nvSpPr>
          <p:cNvPr id="17" name="文本框 16">
            <a:extLst>
              <a:ext uri="{FF2B5EF4-FFF2-40B4-BE49-F238E27FC236}">
                <a16:creationId xmlns:a16="http://schemas.microsoft.com/office/drawing/2014/main" id="{D7587CCC-6B76-007E-693A-74B53C9B3AB8}"/>
              </a:ext>
            </a:extLst>
          </p:cNvPr>
          <p:cNvSpPr txBox="1"/>
          <p:nvPr/>
        </p:nvSpPr>
        <p:spPr>
          <a:xfrm>
            <a:off x="5772986" y="6214140"/>
            <a:ext cx="2042547" cy="276999"/>
          </a:xfrm>
          <a:prstGeom prst="rect">
            <a:avLst/>
          </a:prstGeom>
          <a:noFill/>
        </p:spPr>
        <p:txBody>
          <a:bodyPr wrap="none" rtlCol="0">
            <a:spAutoFit/>
          </a:bodyPr>
          <a:lstStyle/>
          <a:p>
            <a:r>
              <a:rPr lang="zh-CN" altLang="en-US" sz="1200" dirty="0"/>
              <a:t>灵活的配置，适应复杂情况</a:t>
            </a:r>
          </a:p>
        </p:txBody>
      </p:sp>
    </p:spTree>
    <p:extLst>
      <p:ext uri="{BB962C8B-B14F-4D97-AF65-F5344CB8AC3E}">
        <p14:creationId xmlns:p14="http://schemas.microsoft.com/office/powerpoint/2010/main" val="1593230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9ECF8-4B1D-EA84-C118-CB116B425C4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DFE45F6-51F6-81CF-2C5B-CA098BA1754B}"/>
              </a:ext>
            </a:extLst>
          </p:cNvPr>
          <p:cNvSpPr>
            <a:spLocks noGrp="1"/>
          </p:cNvSpPr>
          <p:nvPr>
            <p:ph type="title"/>
          </p:nvPr>
        </p:nvSpPr>
        <p:spPr/>
        <p:txBody>
          <a:bodyPr/>
          <a:lstStyle/>
          <a:p>
            <a:pPr>
              <a:spcBef>
                <a:spcPts val="1200"/>
              </a:spcBef>
              <a:spcAft>
                <a:spcPts val="1200"/>
              </a:spcAft>
              <a:buNone/>
            </a:pPr>
            <a:r>
              <a:rPr lang="en-US" altLang="zh-CN" dirty="0">
                <a:effectLst/>
              </a:rPr>
              <a:t>Gateway API Inference Extension</a:t>
            </a:r>
            <a:endParaRPr lang="zh-CN" altLang="en-US" dirty="0"/>
          </a:p>
        </p:txBody>
      </p:sp>
      <p:sp>
        <p:nvSpPr>
          <p:cNvPr id="4" name="文本框 3">
            <a:extLst>
              <a:ext uri="{FF2B5EF4-FFF2-40B4-BE49-F238E27FC236}">
                <a16:creationId xmlns:a16="http://schemas.microsoft.com/office/drawing/2014/main" id="{E35DA905-24A0-4619-6BDB-DD3AAA3732DC}"/>
              </a:ext>
            </a:extLst>
          </p:cNvPr>
          <p:cNvSpPr txBox="1"/>
          <p:nvPr/>
        </p:nvSpPr>
        <p:spPr>
          <a:xfrm>
            <a:off x="598820" y="954216"/>
            <a:ext cx="10034983" cy="369332"/>
          </a:xfrm>
          <a:prstGeom prst="rect">
            <a:avLst/>
          </a:prstGeom>
          <a:noFill/>
        </p:spPr>
        <p:txBody>
          <a:bodyPr wrap="square">
            <a:spAutoFit/>
          </a:bodyPr>
          <a:lstStyle/>
          <a:p>
            <a:pPr fontAlgn="base">
              <a:buNone/>
            </a:pPr>
            <a:r>
              <a:rPr lang="en-US" altLang="zh-CN" b="0" dirty="0">
                <a:effectLst/>
                <a:latin typeface="inherit"/>
              </a:rPr>
              <a:t>Formerly known as:</a:t>
            </a:r>
            <a:r>
              <a:rPr lang="en-US" altLang="zh-CN" b="0" i="0" dirty="0">
                <a:solidFill>
                  <a:srgbClr val="1F2328"/>
                </a:solidFill>
                <a:effectLst/>
                <a:latin typeface="-apple-system"/>
              </a:rPr>
              <a:t> </a:t>
            </a:r>
            <a:r>
              <a:rPr lang="en-US" altLang="zh-CN" b="0" i="0" dirty="0" err="1">
                <a:solidFill>
                  <a:srgbClr val="1F2328"/>
                </a:solidFill>
                <a:effectLst/>
                <a:latin typeface="-apple-system"/>
              </a:rPr>
              <a:t>llm</a:t>
            </a:r>
            <a:r>
              <a:rPr lang="en-US" altLang="zh-CN" b="0" i="0" dirty="0">
                <a:solidFill>
                  <a:srgbClr val="1F2328"/>
                </a:solidFill>
                <a:effectLst/>
                <a:latin typeface="-apple-system"/>
              </a:rPr>
              <a:t>-instance-gateway</a:t>
            </a:r>
            <a:endParaRPr lang="zh-CN" altLang="en-US" dirty="0"/>
          </a:p>
        </p:txBody>
      </p:sp>
      <p:pic>
        <p:nvPicPr>
          <p:cNvPr id="6" name="图片 5" descr="图示&#10;&#10;AI 生成的内容可能不正确。">
            <a:extLst>
              <a:ext uri="{FF2B5EF4-FFF2-40B4-BE49-F238E27FC236}">
                <a16:creationId xmlns:a16="http://schemas.microsoft.com/office/drawing/2014/main" id="{E9CDBD58-3079-B882-1359-BED1CBF6DB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0234" y="3090489"/>
            <a:ext cx="5069269" cy="3535860"/>
          </a:xfrm>
          <a:prstGeom prst="rect">
            <a:avLst/>
          </a:prstGeom>
        </p:spPr>
      </p:pic>
      <p:sp>
        <p:nvSpPr>
          <p:cNvPr id="8" name="文本框 7">
            <a:extLst>
              <a:ext uri="{FF2B5EF4-FFF2-40B4-BE49-F238E27FC236}">
                <a16:creationId xmlns:a16="http://schemas.microsoft.com/office/drawing/2014/main" id="{893F8F66-BEE8-6A3A-E152-2EB8A13AE52D}"/>
              </a:ext>
            </a:extLst>
          </p:cNvPr>
          <p:cNvSpPr txBox="1"/>
          <p:nvPr/>
        </p:nvSpPr>
        <p:spPr>
          <a:xfrm>
            <a:off x="598820" y="1418338"/>
            <a:ext cx="6095256" cy="646331"/>
          </a:xfrm>
          <a:prstGeom prst="rect">
            <a:avLst/>
          </a:prstGeom>
          <a:noFill/>
        </p:spPr>
        <p:txBody>
          <a:bodyPr wrap="square">
            <a:spAutoFit/>
          </a:bodyPr>
          <a:lstStyle/>
          <a:p>
            <a:r>
              <a:rPr lang="en-US" altLang="zh-CN" b="0" i="0" dirty="0">
                <a:solidFill>
                  <a:srgbClr val="1F2328"/>
                </a:solidFill>
                <a:effectLst/>
                <a:latin typeface="-apple-system"/>
              </a:rPr>
              <a:t>This </a:t>
            </a:r>
            <a:r>
              <a:rPr lang="en-US" altLang="zh-CN" b="1" i="0" dirty="0">
                <a:solidFill>
                  <a:schemeClr val="accent1"/>
                </a:solidFill>
                <a:effectLst/>
                <a:latin typeface="-apple-system"/>
              </a:rPr>
              <a:t>Envoy</a:t>
            </a:r>
            <a:r>
              <a:rPr lang="en-US" altLang="zh-CN" i="0" dirty="0">
                <a:solidFill>
                  <a:srgbClr val="1F2328"/>
                </a:solidFill>
                <a:effectLst/>
                <a:latin typeface="-apple-system"/>
              </a:rPr>
              <a:t> extension </a:t>
            </a:r>
            <a:r>
              <a:rPr lang="en-US" altLang="zh-CN" b="0" i="0" dirty="0">
                <a:solidFill>
                  <a:srgbClr val="1F2328"/>
                </a:solidFill>
                <a:effectLst/>
                <a:latin typeface="-apple-system"/>
              </a:rPr>
              <a:t>upgrades an </a:t>
            </a:r>
            <a:r>
              <a:rPr lang="en-US" altLang="zh-CN" b="0" i="0" u="sng" dirty="0" err="1">
                <a:solidFill>
                  <a:srgbClr val="0969DA"/>
                </a:solidFill>
                <a:effectLst/>
                <a:latin typeface="-apple-system"/>
                <a:hlinkClick r:id="rId3"/>
              </a:rPr>
              <a:t>ext</a:t>
            </a:r>
            <a:r>
              <a:rPr lang="en-US" altLang="zh-CN" b="0" i="0" u="sng" dirty="0">
                <a:solidFill>
                  <a:srgbClr val="0969DA"/>
                </a:solidFill>
                <a:effectLst/>
                <a:latin typeface="-apple-system"/>
                <a:hlinkClick r:id="rId3"/>
              </a:rPr>
              <a:t>-proc</a:t>
            </a:r>
            <a:r>
              <a:rPr lang="en-US" altLang="zh-CN" b="0" i="0" dirty="0">
                <a:solidFill>
                  <a:srgbClr val="1F2328"/>
                </a:solidFill>
                <a:effectLst/>
                <a:latin typeface="-apple-system"/>
              </a:rPr>
              <a:t>-capable proxy or gateway</a:t>
            </a:r>
            <a:endParaRPr lang="zh-CN" altLang="en-US" dirty="0"/>
          </a:p>
        </p:txBody>
      </p:sp>
      <p:sp>
        <p:nvSpPr>
          <p:cNvPr id="10" name="文本框 9">
            <a:extLst>
              <a:ext uri="{FF2B5EF4-FFF2-40B4-BE49-F238E27FC236}">
                <a16:creationId xmlns:a16="http://schemas.microsoft.com/office/drawing/2014/main" id="{5F759CDF-07A8-FF8A-DD58-4EC81FC6ADB7}"/>
              </a:ext>
            </a:extLst>
          </p:cNvPr>
          <p:cNvSpPr txBox="1"/>
          <p:nvPr/>
        </p:nvSpPr>
        <p:spPr>
          <a:xfrm>
            <a:off x="545295" y="2885117"/>
            <a:ext cx="6095256" cy="2554545"/>
          </a:xfrm>
          <a:prstGeom prst="rect">
            <a:avLst/>
          </a:prstGeom>
          <a:noFill/>
        </p:spPr>
        <p:txBody>
          <a:bodyPr wrap="square">
            <a:spAutoFit/>
          </a:bodyPr>
          <a:lstStyle/>
          <a:p>
            <a:pPr marL="285750" indent="-285750">
              <a:buFont typeface="Arial" panose="020B0604020202020204" pitchFamily="34" charset="0"/>
              <a:buChar char="•"/>
            </a:pPr>
            <a:r>
              <a:rPr lang="en-US" altLang="zh-CN" sz="2000" b="0" i="0" dirty="0">
                <a:solidFill>
                  <a:srgbClr val="1F2328"/>
                </a:solidFill>
                <a:effectLst/>
                <a:latin typeface="-apple-system"/>
              </a:rPr>
              <a:t>Improves the tail latency and throughput of LLM completion requests</a:t>
            </a:r>
          </a:p>
          <a:p>
            <a:pPr marL="742950" lvl="1" indent="-285750">
              <a:buFont typeface="Arial" panose="020B0604020202020204" pitchFamily="34" charset="0"/>
              <a:buChar char="•"/>
            </a:pPr>
            <a:r>
              <a:rPr lang="en-US" altLang="zh-CN" sz="2000" b="0" i="0" dirty="0" err="1">
                <a:solidFill>
                  <a:srgbClr val="1F2328"/>
                </a:solidFill>
                <a:effectLst/>
                <a:latin typeface="-apple-system"/>
              </a:rPr>
              <a:t>kv</a:t>
            </a:r>
            <a:r>
              <a:rPr lang="en-US" altLang="zh-CN" sz="2000" b="0" i="0" dirty="0">
                <a:solidFill>
                  <a:srgbClr val="1F2328"/>
                </a:solidFill>
                <a:effectLst/>
                <a:latin typeface="-apple-system"/>
              </a:rPr>
              <a:t>-cache and request cost aware</a:t>
            </a:r>
            <a:endParaRPr lang="en-US" altLang="zh-CN" sz="2000" dirty="0">
              <a:solidFill>
                <a:srgbClr val="1F2328"/>
              </a:solidFill>
              <a:latin typeface="-apple-system"/>
            </a:endParaRPr>
          </a:p>
          <a:p>
            <a:pPr marL="742950" lvl="1" indent="-285750">
              <a:buFont typeface="Arial" panose="020B0604020202020204" pitchFamily="34" charset="0"/>
              <a:buChar char="•"/>
            </a:pPr>
            <a:r>
              <a:rPr lang="en-US" altLang="zh-CN" sz="2000" b="0" i="0" dirty="0">
                <a:solidFill>
                  <a:srgbClr val="1F2328"/>
                </a:solidFill>
                <a:effectLst/>
                <a:latin typeface="-apple-system"/>
              </a:rPr>
              <a:t>avoiding evictions or queueing as load increases</a:t>
            </a:r>
          </a:p>
          <a:p>
            <a:pPr marL="285750" indent="-285750">
              <a:buFont typeface="Arial" panose="020B0604020202020204" pitchFamily="34" charset="0"/>
              <a:buChar char="•"/>
            </a:pPr>
            <a:r>
              <a:rPr lang="en-US" altLang="zh-CN" sz="2000" b="0" i="0" dirty="0">
                <a:solidFill>
                  <a:srgbClr val="1F2328"/>
                </a:solidFill>
                <a:effectLst/>
                <a:latin typeface="-apple-system"/>
              </a:rPr>
              <a:t>Provides </a:t>
            </a:r>
            <a:r>
              <a:rPr lang="en-US" altLang="zh-CN" sz="2000" b="0" i="0" u="sng" dirty="0">
                <a:solidFill>
                  <a:srgbClr val="0969DA"/>
                </a:solidFill>
                <a:effectLst/>
                <a:latin typeface="-apple-system"/>
                <a:hlinkClick r:id="rId4"/>
              </a:rPr>
              <a:t>Kubernetes-native declarative APIs</a:t>
            </a:r>
            <a:r>
              <a:rPr lang="en-US" altLang="zh-CN" sz="2000" b="0" i="0" dirty="0">
                <a:solidFill>
                  <a:srgbClr val="1F2328"/>
                </a:solidFill>
                <a:effectLst/>
                <a:latin typeface="-apple-system"/>
              </a:rPr>
              <a:t> </a:t>
            </a:r>
          </a:p>
          <a:p>
            <a:pPr marL="285750" indent="-285750">
              <a:buFont typeface="Arial" panose="020B0604020202020204" pitchFamily="34" charset="0"/>
              <a:buChar char="•"/>
            </a:pPr>
            <a:r>
              <a:rPr lang="en-US" altLang="zh-CN" sz="2000" b="0" i="0" dirty="0">
                <a:solidFill>
                  <a:srgbClr val="1F2328"/>
                </a:solidFill>
                <a:effectLst/>
                <a:latin typeface="-apple-system"/>
              </a:rPr>
              <a:t>end to end observability</a:t>
            </a:r>
          </a:p>
          <a:p>
            <a:pPr marL="285750" indent="-285750">
              <a:buFont typeface="Arial" panose="020B0604020202020204" pitchFamily="34" charset="0"/>
              <a:buChar char="•"/>
            </a:pPr>
            <a:r>
              <a:rPr lang="en-US" altLang="zh-CN" sz="2000" b="0" i="0" dirty="0">
                <a:solidFill>
                  <a:srgbClr val="1F2328"/>
                </a:solidFill>
                <a:effectLst/>
                <a:latin typeface="-apple-system"/>
              </a:rPr>
              <a:t>Ensures operational guardrails between different client model names</a:t>
            </a:r>
            <a:endParaRPr lang="zh-CN" altLang="en-US" sz="2000" dirty="0"/>
          </a:p>
        </p:txBody>
      </p:sp>
      <p:pic>
        <p:nvPicPr>
          <p:cNvPr id="7172" name="Picture 4" descr="Kyle Corbitt on X: &quot;SGLang is basically vLLM but better. I just tested v0.4  on a real-world task with a Llama 3.2 3B model. Reached a max throughput of  61K tokens per">
            <a:extLst>
              <a:ext uri="{FF2B5EF4-FFF2-40B4-BE49-F238E27FC236}">
                <a16:creationId xmlns:a16="http://schemas.microsoft.com/office/drawing/2014/main" id="{E8B6289B-984A-15C6-B4F7-6A8C803A50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07426" y="268451"/>
            <a:ext cx="4250845" cy="2299774"/>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7D6B1E65-2476-90A9-26B9-C699F17DA67E}"/>
              </a:ext>
            </a:extLst>
          </p:cNvPr>
          <p:cNvSpPr txBox="1"/>
          <p:nvPr/>
        </p:nvSpPr>
        <p:spPr>
          <a:xfrm>
            <a:off x="6840234" y="2652010"/>
            <a:ext cx="5460149" cy="369332"/>
          </a:xfrm>
          <a:prstGeom prst="rect">
            <a:avLst/>
          </a:prstGeom>
          <a:noFill/>
        </p:spPr>
        <p:txBody>
          <a:bodyPr wrap="none" rtlCol="0">
            <a:spAutoFit/>
          </a:bodyPr>
          <a:lstStyle/>
          <a:p>
            <a:r>
              <a:rPr lang="en-US" altLang="zh-CN" dirty="0"/>
              <a:t>“Round Robin” is not good for LLM inference, So: </a:t>
            </a:r>
            <a:endParaRPr lang="zh-CN" altLang="en-US" dirty="0"/>
          </a:p>
        </p:txBody>
      </p:sp>
    </p:spTree>
    <p:extLst>
      <p:ext uri="{BB962C8B-B14F-4D97-AF65-F5344CB8AC3E}">
        <p14:creationId xmlns:p14="http://schemas.microsoft.com/office/powerpoint/2010/main" val="2478837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F5518-0DD7-6A9E-BFF5-FB3A26066C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0DBE659-D3A6-FC8B-9588-06B84E03D00F}"/>
              </a:ext>
            </a:extLst>
          </p:cNvPr>
          <p:cNvSpPr>
            <a:spLocks noGrp="1"/>
          </p:cNvSpPr>
          <p:nvPr>
            <p:ph type="title"/>
          </p:nvPr>
        </p:nvSpPr>
        <p:spPr/>
        <p:txBody>
          <a:bodyPr/>
          <a:lstStyle/>
          <a:p>
            <a:r>
              <a:rPr lang="en-US" altLang="zh-CN" dirty="0"/>
              <a:t>Others Works</a:t>
            </a:r>
            <a:endParaRPr lang="zh-CN" altLang="en-US" dirty="0"/>
          </a:p>
        </p:txBody>
      </p:sp>
      <p:sp>
        <p:nvSpPr>
          <p:cNvPr id="3" name="标题 1">
            <a:extLst>
              <a:ext uri="{FF2B5EF4-FFF2-40B4-BE49-F238E27FC236}">
                <a16:creationId xmlns:a16="http://schemas.microsoft.com/office/drawing/2014/main" id="{E73C8C5C-761F-7BBC-7BDA-8A97B80FAE8A}"/>
              </a:ext>
            </a:extLst>
          </p:cNvPr>
          <p:cNvSpPr txBox="1">
            <a:spLocks/>
          </p:cNvSpPr>
          <p:nvPr/>
        </p:nvSpPr>
        <p:spPr>
          <a:xfrm>
            <a:off x="554091" y="1048214"/>
            <a:ext cx="5092887" cy="42686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a:lstStyle>
          <a:p>
            <a:pPr marL="457200" indent="-457200">
              <a:lnSpc>
                <a:spcPct val="150000"/>
              </a:lnSpc>
              <a:buFont typeface="Arial" panose="020B0604020202020204" pitchFamily="34" charset="0"/>
              <a:buChar char="•"/>
            </a:pPr>
            <a:r>
              <a:rPr lang="en-US" altLang="zh-CN" dirty="0"/>
              <a:t>OCI Volume Source</a:t>
            </a:r>
          </a:p>
          <a:p>
            <a:pPr marL="457200" indent="-457200">
              <a:lnSpc>
                <a:spcPct val="150000"/>
              </a:lnSpc>
              <a:buFont typeface="Arial" panose="020B0604020202020204" pitchFamily="34" charset="0"/>
              <a:buChar char="•"/>
            </a:pPr>
            <a:r>
              <a:rPr lang="en-US" altLang="zh-CN" dirty="0" err="1"/>
              <a:t>AutoScale</a:t>
            </a:r>
            <a:endParaRPr lang="en-US" altLang="zh-CN" dirty="0"/>
          </a:p>
          <a:p>
            <a:pPr marL="457200" indent="-457200">
              <a:lnSpc>
                <a:spcPct val="150000"/>
              </a:lnSpc>
              <a:buFont typeface="Arial" panose="020B0604020202020204" pitchFamily="34" charset="0"/>
              <a:buChar char="•"/>
            </a:pPr>
            <a:r>
              <a:rPr lang="en-US" altLang="en-US" dirty="0" err="1"/>
              <a:t>InferencePerf</a:t>
            </a:r>
            <a:endParaRPr lang="en-US" altLang="en-US" dirty="0"/>
          </a:p>
          <a:p>
            <a:pPr marL="457200" indent="-457200">
              <a:lnSpc>
                <a:spcPct val="150000"/>
              </a:lnSpc>
              <a:buFont typeface="Arial" panose="020B0604020202020204" pitchFamily="34" charset="0"/>
              <a:buChar char="•"/>
            </a:pPr>
            <a:r>
              <a:rPr lang="en-US" altLang="en-US" dirty="0"/>
              <a:t>Service </a:t>
            </a:r>
            <a:r>
              <a:rPr lang="en-US" altLang="en-US" dirty="0" err="1"/>
              <a:t>Catelog</a:t>
            </a:r>
            <a:endParaRPr lang="en-US" altLang="en-US" dirty="0"/>
          </a:p>
        </p:txBody>
      </p:sp>
      <p:sp>
        <p:nvSpPr>
          <p:cNvPr id="9" name="文本框 8">
            <a:extLst>
              <a:ext uri="{FF2B5EF4-FFF2-40B4-BE49-F238E27FC236}">
                <a16:creationId xmlns:a16="http://schemas.microsoft.com/office/drawing/2014/main" id="{A8A4DBE8-2F9F-3177-3EE0-3DEF97173473}"/>
              </a:ext>
            </a:extLst>
          </p:cNvPr>
          <p:cNvSpPr txBox="1"/>
          <p:nvPr/>
        </p:nvSpPr>
        <p:spPr>
          <a:xfrm>
            <a:off x="6169970" y="886054"/>
            <a:ext cx="4503977" cy="24622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400" dirty="0"/>
              <a:t>kind: Pod</a:t>
            </a:r>
          </a:p>
          <a:p>
            <a:r>
              <a:rPr lang="zh-CN" altLang="en-US" sz="1400" dirty="0"/>
              <a:t>spec:</a:t>
            </a:r>
          </a:p>
          <a:p>
            <a:r>
              <a:rPr lang="zh-CN" altLang="en-US" sz="1400" dirty="0"/>
              <a:t>  containers:</a:t>
            </a:r>
          </a:p>
          <a:p>
            <a:r>
              <a:rPr lang="zh-CN" altLang="en-US" sz="1400" dirty="0"/>
              <a:t>    - …</a:t>
            </a:r>
          </a:p>
          <a:p>
            <a:r>
              <a:rPr lang="zh-CN" altLang="en-US" sz="1400" dirty="0"/>
              <a:t>      volumeMounts:</a:t>
            </a:r>
          </a:p>
          <a:p>
            <a:r>
              <a:rPr lang="zh-CN" altLang="en-US" sz="1400" dirty="0"/>
              <a:t>        - name: </a:t>
            </a:r>
            <a:r>
              <a:rPr lang="en-US" altLang="zh-CN" sz="1400" dirty="0" err="1"/>
              <a:t>deepseek</a:t>
            </a:r>
            <a:r>
              <a:rPr lang="en-US" altLang="zh-CN" sz="1400" dirty="0"/>
              <a:t> </a:t>
            </a:r>
            <a:r>
              <a:rPr lang="zh-CN" altLang="en-US" sz="1400" dirty="0"/>
              <a:t>-volume</a:t>
            </a:r>
          </a:p>
          <a:p>
            <a:r>
              <a:rPr lang="zh-CN" altLang="en-US" sz="1400" dirty="0"/>
              <a:t>          mountPath: /path/to/directory</a:t>
            </a:r>
          </a:p>
          <a:p>
            <a:r>
              <a:rPr lang="zh-CN" altLang="en-US" sz="1400" dirty="0"/>
              <a:t>  volumes:</a:t>
            </a:r>
          </a:p>
          <a:p>
            <a:r>
              <a:rPr lang="zh-CN" altLang="en-US" sz="1400" dirty="0"/>
              <a:t>    - name: </a:t>
            </a:r>
            <a:r>
              <a:rPr lang="en-US" altLang="zh-CN" sz="1400" dirty="0" err="1"/>
              <a:t>deepseek</a:t>
            </a:r>
            <a:r>
              <a:rPr lang="en-US" altLang="zh-CN" sz="1400" dirty="0"/>
              <a:t> </a:t>
            </a:r>
            <a:r>
              <a:rPr lang="zh-CN" altLang="en-US" sz="1400" dirty="0"/>
              <a:t>-volume</a:t>
            </a:r>
          </a:p>
          <a:p>
            <a:r>
              <a:rPr lang="zh-CN" altLang="en-US" sz="1400" dirty="0"/>
              <a:t>      image:</a:t>
            </a:r>
          </a:p>
          <a:p>
            <a:r>
              <a:rPr lang="zh-CN" altLang="en-US" sz="1400" dirty="0"/>
              <a:t>        reference:</a:t>
            </a:r>
            <a:r>
              <a:rPr lang="en-US" altLang="zh-CN" sz="1400" dirty="0"/>
              <a:t> </a:t>
            </a:r>
            <a:r>
              <a:rPr lang="en-US" altLang="zh-CN" sz="1400" dirty="0" err="1"/>
              <a:t>deepseek</a:t>
            </a:r>
            <a:r>
              <a:rPr lang="zh-CN" altLang="en-US" sz="1400" dirty="0"/>
              <a:t>:</a:t>
            </a:r>
            <a:r>
              <a:rPr lang="en-US" altLang="zh-CN" sz="1400" dirty="0"/>
              <a:t>r1</a:t>
            </a:r>
            <a:r>
              <a:rPr lang="zh-CN" altLang="en-US" sz="1400" dirty="0"/>
              <a:t> </a:t>
            </a:r>
          </a:p>
        </p:txBody>
      </p:sp>
      <p:sp>
        <p:nvSpPr>
          <p:cNvPr id="11" name="文本框 10">
            <a:extLst>
              <a:ext uri="{FF2B5EF4-FFF2-40B4-BE49-F238E27FC236}">
                <a16:creationId xmlns:a16="http://schemas.microsoft.com/office/drawing/2014/main" id="{63F1DA50-F3C2-7728-4134-46531C3C9C72}"/>
              </a:ext>
            </a:extLst>
          </p:cNvPr>
          <p:cNvSpPr txBox="1"/>
          <p:nvPr/>
        </p:nvSpPr>
        <p:spPr>
          <a:xfrm>
            <a:off x="6096744" y="3429000"/>
            <a:ext cx="6095256" cy="369332"/>
          </a:xfrm>
          <a:prstGeom prst="rect">
            <a:avLst/>
          </a:prstGeom>
          <a:noFill/>
        </p:spPr>
        <p:txBody>
          <a:bodyPr wrap="square">
            <a:spAutoFit/>
          </a:bodyPr>
          <a:lstStyle/>
          <a:p>
            <a:r>
              <a:rPr lang="en-US" altLang="zh-CN" dirty="0"/>
              <a:t>OCI </a:t>
            </a:r>
            <a:r>
              <a:rPr lang="en-US" altLang="zh-CN" dirty="0" err="1"/>
              <a:t>VolumeSource</a:t>
            </a:r>
            <a:endParaRPr lang="en-US" altLang="zh-CN" dirty="0"/>
          </a:p>
        </p:txBody>
      </p:sp>
    </p:spTree>
    <p:extLst>
      <p:ext uri="{BB962C8B-B14F-4D97-AF65-F5344CB8AC3E}">
        <p14:creationId xmlns:p14="http://schemas.microsoft.com/office/powerpoint/2010/main" val="3322111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FCC3-5095-817E-7E6F-DB116F9244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01C9B-ED76-B81E-5C28-D3A635350647}"/>
              </a:ext>
            </a:extLst>
          </p:cNvPr>
          <p:cNvSpPr>
            <a:spLocks noGrp="1"/>
          </p:cNvSpPr>
          <p:nvPr>
            <p:ph type="title"/>
          </p:nvPr>
        </p:nvSpPr>
        <p:spPr>
          <a:xfrm>
            <a:off x="5063682" y="3039477"/>
            <a:ext cx="6935030" cy="644573"/>
          </a:xfrm>
        </p:spPr>
        <p:txBody>
          <a:bodyPr/>
          <a:lstStyle/>
          <a:p>
            <a:pPr algn="l"/>
            <a:r>
              <a:rPr lang="en-US" altLang="zh-CN" dirty="0" err="1"/>
              <a:t>LeaderWorkerSet</a:t>
            </a:r>
            <a:r>
              <a:rPr lang="en-US" altLang="zh-CN" dirty="0"/>
              <a:t> (LWS) </a:t>
            </a:r>
            <a:r>
              <a:rPr lang="zh-CN" altLang="en-US" dirty="0"/>
              <a:t>深度解析</a:t>
            </a:r>
            <a:endParaRPr lang="en-US" altLang="zh-CN" dirty="0"/>
          </a:p>
        </p:txBody>
      </p:sp>
      <p:sp>
        <p:nvSpPr>
          <p:cNvPr id="4" name="Text Placeholder 3">
            <a:extLst>
              <a:ext uri="{FF2B5EF4-FFF2-40B4-BE49-F238E27FC236}">
                <a16:creationId xmlns:a16="http://schemas.microsoft.com/office/drawing/2014/main" id="{50312320-3BF7-D09A-7D73-7CD2420B4C2D}"/>
              </a:ext>
            </a:extLst>
          </p:cNvPr>
          <p:cNvSpPr>
            <a:spLocks noGrp="1"/>
          </p:cNvSpPr>
          <p:nvPr>
            <p:ph type="body" idx="10"/>
          </p:nvPr>
        </p:nvSpPr>
        <p:spPr/>
        <p:txBody>
          <a:bodyPr/>
          <a:lstStyle/>
          <a:p>
            <a:r>
              <a:rPr lang="en-CN"/>
              <a:t>Part</a:t>
            </a:r>
          </a:p>
        </p:txBody>
      </p:sp>
      <p:sp>
        <p:nvSpPr>
          <p:cNvPr id="5" name="Text Placeholder 4">
            <a:extLst>
              <a:ext uri="{FF2B5EF4-FFF2-40B4-BE49-F238E27FC236}">
                <a16:creationId xmlns:a16="http://schemas.microsoft.com/office/drawing/2014/main" id="{E440417A-9E37-6721-EC5D-377A3B08DB18}"/>
              </a:ext>
            </a:extLst>
          </p:cNvPr>
          <p:cNvSpPr>
            <a:spLocks noGrp="1"/>
          </p:cNvSpPr>
          <p:nvPr>
            <p:ph type="body" idx="11"/>
          </p:nvPr>
        </p:nvSpPr>
        <p:spPr/>
        <p:txBody>
          <a:bodyPr/>
          <a:lstStyle/>
          <a:p>
            <a:r>
              <a:rPr lang="en-US" altLang="zh-CN" dirty="0"/>
              <a:t>03</a:t>
            </a:r>
            <a:endParaRPr lang="en-CN" dirty="0"/>
          </a:p>
        </p:txBody>
      </p:sp>
    </p:spTree>
    <p:extLst>
      <p:ext uri="{BB962C8B-B14F-4D97-AF65-F5344CB8AC3E}">
        <p14:creationId xmlns:p14="http://schemas.microsoft.com/office/powerpoint/2010/main" val="558810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B7734-3739-F14C-7453-F0DAF58164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D5F081C-1A76-6B71-4FE2-A672603BBE92}"/>
              </a:ext>
            </a:extLst>
          </p:cNvPr>
          <p:cNvSpPr>
            <a:spLocks noGrp="1"/>
          </p:cNvSpPr>
          <p:nvPr>
            <p:ph type="title"/>
          </p:nvPr>
        </p:nvSpPr>
        <p:spPr/>
        <p:txBody>
          <a:bodyPr/>
          <a:lstStyle/>
          <a:p>
            <a:r>
              <a:rPr lang="en-US" altLang="zh-CN" dirty="0"/>
              <a:t>LWS - </a:t>
            </a:r>
            <a:r>
              <a:rPr lang="zh-CN" altLang="en-US" dirty="0"/>
              <a:t>分布式 </a:t>
            </a:r>
            <a:r>
              <a:rPr lang="en-US" altLang="zh-CN" dirty="0" err="1"/>
              <a:t>DeepSeek</a:t>
            </a:r>
            <a:r>
              <a:rPr lang="en-US" altLang="zh-CN" dirty="0"/>
              <a:t> </a:t>
            </a:r>
            <a:r>
              <a:rPr lang="zh-CN" altLang="en-US" dirty="0"/>
              <a:t>推理 最广泛 的 实践</a:t>
            </a:r>
            <a:endParaRPr lang="en-US" altLang="zh-CN" dirty="0"/>
          </a:p>
        </p:txBody>
      </p:sp>
      <p:sp>
        <p:nvSpPr>
          <p:cNvPr id="3" name="文本框 2">
            <a:extLst>
              <a:ext uri="{FF2B5EF4-FFF2-40B4-BE49-F238E27FC236}">
                <a16:creationId xmlns:a16="http://schemas.microsoft.com/office/drawing/2014/main" id="{DA1BFE7E-596E-EB2C-A258-7D0ED84B8023}"/>
              </a:ext>
            </a:extLst>
          </p:cNvPr>
          <p:cNvSpPr txBox="1"/>
          <p:nvPr/>
        </p:nvSpPr>
        <p:spPr>
          <a:xfrm>
            <a:off x="878716" y="1106200"/>
            <a:ext cx="4848550" cy="5442516"/>
          </a:xfrm>
          <a:prstGeom prst="rect">
            <a:avLst/>
          </a:prstGeom>
          <a:noFill/>
        </p:spPr>
        <p:txBody>
          <a:bodyPr wrap="square" rtlCol="0">
            <a:spAutoFit/>
          </a:bodyPr>
          <a:lstStyle/>
          <a:p>
            <a:pPr>
              <a:lnSpc>
                <a:spcPct val="150000"/>
              </a:lnSpc>
            </a:pPr>
            <a:r>
              <a:rPr lang="en-US" altLang="zh-CN" dirty="0"/>
              <a:t>Influence Engine</a:t>
            </a:r>
          </a:p>
          <a:p>
            <a:pPr marL="285750" indent="-285750">
              <a:lnSpc>
                <a:spcPct val="150000"/>
              </a:lnSpc>
              <a:buFont typeface="Arial" panose="020B0604020202020204" pitchFamily="34" charset="0"/>
              <a:buChar char="•"/>
            </a:pPr>
            <a:r>
              <a:rPr lang="en-US" altLang="zh-CN" dirty="0" err="1"/>
              <a:t>vLLM</a:t>
            </a:r>
            <a:endParaRPr lang="en-US" altLang="zh-CN" dirty="0"/>
          </a:p>
          <a:p>
            <a:pPr marL="285750" indent="-285750">
              <a:lnSpc>
                <a:spcPct val="150000"/>
              </a:lnSpc>
              <a:buFont typeface="Arial" panose="020B0604020202020204" pitchFamily="34" charset="0"/>
              <a:buChar char="•"/>
            </a:pPr>
            <a:r>
              <a:rPr lang="en-US" altLang="zh-CN" dirty="0" err="1"/>
              <a:t>Sglang</a:t>
            </a:r>
            <a:endParaRPr lang="en-US" altLang="zh-CN" dirty="0"/>
          </a:p>
          <a:p>
            <a:pPr>
              <a:lnSpc>
                <a:spcPct val="150000"/>
              </a:lnSpc>
            </a:pPr>
            <a:r>
              <a:rPr lang="en-US" altLang="zh-CN" dirty="0"/>
              <a:t>Cloud</a:t>
            </a:r>
          </a:p>
          <a:p>
            <a:pPr marL="285750" indent="-285750">
              <a:lnSpc>
                <a:spcPct val="150000"/>
              </a:lnSpc>
              <a:buFont typeface="Arial" panose="020B0604020202020204" pitchFamily="34" charset="0"/>
              <a:buChar char="•"/>
            </a:pPr>
            <a:r>
              <a:rPr lang="en-US" altLang="zh-CN" dirty="0"/>
              <a:t>GKE</a:t>
            </a:r>
          </a:p>
          <a:p>
            <a:pPr marL="285750" indent="-285750">
              <a:lnSpc>
                <a:spcPct val="150000"/>
              </a:lnSpc>
              <a:buFont typeface="Arial" panose="020B0604020202020204" pitchFamily="34" charset="0"/>
              <a:buChar char="•"/>
            </a:pPr>
            <a:r>
              <a:rPr lang="en-US" altLang="zh-CN" dirty="0"/>
              <a:t>AWS</a:t>
            </a:r>
          </a:p>
          <a:p>
            <a:pPr marL="285750" indent="-285750">
              <a:lnSpc>
                <a:spcPct val="150000"/>
              </a:lnSpc>
              <a:buFont typeface="Arial" panose="020B0604020202020204" pitchFamily="34" charset="0"/>
              <a:buChar char="•"/>
            </a:pPr>
            <a:r>
              <a:rPr lang="zh-CN" altLang="en-US" dirty="0"/>
              <a:t>阿里云</a:t>
            </a:r>
            <a:endParaRPr lang="en-US" altLang="zh-CN" dirty="0"/>
          </a:p>
          <a:p>
            <a:pPr marL="285750" indent="-285750">
              <a:lnSpc>
                <a:spcPct val="150000"/>
              </a:lnSpc>
              <a:buFont typeface="Arial" panose="020B0604020202020204" pitchFamily="34" charset="0"/>
              <a:buChar char="•"/>
            </a:pPr>
            <a:r>
              <a:rPr lang="zh-CN" altLang="en-US" dirty="0"/>
              <a:t>腾讯云</a:t>
            </a:r>
            <a:endParaRPr lang="en-US" altLang="zh-CN" dirty="0"/>
          </a:p>
          <a:p>
            <a:pPr marL="285750" indent="-285750">
              <a:lnSpc>
                <a:spcPct val="150000"/>
              </a:lnSpc>
              <a:buFont typeface="Arial" panose="020B0604020202020204" pitchFamily="34" charset="0"/>
              <a:buChar char="•"/>
            </a:pPr>
            <a:r>
              <a:rPr lang="zh-CN" altLang="en-US" dirty="0"/>
              <a:t>火山云</a:t>
            </a:r>
            <a:endParaRPr lang="en-US" altLang="zh-CN" dirty="0"/>
          </a:p>
          <a:p>
            <a:pPr marL="285750" indent="-285750">
              <a:lnSpc>
                <a:spcPct val="150000"/>
              </a:lnSpc>
              <a:buFont typeface="Arial" panose="020B0604020202020204" pitchFamily="34" charset="0"/>
              <a:buChar char="•"/>
            </a:pPr>
            <a:r>
              <a:rPr lang="en-US" altLang="zh-CN" dirty="0"/>
              <a:t>…</a:t>
            </a:r>
          </a:p>
          <a:p>
            <a:pPr>
              <a:lnSpc>
                <a:spcPct val="150000"/>
              </a:lnSpc>
            </a:pPr>
            <a:r>
              <a:rPr lang="en-US" altLang="zh-CN" dirty="0"/>
              <a:t>Hardware</a:t>
            </a:r>
          </a:p>
          <a:p>
            <a:pPr marL="285750" indent="-285750">
              <a:lnSpc>
                <a:spcPct val="150000"/>
              </a:lnSpc>
              <a:buFont typeface="Arial" panose="020B0604020202020204" pitchFamily="34" charset="0"/>
              <a:buChar char="•"/>
            </a:pPr>
            <a:r>
              <a:rPr lang="en-US" altLang="zh-CN" dirty="0"/>
              <a:t>Nvidia</a:t>
            </a:r>
          </a:p>
          <a:p>
            <a:pPr marL="285750" indent="-285750">
              <a:lnSpc>
                <a:spcPct val="150000"/>
              </a:lnSpc>
              <a:buFont typeface="Arial" panose="020B0604020202020204" pitchFamily="34" charset="0"/>
              <a:buChar char="•"/>
            </a:pPr>
            <a:endParaRPr lang="zh-CN" altLang="en-US" dirty="0"/>
          </a:p>
        </p:txBody>
      </p:sp>
      <p:pic>
        <p:nvPicPr>
          <p:cNvPr id="10" name="图片 9">
            <a:extLst>
              <a:ext uri="{FF2B5EF4-FFF2-40B4-BE49-F238E27FC236}">
                <a16:creationId xmlns:a16="http://schemas.microsoft.com/office/drawing/2014/main" id="{38064551-0096-797F-B296-3915C93C1DC4}"/>
              </a:ext>
            </a:extLst>
          </p:cNvPr>
          <p:cNvPicPr>
            <a:picLocks noChangeAspect="1"/>
          </p:cNvPicPr>
          <p:nvPr/>
        </p:nvPicPr>
        <p:blipFill>
          <a:blip r:embed="rId2"/>
          <a:stretch>
            <a:fillRect/>
          </a:stretch>
        </p:blipFill>
        <p:spPr>
          <a:xfrm>
            <a:off x="4166096" y="956768"/>
            <a:ext cx="3651607" cy="1958154"/>
          </a:xfrm>
          <a:prstGeom prst="rect">
            <a:avLst/>
          </a:prstGeom>
        </p:spPr>
      </p:pic>
      <p:pic>
        <p:nvPicPr>
          <p:cNvPr id="12" name="图片 11">
            <a:extLst>
              <a:ext uri="{FF2B5EF4-FFF2-40B4-BE49-F238E27FC236}">
                <a16:creationId xmlns:a16="http://schemas.microsoft.com/office/drawing/2014/main" id="{7C1A645C-D235-D41C-505A-D019892D49CE}"/>
              </a:ext>
            </a:extLst>
          </p:cNvPr>
          <p:cNvPicPr>
            <a:picLocks noChangeAspect="1"/>
          </p:cNvPicPr>
          <p:nvPr/>
        </p:nvPicPr>
        <p:blipFill>
          <a:blip r:embed="rId3"/>
          <a:stretch>
            <a:fillRect/>
          </a:stretch>
        </p:blipFill>
        <p:spPr>
          <a:xfrm>
            <a:off x="7208149" y="2007144"/>
            <a:ext cx="5031430" cy="1815556"/>
          </a:xfrm>
          <a:prstGeom prst="rect">
            <a:avLst/>
          </a:prstGeom>
        </p:spPr>
      </p:pic>
      <p:pic>
        <p:nvPicPr>
          <p:cNvPr id="14" name="图片 13">
            <a:extLst>
              <a:ext uri="{FF2B5EF4-FFF2-40B4-BE49-F238E27FC236}">
                <a16:creationId xmlns:a16="http://schemas.microsoft.com/office/drawing/2014/main" id="{91A72499-A224-E0C1-6A2A-5427725CE949}"/>
              </a:ext>
            </a:extLst>
          </p:cNvPr>
          <p:cNvPicPr>
            <a:picLocks noChangeAspect="1"/>
          </p:cNvPicPr>
          <p:nvPr/>
        </p:nvPicPr>
        <p:blipFill>
          <a:blip r:embed="rId4"/>
          <a:stretch>
            <a:fillRect/>
          </a:stretch>
        </p:blipFill>
        <p:spPr>
          <a:xfrm>
            <a:off x="3387621" y="3042045"/>
            <a:ext cx="3651607" cy="3111498"/>
          </a:xfrm>
          <a:prstGeom prst="rect">
            <a:avLst/>
          </a:prstGeom>
        </p:spPr>
      </p:pic>
      <p:pic>
        <p:nvPicPr>
          <p:cNvPr id="16" name="图片 15">
            <a:extLst>
              <a:ext uri="{FF2B5EF4-FFF2-40B4-BE49-F238E27FC236}">
                <a16:creationId xmlns:a16="http://schemas.microsoft.com/office/drawing/2014/main" id="{961AD2EE-AE28-041A-10D4-ED13A0A1071B}"/>
              </a:ext>
            </a:extLst>
          </p:cNvPr>
          <p:cNvPicPr>
            <a:picLocks noChangeAspect="1"/>
          </p:cNvPicPr>
          <p:nvPr/>
        </p:nvPicPr>
        <p:blipFill>
          <a:blip r:embed="rId5"/>
          <a:stretch>
            <a:fillRect/>
          </a:stretch>
        </p:blipFill>
        <p:spPr>
          <a:xfrm>
            <a:off x="5935003" y="4157169"/>
            <a:ext cx="6019933" cy="2762087"/>
          </a:xfrm>
          <a:prstGeom prst="rect">
            <a:avLst/>
          </a:prstGeom>
        </p:spPr>
      </p:pic>
    </p:spTree>
    <p:extLst>
      <p:ext uri="{BB962C8B-B14F-4D97-AF65-F5344CB8AC3E}">
        <p14:creationId xmlns:p14="http://schemas.microsoft.com/office/powerpoint/2010/main" val="3718258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76082-5368-9BD4-E6A7-EED61647A14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4B74C7-B3FA-4D43-3F68-6E6B9F364BAA}"/>
              </a:ext>
            </a:extLst>
          </p:cNvPr>
          <p:cNvSpPr>
            <a:spLocks noGrp="1"/>
          </p:cNvSpPr>
          <p:nvPr>
            <p:ph type="title"/>
          </p:nvPr>
        </p:nvSpPr>
        <p:spPr/>
        <p:txBody>
          <a:bodyPr/>
          <a:lstStyle/>
          <a:p>
            <a:r>
              <a:rPr lang="zh-CN" altLang="en-US" dirty="0"/>
              <a:t>使用 </a:t>
            </a:r>
            <a:r>
              <a:rPr lang="en-US" altLang="zh-CN" dirty="0"/>
              <a:t>LWS </a:t>
            </a:r>
            <a:r>
              <a:rPr lang="zh-CN" altLang="en-US" dirty="0"/>
              <a:t>创建一个 分布式 </a:t>
            </a:r>
            <a:r>
              <a:rPr lang="en-US" altLang="zh-CN" dirty="0" err="1"/>
              <a:t>DeepSeek</a:t>
            </a:r>
            <a:r>
              <a:rPr lang="en-US" altLang="zh-CN" dirty="0"/>
              <a:t> </a:t>
            </a:r>
            <a:r>
              <a:rPr lang="zh-CN" altLang="en-US" dirty="0"/>
              <a:t>推理</a:t>
            </a:r>
          </a:p>
        </p:txBody>
      </p:sp>
      <p:sp>
        <p:nvSpPr>
          <p:cNvPr id="6" name="文本框 5">
            <a:extLst>
              <a:ext uri="{FF2B5EF4-FFF2-40B4-BE49-F238E27FC236}">
                <a16:creationId xmlns:a16="http://schemas.microsoft.com/office/drawing/2014/main" id="{161C9A79-CF27-3A58-4C9B-6133A80F1773}"/>
              </a:ext>
            </a:extLst>
          </p:cNvPr>
          <p:cNvSpPr txBox="1"/>
          <p:nvPr/>
        </p:nvSpPr>
        <p:spPr>
          <a:xfrm>
            <a:off x="246440" y="1082504"/>
            <a:ext cx="5968877" cy="526297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fontAlgn="ctr">
              <a:buNone/>
            </a:pPr>
            <a:r>
              <a:rPr lang="en-US" altLang="zh-CN" sz="1400" b="0" i="0" dirty="0" err="1">
                <a:solidFill>
                  <a:srgbClr val="0550AE"/>
                </a:solidFill>
                <a:effectLst/>
                <a:latin typeface="ui-monospace"/>
              </a:rPr>
              <a:t>apiVersion</a:t>
            </a:r>
            <a:r>
              <a:rPr lang="en-US" altLang="zh-CN" sz="1400" b="0" i="0" dirty="0">
                <a:solidFill>
                  <a:srgbClr val="0550AE"/>
                </a:solidFill>
                <a:effectLst/>
                <a:latin typeface="ui-monospace"/>
              </a:rPr>
              <a:t>: leaderworkerset.x-k8s.io/v1</a:t>
            </a:r>
          </a:p>
          <a:p>
            <a:pPr algn="l" fontAlgn="ctr">
              <a:buNone/>
            </a:pPr>
            <a:r>
              <a:rPr lang="en-US" altLang="zh-CN" sz="1400" b="0" i="0" dirty="0">
                <a:solidFill>
                  <a:srgbClr val="0550AE"/>
                </a:solidFill>
                <a:effectLst/>
                <a:latin typeface="ui-monospace"/>
              </a:rPr>
              <a:t>kind: </a:t>
            </a:r>
            <a:r>
              <a:rPr lang="en-US" altLang="zh-CN" sz="1400" b="0" i="0" dirty="0" err="1">
                <a:solidFill>
                  <a:srgbClr val="0550AE"/>
                </a:solidFill>
                <a:effectLst/>
                <a:latin typeface="ui-monospace"/>
              </a:rPr>
              <a:t>LeaderWorkerSet</a:t>
            </a:r>
            <a:endParaRPr lang="en-US" altLang="zh-CN" sz="1400" b="0" i="0" dirty="0">
              <a:solidFill>
                <a:srgbClr val="0550AE"/>
              </a:solidFill>
              <a:effectLst/>
              <a:latin typeface="ui-monospace"/>
            </a:endParaRPr>
          </a:p>
          <a:p>
            <a:pPr algn="l" fontAlgn="ctr">
              <a:buNone/>
            </a:pPr>
            <a:r>
              <a:rPr lang="en-US" altLang="zh-CN" sz="1400" b="0" i="0" dirty="0">
                <a:solidFill>
                  <a:srgbClr val="0550AE"/>
                </a:solidFill>
                <a:effectLst/>
                <a:latin typeface="ui-monospace"/>
              </a:rPr>
              <a:t>metadata:</a:t>
            </a:r>
          </a:p>
          <a:p>
            <a:pPr algn="l" fontAlgn="ctr">
              <a:buNone/>
            </a:pPr>
            <a:r>
              <a:rPr lang="en-US" altLang="zh-CN" sz="1400" b="0" i="0" dirty="0">
                <a:solidFill>
                  <a:srgbClr val="0550AE"/>
                </a:solidFill>
                <a:effectLst/>
                <a:latin typeface="ui-monospace"/>
              </a:rPr>
              <a:t>  name: </a:t>
            </a:r>
            <a:r>
              <a:rPr lang="en-US" altLang="zh-CN" sz="1400" b="0" i="0" dirty="0" err="1">
                <a:solidFill>
                  <a:srgbClr val="0550AE"/>
                </a:solidFill>
                <a:effectLst/>
                <a:latin typeface="ui-monospace"/>
              </a:rPr>
              <a:t>vllm</a:t>
            </a:r>
            <a:endParaRPr lang="en-US" altLang="zh-CN" sz="1400" b="0" i="0" dirty="0">
              <a:solidFill>
                <a:srgbClr val="0550AE"/>
              </a:solidFill>
              <a:effectLst/>
              <a:latin typeface="ui-monospace"/>
            </a:endParaRPr>
          </a:p>
          <a:p>
            <a:pPr algn="l" fontAlgn="ctr">
              <a:buNone/>
            </a:pPr>
            <a:r>
              <a:rPr lang="en-US" altLang="zh-CN" sz="1400" b="0" i="0" dirty="0">
                <a:solidFill>
                  <a:srgbClr val="0550AE"/>
                </a:solidFill>
                <a:effectLst/>
                <a:latin typeface="ui-monospace"/>
              </a:rPr>
              <a:t>spec:</a:t>
            </a:r>
          </a:p>
          <a:p>
            <a:pPr algn="l" fontAlgn="ctr">
              <a:buNone/>
            </a:pPr>
            <a:r>
              <a:rPr lang="en-US" altLang="zh-CN" sz="1400" b="0" i="0" dirty="0">
                <a:solidFill>
                  <a:srgbClr val="0550AE"/>
                </a:solidFill>
                <a:effectLst/>
                <a:latin typeface="ui-monospace"/>
              </a:rPr>
              <a:t>  replicas: 2</a:t>
            </a:r>
          </a:p>
          <a:p>
            <a:pPr algn="l" fontAlgn="ctr">
              <a:buNone/>
            </a:pPr>
            <a:r>
              <a:rPr lang="en-US" altLang="zh-CN" sz="1400" b="0" i="0" dirty="0">
                <a:solidFill>
                  <a:srgbClr val="0550AE"/>
                </a:solidFill>
                <a:effectLst/>
                <a:latin typeface="ui-monospace"/>
              </a:rPr>
              <a:t>  </a:t>
            </a:r>
            <a:r>
              <a:rPr lang="en-US" altLang="zh-CN" sz="1400" b="0" i="0" dirty="0" err="1">
                <a:solidFill>
                  <a:srgbClr val="0550AE"/>
                </a:solidFill>
                <a:effectLst/>
                <a:latin typeface="ui-monospace"/>
              </a:rPr>
              <a:t>leaderWorkerTemplate</a:t>
            </a:r>
            <a:r>
              <a:rPr lang="en-US" altLang="zh-CN" sz="1400" b="0" i="0" dirty="0">
                <a:solidFill>
                  <a:srgbClr val="0550AE"/>
                </a:solidFill>
                <a:effectLst/>
                <a:latin typeface="ui-monospace"/>
              </a:rPr>
              <a:t>:</a:t>
            </a:r>
          </a:p>
          <a:p>
            <a:pPr algn="l" fontAlgn="ctr">
              <a:buNone/>
            </a:pPr>
            <a:r>
              <a:rPr lang="en-US" altLang="zh-CN" sz="1400" b="0" i="0" dirty="0">
                <a:solidFill>
                  <a:srgbClr val="0550AE"/>
                </a:solidFill>
                <a:effectLst/>
                <a:latin typeface="ui-monospace"/>
              </a:rPr>
              <a:t>    size: 2</a:t>
            </a:r>
          </a:p>
          <a:p>
            <a:pPr algn="l" fontAlgn="ctr">
              <a:buNone/>
            </a:pPr>
            <a:r>
              <a:rPr lang="en-US" altLang="zh-CN" sz="1400" b="0" i="0" dirty="0">
                <a:solidFill>
                  <a:srgbClr val="0550AE"/>
                </a:solidFill>
                <a:effectLst/>
                <a:latin typeface="ui-monospace"/>
              </a:rPr>
              <a:t>    </a:t>
            </a:r>
            <a:r>
              <a:rPr lang="en-US" altLang="zh-CN" sz="1400" b="0" i="0" dirty="0" err="1">
                <a:solidFill>
                  <a:srgbClr val="0550AE"/>
                </a:solidFill>
                <a:effectLst/>
                <a:latin typeface="ui-monospace"/>
              </a:rPr>
              <a:t>leaderTemplate</a:t>
            </a:r>
            <a:r>
              <a:rPr lang="en-US" altLang="zh-CN" sz="1400" b="0" i="0" dirty="0">
                <a:solidFill>
                  <a:srgbClr val="0550AE"/>
                </a:solidFill>
                <a:effectLst/>
                <a:latin typeface="ui-monospace"/>
              </a:rPr>
              <a:t>:</a:t>
            </a:r>
          </a:p>
          <a:p>
            <a:pPr algn="l" fontAlgn="ctr">
              <a:buNone/>
            </a:pPr>
            <a:r>
              <a:rPr lang="en-US" altLang="zh-CN" sz="1400" b="0" i="0" dirty="0">
                <a:solidFill>
                  <a:srgbClr val="0550AE"/>
                </a:solidFill>
                <a:effectLst/>
                <a:latin typeface="ui-monospace"/>
              </a:rPr>
              <a:t>spec:</a:t>
            </a:r>
          </a:p>
          <a:p>
            <a:pPr algn="l" fontAlgn="ctr">
              <a:buNone/>
            </a:pPr>
            <a:r>
              <a:rPr lang="en-US" altLang="zh-CN" sz="1400" b="0" i="0" dirty="0">
                <a:solidFill>
                  <a:srgbClr val="0550AE"/>
                </a:solidFill>
                <a:effectLst/>
                <a:latin typeface="ui-monospace"/>
              </a:rPr>
              <a:t>        containers:</a:t>
            </a:r>
          </a:p>
          <a:p>
            <a:pPr algn="l" fontAlgn="ctr">
              <a:buNone/>
            </a:pPr>
            <a:r>
              <a:rPr lang="en-US" altLang="zh-CN" sz="1400" b="0" i="0" dirty="0">
                <a:solidFill>
                  <a:srgbClr val="0550AE"/>
                </a:solidFill>
                <a:effectLst/>
                <a:latin typeface="ui-monospace"/>
              </a:rPr>
              <a:t>          - name: </a:t>
            </a:r>
            <a:r>
              <a:rPr lang="en-US" altLang="zh-CN" sz="1400" b="0" i="0" dirty="0" err="1">
                <a:solidFill>
                  <a:srgbClr val="0550AE"/>
                </a:solidFill>
                <a:effectLst/>
                <a:latin typeface="ui-monospace"/>
              </a:rPr>
              <a:t>vllm</a:t>
            </a:r>
            <a:r>
              <a:rPr lang="en-US" altLang="zh-CN" sz="1400" b="0" i="0" dirty="0">
                <a:solidFill>
                  <a:srgbClr val="0550AE"/>
                </a:solidFill>
                <a:effectLst/>
                <a:latin typeface="ui-monospace"/>
              </a:rPr>
              <a:t>-leader</a:t>
            </a:r>
          </a:p>
          <a:p>
            <a:pPr algn="l" fontAlgn="ctr">
              <a:buNone/>
            </a:pPr>
            <a:r>
              <a:rPr lang="en-US" altLang="zh-CN" sz="1400" b="0" i="0" dirty="0">
                <a:solidFill>
                  <a:srgbClr val="0550AE"/>
                </a:solidFill>
                <a:effectLst/>
                <a:latin typeface="ui-monospace"/>
              </a:rPr>
              <a:t>            image: </a:t>
            </a:r>
            <a:r>
              <a:rPr lang="en-US" altLang="zh-CN" sz="1400" b="0" i="0" dirty="0" err="1">
                <a:solidFill>
                  <a:srgbClr val="0550AE"/>
                </a:solidFill>
                <a:effectLst/>
                <a:latin typeface="ui-monospace"/>
              </a:rPr>
              <a:t>vllm</a:t>
            </a:r>
            <a:r>
              <a:rPr lang="en-US" altLang="zh-CN" sz="1400" b="0" i="0" dirty="0">
                <a:solidFill>
                  <a:srgbClr val="0550AE"/>
                </a:solidFill>
                <a:effectLst/>
                <a:latin typeface="ui-monospace"/>
              </a:rPr>
              <a:t>/</a:t>
            </a:r>
            <a:r>
              <a:rPr lang="en-US" altLang="zh-CN" sz="1400" b="0" i="0" dirty="0" err="1">
                <a:solidFill>
                  <a:srgbClr val="0550AE"/>
                </a:solidFill>
                <a:effectLst/>
                <a:latin typeface="ui-monospace"/>
              </a:rPr>
              <a:t>vllm-openai:latest</a:t>
            </a:r>
            <a:endParaRPr lang="en-US" altLang="zh-CN" sz="1400" b="0" i="0" dirty="0">
              <a:solidFill>
                <a:srgbClr val="0550AE"/>
              </a:solidFill>
              <a:effectLst/>
              <a:latin typeface="ui-monospace"/>
            </a:endParaRPr>
          </a:p>
          <a:p>
            <a:pPr algn="l" fontAlgn="ctr">
              <a:buNone/>
            </a:pPr>
            <a:r>
              <a:rPr lang="en-US" altLang="zh-CN" sz="1400" b="0" i="0" dirty="0">
                <a:solidFill>
                  <a:srgbClr val="0550AE"/>
                </a:solidFill>
                <a:effectLst/>
                <a:latin typeface="ui-monospace"/>
              </a:rPr>
              <a:t>            command:</a:t>
            </a:r>
          </a:p>
          <a:p>
            <a:pPr algn="l" fontAlgn="ctr">
              <a:buNone/>
            </a:pPr>
            <a:r>
              <a:rPr lang="en-US" altLang="zh-CN" sz="1400" b="0" i="0" dirty="0">
                <a:solidFill>
                  <a:srgbClr val="0550AE"/>
                </a:solidFill>
                <a:effectLst/>
                <a:latin typeface="ui-monospace"/>
              </a:rPr>
              <a:t>              - </a:t>
            </a:r>
            <a:r>
              <a:rPr lang="en-US" altLang="zh-CN" sz="1400" b="0" i="0" dirty="0" err="1">
                <a:solidFill>
                  <a:srgbClr val="0550AE"/>
                </a:solidFill>
                <a:effectLst/>
                <a:latin typeface="ui-monospace"/>
              </a:rPr>
              <a:t>sh</a:t>
            </a:r>
            <a:endParaRPr lang="en-US" altLang="zh-CN" sz="1400" b="0" i="0" dirty="0">
              <a:solidFill>
                <a:srgbClr val="0550AE"/>
              </a:solidFill>
              <a:effectLst/>
              <a:latin typeface="ui-monospace"/>
            </a:endParaRPr>
          </a:p>
          <a:p>
            <a:pPr algn="l" fontAlgn="ctr">
              <a:buNone/>
            </a:pPr>
            <a:r>
              <a:rPr lang="en-US" altLang="zh-CN" sz="1400" b="0" i="0" dirty="0">
                <a:solidFill>
                  <a:srgbClr val="0550AE"/>
                </a:solidFill>
                <a:effectLst/>
                <a:latin typeface="ui-monospace"/>
              </a:rPr>
              <a:t>              - -c</a:t>
            </a:r>
          </a:p>
          <a:p>
            <a:pPr algn="l" fontAlgn="ctr">
              <a:buNone/>
            </a:pPr>
            <a:r>
              <a:rPr lang="en-US" altLang="zh-CN" sz="1400" b="0" i="0" dirty="0">
                <a:solidFill>
                  <a:srgbClr val="0550AE"/>
                </a:solidFill>
                <a:effectLst/>
                <a:latin typeface="ui-monospace"/>
              </a:rPr>
              <a:t>              - "bash /vllm-workspace/examples/online_serving/multi-node-serving.sh leader --</a:t>
            </a:r>
            <a:r>
              <a:rPr lang="en-US" altLang="zh-CN" sz="1400" b="0" i="0" dirty="0" err="1">
                <a:solidFill>
                  <a:srgbClr val="0550AE"/>
                </a:solidFill>
                <a:effectLst/>
                <a:latin typeface="ui-monospace"/>
              </a:rPr>
              <a:t>ray_cluster_size</a:t>
            </a:r>
            <a:r>
              <a:rPr lang="en-US" altLang="zh-CN" sz="1400" b="0" i="0" dirty="0">
                <a:solidFill>
                  <a:srgbClr val="0550AE"/>
                </a:solidFill>
                <a:effectLst/>
                <a:latin typeface="ui-monospace"/>
              </a:rPr>
              <a:t>=$(LWS_GROUP_SIZE); </a:t>
            </a:r>
          </a:p>
          <a:p>
            <a:pPr algn="l" fontAlgn="ctr">
              <a:buNone/>
            </a:pPr>
            <a:r>
              <a:rPr lang="en-US" altLang="zh-CN" sz="1400" i="0" dirty="0">
                <a:solidFill>
                  <a:srgbClr val="0550AE"/>
                </a:solidFill>
                <a:effectLst/>
                <a:latin typeface="ui-monospace"/>
              </a:rPr>
              <a:t>                 python3 -m </a:t>
            </a:r>
            <a:r>
              <a:rPr lang="en-US" altLang="zh-CN" sz="1400" i="0" dirty="0" err="1">
                <a:solidFill>
                  <a:srgbClr val="0550AE"/>
                </a:solidFill>
                <a:effectLst/>
                <a:latin typeface="ui-monospace"/>
              </a:rPr>
              <a:t>vllm.entrypoints.openai.api_server</a:t>
            </a:r>
            <a:r>
              <a:rPr lang="en-US" altLang="zh-CN" sz="1400" i="0" dirty="0">
                <a:solidFill>
                  <a:srgbClr val="0550AE"/>
                </a:solidFill>
                <a:effectLst/>
                <a:latin typeface="ui-monospace"/>
              </a:rPr>
              <a:t> --port 8080 --model meta-llama/ </a:t>
            </a:r>
            <a:r>
              <a:rPr lang="en-US" altLang="zh-CN" sz="1400" i="0" dirty="0" err="1">
                <a:solidFill>
                  <a:srgbClr val="0550AE"/>
                </a:solidFill>
                <a:effectLst/>
                <a:latin typeface="ui-monospace"/>
              </a:rPr>
              <a:t>deepseek</a:t>
            </a:r>
            <a:r>
              <a:rPr lang="en-US" altLang="zh-CN" sz="1400" i="0" dirty="0">
                <a:solidFill>
                  <a:srgbClr val="0550AE"/>
                </a:solidFill>
                <a:effectLst/>
                <a:latin typeface="ui-monospace"/>
              </a:rPr>
              <a:t>-ai/DeepSeek-R1 --tensor-parallel-size 8 --</a:t>
            </a:r>
            <a:r>
              <a:rPr lang="en-US" altLang="zh-CN" sz="1400" i="0" dirty="0" err="1">
                <a:solidFill>
                  <a:srgbClr val="0550AE"/>
                </a:solidFill>
                <a:effectLst/>
                <a:latin typeface="ui-monospace"/>
              </a:rPr>
              <a:t>pipeline_parallel_size</a:t>
            </a:r>
            <a:r>
              <a:rPr lang="en-US" altLang="zh-CN" sz="1400" i="0" dirty="0">
                <a:solidFill>
                  <a:srgbClr val="0550AE"/>
                </a:solidFill>
                <a:effectLst/>
                <a:latin typeface="ui-monospace"/>
              </a:rPr>
              <a:t> 2"</a:t>
            </a:r>
          </a:p>
          <a:p>
            <a:pPr algn="l" fontAlgn="ctr">
              <a:buNone/>
            </a:pPr>
            <a:r>
              <a:rPr lang="en-US" altLang="zh-CN" sz="1400" b="0" i="0" dirty="0">
                <a:solidFill>
                  <a:srgbClr val="0550AE"/>
                </a:solidFill>
                <a:effectLst/>
                <a:latin typeface="ui-monospace"/>
              </a:rPr>
              <a:t>            resources:</a:t>
            </a:r>
          </a:p>
          <a:p>
            <a:pPr algn="l" fontAlgn="ctr">
              <a:buNone/>
            </a:pPr>
            <a:r>
              <a:rPr lang="en-US" altLang="zh-CN" sz="1400" b="0" i="0" dirty="0">
                <a:solidFill>
                  <a:srgbClr val="0550AE"/>
                </a:solidFill>
                <a:effectLst/>
                <a:latin typeface="ui-monospace"/>
              </a:rPr>
              <a:t>              limits:</a:t>
            </a:r>
          </a:p>
          <a:p>
            <a:pPr algn="l" fontAlgn="ctr">
              <a:buNone/>
            </a:pPr>
            <a:r>
              <a:rPr lang="en-US" altLang="zh-CN" sz="1400" b="0" i="0" dirty="0">
                <a:solidFill>
                  <a:srgbClr val="0550AE"/>
                </a:solidFill>
                <a:effectLst/>
                <a:latin typeface="ui-monospace"/>
              </a:rPr>
              <a:t>                nvidia.com/</a:t>
            </a:r>
            <a:r>
              <a:rPr lang="en-US" altLang="zh-CN" sz="1400" b="0" i="0" dirty="0" err="1">
                <a:solidFill>
                  <a:srgbClr val="0550AE"/>
                </a:solidFill>
                <a:effectLst/>
                <a:latin typeface="ui-monospace"/>
              </a:rPr>
              <a:t>gpu</a:t>
            </a:r>
            <a:r>
              <a:rPr lang="en-US" altLang="zh-CN" sz="1400" b="0" i="0" dirty="0">
                <a:solidFill>
                  <a:srgbClr val="0550AE"/>
                </a:solidFill>
                <a:effectLst/>
                <a:latin typeface="ui-monospace"/>
              </a:rPr>
              <a:t>: "8"</a:t>
            </a:r>
          </a:p>
        </p:txBody>
      </p:sp>
      <p:sp>
        <p:nvSpPr>
          <p:cNvPr id="7" name="文本框 6">
            <a:extLst>
              <a:ext uri="{FF2B5EF4-FFF2-40B4-BE49-F238E27FC236}">
                <a16:creationId xmlns:a16="http://schemas.microsoft.com/office/drawing/2014/main" id="{F86EA82A-C2B6-33A7-9FE7-C00C2092010A}"/>
              </a:ext>
            </a:extLst>
          </p:cNvPr>
          <p:cNvSpPr txBox="1"/>
          <p:nvPr/>
        </p:nvSpPr>
        <p:spPr>
          <a:xfrm>
            <a:off x="6284831" y="1086970"/>
            <a:ext cx="5847326" cy="310854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fontAlgn="ctr">
              <a:buNone/>
            </a:pPr>
            <a:r>
              <a:rPr lang="en-US" altLang="zh-CN" sz="1400" b="0" i="0" dirty="0">
                <a:solidFill>
                  <a:srgbClr val="0550AE"/>
                </a:solidFill>
                <a:effectLst/>
                <a:latin typeface="ui-monospace"/>
              </a:rPr>
              <a:t> </a:t>
            </a:r>
            <a:r>
              <a:rPr lang="en-US" altLang="zh-CN" sz="1400" b="0" i="0" dirty="0" err="1">
                <a:solidFill>
                  <a:srgbClr val="0550AE"/>
                </a:solidFill>
                <a:effectLst/>
                <a:latin typeface="ui-monospace"/>
              </a:rPr>
              <a:t>workerTemplate</a:t>
            </a:r>
            <a:r>
              <a:rPr lang="en-US" altLang="zh-CN" sz="1400" b="0" i="0" dirty="0">
                <a:solidFill>
                  <a:srgbClr val="0550AE"/>
                </a:solidFill>
                <a:effectLst/>
                <a:latin typeface="ui-monospace"/>
              </a:rPr>
              <a:t>:</a:t>
            </a:r>
          </a:p>
          <a:p>
            <a:pPr algn="l" fontAlgn="ctr">
              <a:buNone/>
            </a:pPr>
            <a:r>
              <a:rPr lang="en-US" altLang="zh-CN" sz="1400" b="0" i="0" dirty="0">
                <a:solidFill>
                  <a:srgbClr val="0550AE"/>
                </a:solidFill>
                <a:effectLst/>
                <a:latin typeface="ui-monospace"/>
              </a:rPr>
              <a:t>      spec:</a:t>
            </a:r>
          </a:p>
          <a:p>
            <a:pPr algn="l" fontAlgn="ctr">
              <a:buNone/>
            </a:pPr>
            <a:r>
              <a:rPr lang="en-US" altLang="zh-CN" sz="1400" b="0" i="0" dirty="0">
                <a:solidFill>
                  <a:srgbClr val="0550AE"/>
                </a:solidFill>
                <a:effectLst/>
                <a:latin typeface="ui-monospace"/>
              </a:rPr>
              <a:t>        containers:</a:t>
            </a:r>
          </a:p>
          <a:p>
            <a:pPr algn="l" fontAlgn="ctr">
              <a:buNone/>
            </a:pPr>
            <a:r>
              <a:rPr lang="en-US" altLang="zh-CN" sz="1400" b="0" i="0" dirty="0">
                <a:solidFill>
                  <a:srgbClr val="0550AE"/>
                </a:solidFill>
                <a:effectLst/>
                <a:latin typeface="ui-monospace"/>
              </a:rPr>
              <a:t>          - name: </a:t>
            </a:r>
            <a:r>
              <a:rPr lang="en-US" altLang="zh-CN" sz="1400" b="0" i="0" dirty="0" err="1">
                <a:solidFill>
                  <a:srgbClr val="0550AE"/>
                </a:solidFill>
                <a:effectLst/>
                <a:latin typeface="ui-monospace"/>
              </a:rPr>
              <a:t>vllm</a:t>
            </a:r>
            <a:r>
              <a:rPr lang="en-US" altLang="zh-CN" sz="1400" b="0" i="0" dirty="0">
                <a:solidFill>
                  <a:srgbClr val="0550AE"/>
                </a:solidFill>
                <a:effectLst/>
                <a:latin typeface="ui-monospace"/>
              </a:rPr>
              <a:t>-worker</a:t>
            </a:r>
          </a:p>
          <a:p>
            <a:pPr algn="l" fontAlgn="ctr">
              <a:buNone/>
            </a:pPr>
            <a:r>
              <a:rPr lang="en-US" altLang="zh-CN" sz="1400" b="0" i="0" dirty="0">
                <a:solidFill>
                  <a:srgbClr val="0550AE"/>
                </a:solidFill>
                <a:effectLst/>
                <a:latin typeface="ui-monospace"/>
              </a:rPr>
              <a:t>            image: </a:t>
            </a:r>
            <a:r>
              <a:rPr lang="en-US" altLang="zh-CN" sz="1400" b="0" i="0" dirty="0" err="1">
                <a:solidFill>
                  <a:srgbClr val="0550AE"/>
                </a:solidFill>
                <a:effectLst/>
                <a:latin typeface="ui-monospace"/>
              </a:rPr>
              <a:t>vllm</a:t>
            </a:r>
            <a:r>
              <a:rPr lang="en-US" altLang="zh-CN" sz="1400" b="0" i="0" dirty="0">
                <a:solidFill>
                  <a:srgbClr val="0550AE"/>
                </a:solidFill>
                <a:effectLst/>
                <a:latin typeface="ui-monospace"/>
              </a:rPr>
              <a:t>/</a:t>
            </a:r>
            <a:r>
              <a:rPr lang="en-US" altLang="zh-CN" sz="1400" b="0" i="0" dirty="0" err="1">
                <a:solidFill>
                  <a:srgbClr val="0550AE"/>
                </a:solidFill>
                <a:effectLst/>
                <a:latin typeface="ui-monospace"/>
              </a:rPr>
              <a:t>vllm-openai:latest</a:t>
            </a:r>
            <a:endParaRPr lang="en-US" altLang="zh-CN" sz="1400" b="0" i="0" dirty="0">
              <a:solidFill>
                <a:srgbClr val="0550AE"/>
              </a:solidFill>
              <a:effectLst/>
              <a:latin typeface="ui-monospace"/>
            </a:endParaRPr>
          </a:p>
          <a:p>
            <a:pPr algn="l" fontAlgn="ctr">
              <a:buNone/>
            </a:pPr>
            <a:r>
              <a:rPr lang="en-US" altLang="zh-CN" sz="1400" b="0" i="0" dirty="0">
                <a:solidFill>
                  <a:srgbClr val="0550AE"/>
                </a:solidFill>
                <a:effectLst/>
                <a:latin typeface="ui-monospace"/>
              </a:rPr>
              <a:t>            command:</a:t>
            </a:r>
          </a:p>
          <a:p>
            <a:pPr algn="l" fontAlgn="ctr">
              <a:buNone/>
            </a:pPr>
            <a:r>
              <a:rPr lang="en-US" altLang="zh-CN" sz="1400" b="0" i="0" dirty="0">
                <a:solidFill>
                  <a:srgbClr val="0550AE"/>
                </a:solidFill>
                <a:effectLst/>
                <a:latin typeface="ui-monospace"/>
              </a:rPr>
              <a:t>              - </a:t>
            </a:r>
            <a:r>
              <a:rPr lang="en-US" altLang="zh-CN" sz="1400" b="0" i="0" dirty="0" err="1">
                <a:solidFill>
                  <a:srgbClr val="0550AE"/>
                </a:solidFill>
                <a:effectLst/>
                <a:latin typeface="ui-monospace"/>
              </a:rPr>
              <a:t>sh</a:t>
            </a:r>
            <a:endParaRPr lang="en-US" altLang="zh-CN" sz="1400" b="0" i="0" dirty="0">
              <a:solidFill>
                <a:srgbClr val="0550AE"/>
              </a:solidFill>
              <a:effectLst/>
              <a:latin typeface="ui-monospace"/>
            </a:endParaRPr>
          </a:p>
          <a:p>
            <a:pPr algn="l" fontAlgn="ctr">
              <a:buNone/>
            </a:pPr>
            <a:r>
              <a:rPr lang="en-US" altLang="zh-CN" sz="1400" b="0" i="0" dirty="0">
                <a:solidFill>
                  <a:srgbClr val="0550AE"/>
                </a:solidFill>
                <a:effectLst/>
                <a:latin typeface="ui-monospace"/>
              </a:rPr>
              <a:t>              - -c</a:t>
            </a:r>
          </a:p>
          <a:p>
            <a:pPr algn="l" fontAlgn="ctr">
              <a:buNone/>
            </a:pPr>
            <a:r>
              <a:rPr lang="en-US" altLang="zh-CN" sz="1400" b="0" i="0" dirty="0">
                <a:solidFill>
                  <a:srgbClr val="0550AE"/>
                </a:solidFill>
                <a:effectLst/>
                <a:latin typeface="ui-monospace"/>
              </a:rPr>
              <a:t>              - "bash /vllm-workspace/examples/online_serving/multi-node-serving.sh worker --</a:t>
            </a:r>
            <a:r>
              <a:rPr lang="en-US" altLang="zh-CN" sz="1400" b="0" i="0" dirty="0" err="1">
                <a:solidFill>
                  <a:srgbClr val="0550AE"/>
                </a:solidFill>
                <a:effectLst/>
                <a:latin typeface="ui-monospace"/>
              </a:rPr>
              <a:t>ray_address</a:t>
            </a:r>
            <a:r>
              <a:rPr lang="en-US" altLang="zh-CN" sz="1400" b="0" i="0" dirty="0">
                <a:solidFill>
                  <a:srgbClr val="0550AE"/>
                </a:solidFill>
                <a:effectLst/>
                <a:latin typeface="ui-monospace"/>
              </a:rPr>
              <a:t>=$(LWS_LEADER_ADDRESS)"</a:t>
            </a:r>
          </a:p>
          <a:p>
            <a:pPr algn="l" fontAlgn="ctr">
              <a:buNone/>
            </a:pPr>
            <a:r>
              <a:rPr lang="en-US" altLang="zh-CN" sz="1400" b="0" i="0" dirty="0">
                <a:solidFill>
                  <a:srgbClr val="0550AE"/>
                </a:solidFill>
                <a:effectLst/>
                <a:latin typeface="ui-monospace"/>
              </a:rPr>
              <a:t>            resources:</a:t>
            </a:r>
          </a:p>
          <a:p>
            <a:pPr algn="l" fontAlgn="ctr">
              <a:buNone/>
            </a:pPr>
            <a:r>
              <a:rPr lang="en-US" altLang="zh-CN" sz="1400" b="0" i="0" dirty="0">
                <a:solidFill>
                  <a:srgbClr val="0550AE"/>
                </a:solidFill>
                <a:effectLst/>
                <a:latin typeface="ui-monospace"/>
              </a:rPr>
              <a:t>              limits:</a:t>
            </a:r>
          </a:p>
          <a:p>
            <a:pPr algn="l" fontAlgn="ctr">
              <a:buNone/>
            </a:pPr>
            <a:r>
              <a:rPr lang="en-US" altLang="zh-CN" sz="1400" b="0" i="0" dirty="0">
                <a:solidFill>
                  <a:srgbClr val="0550AE"/>
                </a:solidFill>
                <a:effectLst/>
                <a:latin typeface="ui-monospace"/>
              </a:rPr>
              <a:t>                nvidia.com/</a:t>
            </a:r>
            <a:r>
              <a:rPr lang="en-US" altLang="zh-CN" sz="1400" b="0" i="0" dirty="0" err="1">
                <a:solidFill>
                  <a:srgbClr val="0550AE"/>
                </a:solidFill>
                <a:effectLst/>
                <a:latin typeface="ui-monospace"/>
              </a:rPr>
              <a:t>gpu</a:t>
            </a:r>
            <a:r>
              <a:rPr lang="en-US" altLang="zh-CN" sz="1400" b="0" i="0" dirty="0">
                <a:solidFill>
                  <a:srgbClr val="0550AE"/>
                </a:solidFill>
                <a:effectLst/>
                <a:latin typeface="ui-monospace"/>
              </a:rPr>
              <a:t>: "8"</a:t>
            </a:r>
          </a:p>
          <a:p>
            <a:pPr algn="l" fontAlgn="ctr">
              <a:buNone/>
            </a:pPr>
            <a:r>
              <a:rPr lang="en-US" altLang="zh-CN" sz="1400" b="0" i="0" dirty="0">
                <a:solidFill>
                  <a:srgbClr val="0550AE"/>
                </a:solidFill>
                <a:effectLst/>
                <a:latin typeface="ui-monospace"/>
              </a:rPr>
              <a:t>              - name: HUGGING_FACE_HUB_TOKEN</a:t>
            </a:r>
          </a:p>
        </p:txBody>
      </p:sp>
    </p:spTree>
    <p:extLst>
      <p:ext uri="{BB962C8B-B14F-4D97-AF65-F5344CB8AC3E}">
        <p14:creationId xmlns:p14="http://schemas.microsoft.com/office/powerpoint/2010/main" val="2868488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7E7A4-BBF4-6986-CA47-8C7E2963326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5D808D-4CCE-85AA-1F32-BA2E7F2DC93B}"/>
              </a:ext>
            </a:extLst>
          </p:cNvPr>
          <p:cNvSpPr>
            <a:spLocks noGrp="1"/>
          </p:cNvSpPr>
          <p:nvPr>
            <p:ph type="title"/>
          </p:nvPr>
        </p:nvSpPr>
        <p:spPr/>
        <p:txBody>
          <a:bodyPr/>
          <a:lstStyle/>
          <a:p>
            <a:r>
              <a:rPr lang="en-US" altLang="zh-CN" dirty="0" err="1"/>
              <a:t>LeaderWorkerSet</a:t>
            </a:r>
            <a:r>
              <a:rPr lang="en-US" altLang="zh-CN" dirty="0"/>
              <a:t> Features</a:t>
            </a:r>
            <a:endParaRPr lang="zh-CN" altLang="en-US" dirty="0"/>
          </a:p>
        </p:txBody>
      </p:sp>
      <p:pic>
        <p:nvPicPr>
          <p:cNvPr id="3" name="Picture 2" descr="image">
            <a:extLst>
              <a:ext uri="{FF2B5EF4-FFF2-40B4-BE49-F238E27FC236}">
                <a16:creationId xmlns:a16="http://schemas.microsoft.com/office/drawing/2014/main" id="{E0750E93-1721-CAF3-4F69-287EAF86F6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9722" y="3229393"/>
            <a:ext cx="3322278" cy="280975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66B8FB53-830B-9E94-4667-A0A402CBEBB5}"/>
              </a:ext>
            </a:extLst>
          </p:cNvPr>
          <p:cNvSpPr txBox="1"/>
          <p:nvPr/>
        </p:nvSpPr>
        <p:spPr>
          <a:xfrm>
            <a:off x="178419" y="1083877"/>
            <a:ext cx="9059250" cy="5509200"/>
          </a:xfrm>
          <a:prstGeom prst="rect">
            <a:avLst/>
          </a:prstGeom>
          <a:noFill/>
        </p:spPr>
        <p:txBody>
          <a:bodyPr wrap="square">
            <a:spAutoFit/>
          </a:bodyPr>
          <a:lstStyle/>
          <a:p>
            <a:pPr marL="285750" indent="-285750" algn="l">
              <a:spcAft>
                <a:spcPts val="1200"/>
              </a:spcAft>
              <a:buFont typeface="Arial" panose="020B0604020202020204" pitchFamily="34" charset="0"/>
              <a:buChar char="•"/>
            </a:pPr>
            <a:r>
              <a:rPr lang="en-US" altLang="zh-CN" sz="1600" b="1" i="0" dirty="0">
                <a:solidFill>
                  <a:srgbClr val="1F2328"/>
                </a:solidFill>
                <a:effectLst/>
                <a:latin typeface="-apple-system"/>
              </a:rPr>
              <a:t>Group of Pods as a unit:</a:t>
            </a:r>
            <a:r>
              <a:rPr lang="en-US" altLang="zh-CN" sz="1600" b="0" i="0" dirty="0">
                <a:solidFill>
                  <a:srgbClr val="1F2328"/>
                </a:solidFill>
                <a:effectLst/>
                <a:latin typeface="-apple-system"/>
              </a:rPr>
              <a:t> Supports a tightly managed group of pods that represent a “super pod”</a:t>
            </a:r>
          </a:p>
          <a:p>
            <a:pPr marL="742950" lvl="1" indent="-285750">
              <a:spcAft>
                <a:spcPts val="1200"/>
              </a:spcAft>
              <a:buFont typeface="Arial" panose="020B0604020202020204" pitchFamily="34" charset="0"/>
              <a:buChar char="•"/>
            </a:pPr>
            <a:r>
              <a:rPr lang="en-US" altLang="zh-CN" sz="1600" b="1" i="0" dirty="0">
                <a:solidFill>
                  <a:srgbClr val="1F2328"/>
                </a:solidFill>
                <a:effectLst/>
                <a:latin typeface="-apple-system"/>
              </a:rPr>
              <a:t>Unique pod identity:</a:t>
            </a:r>
            <a:r>
              <a:rPr lang="en-US" altLang="zh-CN" sz="1600" b="0" i="0" dirty="0">
                <a:solidFill>
                  <a:srgbClr val="1F2328"/>
                </a:solidFill>
                <a:effectLst/>
                <a:latin typeface="-apple-system"/>
              </a:rPr>
              <a:t> Each pod in the group has a unique index from 0 to n-1.</a:t>
            </a:r>
          </a:p>
          <a:p>
            <a:pPr marL="742950" lvl="1" indent="-285750">
              <a:spcAft>
                <a:spcPts val="1200"/>
              </a:spcAft>
              <a:buFont typeface="Arial" panose="020B0604020202020204" pitchFamily="34" charset="0"/>
              <a:buChar char="•"/>
            </a:pPr>
            <a:r>
              <a:rPr lang="en-US" altLang="zh-CN" sz="1600" b="1" i="0" dirty="0">
                <a:solidFill>
                  <a:srgbClr val="1F2328"/>
                </a:solidFill>
                <a:effectLst/>
                <a:latin typeface="-apple-system"/>
              </a:rPr>
              <a:t>Parallel creation:</a:t>
            </a:r>
            <a:r>
              <a:rPr lang="en-US" altLang="zh-CN" sz="1600" b="0" i="0" dirty="0">
                <a:solidFill>
                  <a:srgbClr val="1F2328"/>
                </a:solidFill>
                <a:effectLst/>
                <a:latin typeface="-apple-system"/>
              </a:rPr>
              <a:t> Pods in the group will have the same lifecycle and be created in parallel.</a:t>
            </a:r>
          </a:p>
          <a:p>
            <a:pPr marL="285750" indent="-285750" algn="l">
              <a:spcAft>
                <a:spcPts val="1200"/>
              </a:spcAft>
              <a:buFont typeface="Arial" panose="020B0604020202020204" pitchFamily="34" charset="0"/>
              <a:buChar char="•"/>
            </a:pPr>
            <a:r>
              <a:rPr lang="en-US" altLang="zh-CN" sz="1600" b="1" i="0" dirty="0">
                <a:solidFill>
                  <a:srgbClr val="1F2328"/>
                </a:solidFill>
                <a:effectLst/>
                <a:latin typeface="-apple-system"/>
              </a:rPr>
              <a:t>Dual-template, one for leader and one for the workers:</a:t>
            </a:r>
            <a:r>
              <a:rPr lang="en-US" altLang="zh-CN" sz="1600" b="0" i="0" dirty="0">
                <a:solidFill>
                  <a:srgbClr val="1F2328"/>
                </a:solidFill>
                <a:effectLst/>
                <a:latin typeface="-apple-system"/>
              </a:rPr>
              <a:t> A replica is a group of a single leader and a set of workers, and allow to specify a template for the workers and optionally use a second one for the leader pod.</a:t>
            </a:r>
          </a:p>
          <a:p>
            <a:pPr marL="285750" indent="-285750" algn="l">
              <a:spcAft>
                <a:spcPts val="1200"/>
              </a:spcAft>
              <a:buFont typeface="Arial" panose="020B0604020202020204" pitchFamily="34" charset="0"/>
              <a:buChar char="•"/>
            </a:pPr>
            <a:r>
              <a:rPr lang="en-US" altLang="zh-CN" sz="1600" b="1" i="0" dirty="0">
                <a:solidFill>
                  <a:srgbClr val="1F2328"/>
                </a:solidFill>
                <a:effectLst/>
                <a:latin typeface="-apple-system"/>
              </a:rPr>
              <a:t>Multiple groups with identical specifications:</a:t>
            </a:r>
            <a:r>
              <a:rPr lang="en-US" altLang="zh-CN" sz="1600" b="0" i="0" dirty="0">
                <a:solidFill>
                  <a:srgbClr val="1F2328"/>
                </a:solidFill>
                <a:effectLst/>
                <a:latin typeface="-apple-system"/>
              </a:rPr>
              <a:t> Supports creating multiple “replicas” of the above mentioned group. Each group is a single unit for rolling update, scaling, and maps to a single exclusive topology for placement.</a:t>
            </a:r>
          </a:p>
          <a:p>
            <a:pPr marL="285750" indent="-285750" algn="l">
              <a:spcAft>
                <a:spcPts val="1200"/>
              </a:spcAft>
              <a:buFont typeface="Arial" panose="020B0604020202020204" pitchFamily="34" charset="0"/>
              <a:buChar char="•"/>
            </a:pPr>
            <a:r>
              <a:rPr lang="en-US" altLang="zh-CN" sz="1600" b="1" i="0" dirty="0">
                <a:solidFill>
                  <a:srgbClr val="1F2328"/>
                </a:solidFill>
                <a:effectLst/>
                <a:latin typeface="-apple-system"/>
              </a:rPr>
              <a:t>A scale </a:t>
            </a:r>
            <a:r>
              <a:rPr lang="en-US" altLang="zh-CN" sz="1600" b="1" i="0" dirty="0" err="1">
                <a:solidFill>
                  <a:srgbClr val="1F2328"/>
                </a:solidFill>
                <a:effectLst/>
                <a:latin typeface="-apple-system"/>
              </a:rPr>
              <a:t>subresource</a:t>
            </a:r>
            <a:r>
              <a:rPr lang="en-US" altLang="zh-CN" sz="1600" b="1" i="0" dirty="0">
                <a:solidFill>
                  <a:srgbClr val="1F2328"/>
                </a:solidFill>
                <a:effectLst/>
                <a:latin typeface="-apple-system"/>
              </a:rPr>
              <a:t>:</a:t>
            </a:r>
            <a:r>
              <a:rPr lang="en-US" altLang="zh-CN" sz="1600" b="0" i="0" dirty="0">
                <a:solidFill>
                  <a:srgbClr val="1F2328"/>
                </a:solidFill>
                <a:effectLst/>
                <a:latin typeface="-apple-system"/>
              </a:rPr>
              <a:t> A scale endpoint is exposed for HPA to dynamically scale the number replicas (aka number of groups)</a:t>
            </a:r>
          </a:p>
          <a:p>
            <a:pPr marL="285750" indent="-285750" algn="l">
              <a:spcAft>
                <a:spcPts val="1200"/>
              </a:spcAft>
              <a:buFont typeface="Arial" panose="020B0604020202020204" pitchFamily="34" charset="0"/>
              <a:buChar char="•"/>
            </a:pPr>
            <a:r>
              <a:rPr lang="en-US" altLang="zh-CN" sz="1600" b="1" i="0" dirty="0">
                <a:solidFill>
                  <a:srgbClr val="1F2328"/>
                </a:solidFill>
                <a:effectLst/>
                <a:latin typeface="-apple-system"/>
              </a:rPr>
              <a:t>Rollout and Rolling update:</a:t>
            </a:r>
            <a:r>
              <a:rPr lang="en-US" altLang="zh-CN" sz="1600" b="0" i="0" dirty="0">
                <a:solidFill>
                  <a:srgbClr val="1F2328"/>
                </a:solidFill>
                <a:effectLst/>
                <a:latin typeface="-apple-system"/>
              </a:rPr>
              <a:t> Supports performing rollout and rolling update at the group level, which means the groups are upgraded one by one as a unit (i.e. the pods within a group are updated together).</a:t>
            </a:r>
          </a:p>
          <a:p>
            <a:pPr marL="285750" indent="-285750" algn="l">
              <a:spcAft>
                <a:spcPts val="1200"/>
              </a:spcAft>
              <a:buFont typeface="Arial" panose="020B0604020202020204" pitchFamily="34" charset="0"/>
              <a:buChar char="•"/>
            </a:pPr>
            <a:r>
              <a:rPr lang="en-US" altLang="zh-CN" sz="1600" b="1" i="0" dirty="0">
                <a:solidFill>
                  <a:srgbClr val="1F2328"/>
                </a:solidFill>
                <a:effectLst/>
                <a:latin typeface="-apple-system"/>
              </a:rPr>
              <a:t>Topology-aware placement:</a:t>
            </a:r>
            <a:r>
              <a:rPr lang="en-US" altLang="zh-CN" sz="1600" b="0" i="0" dirty="0">
                <a:solidFill>
                  <a:srgbClr val="1F2328"/>
                </a:solidFill>
                <a:effectLst/>
                <a:latin typeface="-apple-system"/>
              </a:rPr>
              <a:t> Opt-in support for pods in the same group to be co-located in the same topology.</a:t>
            </a:r>
          </a:p>
          <a:p>
            <a:pPr marL="285750" indent="-285750" algn="l">
              <a:spcAft>
                <a:spcPts val="1200"/>
              </a:spcAft>
              <a:buFont typeface="Arial" panose="020B0604020202020204" pitchFamily="34" charset="0"/>
              <a:buChar char="•"/>
            </a:pPr>
            <a:r>
              <a:rPr lang="en-US" altLang="zh-CN" sz="1600" b="1" i="0" dirty="0">
                <a:solidFill>
                  <a:srgbClr val="1F2328"/>
                </a:solidFill>
                <a:effectLst/>
                <a:latin typeface="-apple-system"/>
              </a:rPr>
              <a:t>All-or-nothing restart for failure handling:</a:t>
            </a:r>
            <a:r>
              <a:rPr lang="en-US" altLang="zh-CN" sz="1600" b="0" i="0" dirty="0">
                <a:solidFill>
                  <a:srgbClr val="1F2328"/>
                </a:solidFill>
                <a:effectLst/>
                <a:latin typeface="-apple-system"/>
              </a:rPr>
              <a:t> Opt-in support for all pods in the group to be recreated if one pod in the group failed or one container in the pods is restarted.</a:t>
            </a:r>
          </a:p>
        </p:txBody>
      </p:sp>
    </p:spTree>
    <p:extLst>
      <p:ext uri="{BB962C8B-B14F-4D97-AF65-F5344CB8AC3E}">
        <p14:creationId xmlns:p14="http://schemas.microsoft.com/office/powerpoint/2010/main" val="223570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BFC39-7434-1850-2D73-60181A2A25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CEBA41E-49F6-C1A7-DF7F-4FC903D008C8}"/>
              </a:ext>
            </a:extLst>
          </p:cNvPr>
          <p:cNvSpPr>
            <a:spLocks noGrp="1"/>
          </p:cNvSpPr>
          <p:nvPr>
            <p:ph type="title"/>
          </p:nvPr>
        </p:nvSpPr>
        <p:spPr/>
        <p:txBody>
          <a:bodyPr/>
          <a:lstStyle/>
          <a:p>
            <a:r>
              <a:rPr lang="en-US" altLang="zh-CN" sz="2800" b="1" i="0" dirty="0">
                <a:solidFill>
                  <a:srgbClr val="1F2328"/>
                </a:solidFill>
                <a:effectLst/>
                <a:latin typeface="-apple-system"/>
              </a:rPr>
              <a:t>Unique pod identity</a:t>
            </a:r>
            <a:endParaRPr lang="zh-CN" altLang="en-US" dirty="0"/>
          </a:p>
        </p:txBody>
      </p:sp>
      <p:sp>
        <p:nvSpPr>
          <p:cNvPr id="6" name="文本框 5">
            <a:extLst>
              <a:ext uri="{FF2B5EF4-FFF2-40B4-BE49-F238E27FC236}">
                <a16:creationId xmlns:a16="http://schemas.microsoft.com/office/drawing/2014/main" id="{390EA3D1-BE69-6669-9912-FBEF749E0F3B}"/>
              </a:ext>
            </a:extLst>
          </p:cNvPr>
          <p:cNvSpPr txBox="1"/>
          <p:nvPr/>
        </p:nvSpPr>
        <p:spPr>
          <a:xfrm>
            <a:off x="750478" y="838517"/>
            <a:ext cx="4526280" cy="600164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200" dirty="0"/>
              <a:t>apiVersion: leaderworkerset.x-k8s.io/v1</a:t>
            </a:r>
          </a:p>
          <a:p>
            <a:r>
              <a:rPr lang="zh-CN" altLang="en-US" sz="1200" dirty="0"/>
              <a:t>kind: LeaderWorkerSet</a:t>
            </a:r>
          </a:p>
          <a:p>
            <a:r>
              <a:rPr lang="zh-CN" altLang="en-US" sz="1200" dirty="0"/>
              <a:t>metadata:</a:t>
            </a:r>
          </a:p>
          <a:p>
            <a:r>
              <a:rPr lang="zh-CN" altLang="en-US" sz="1200" dirty="0"/>
              <a:t>  name: sglang</a:t>
            </a:r>
          </a:p>
          <a:p>
            <a:r>
              <a:rPr lang="zh-CN" altLang="en-US" sz="1200" dirty="0"/>
              <a:t>spec:</a:t>
            </a:r>
          </a:p>
          <a:p>
            <a:r>
              <a:rPr lang="zh-CN" altLang="en-US" sz="1200" dirty="0"/>
              <a:t>  replicas: 2</a:t>
            </a:r>
          </a:p>
          <a:p>
            <a:r>
              <a:rPr lang="zh-CN" altLang="en-US" sz="1200" dirty="0"/>
              <a:t>  leaderWorkerTemplate:</a:t>
            </a:r>
          </a:p>
          <a:p>
            <a:r>
              <a:rPr lang="zh-CN" altLang="en-US" sz="1200" dirty="0"/>
              <a:t>    size: 2</a:t>
            </a:r>
          </a:p>
          <a:p>
            <a:r>
              <a:rPr lang="zh-CN" altLang="en-US" sz="1200" dirty="0"/>
              <a:t>    leaderTemplate:</a:t>
            </a:r>
          </a:p>
          <a:p>
            <a:r>
              <a:rPr lang="zh-CN" altLang="en-US" sz="1200" dirty="0"/>
              <a:t>      spec:</a:t>
            </a:r>
          </a:p>
          <a:p>
            <a:r>
              <a:rPr lang="zh-CN" altLang="en-US" sz="1200" dirty="0"/>
              <a:t>        containers:</a:t>
            </a:r>
          </a:p>
          <a:p>
            <a:r>
              <a:rPr lang="zh-CN" altLang="en-US" sz="1200" dirty="0"/>
              <a:t>          - name: sglang-leader</a:t>
            </a:r>
          </a:p>
          <a:p>
            <a:r>
              <a:rPr lang="zh-CN" altLang="en-US" sz="1200" dirty="0"/>
              <a:t>            image: lmsysorg/sglang:latest</a:t>
            </a:r>
          </a:p>
          <a:p>
            <a:r>
              <a:rPr lang="zh-CN" altLang="en-US" sz="1200" dirty="0"/>
              <a:t>            command:</a:t>
            </a:r>
          </a:p>
          <a:p>
            <a:r>
              <a:rPr lang="zh-CN" altLang="en-US" sz="1200" dirty="0"/>
              <a:t>              - python3</a:t>
            </a:r>
          </a:p>
          <a:p>
            <a:r>
              <a:rPr lang="zh-CN" altLang="en-US" sz="1200" dirty="0"/>
              <a:t>              - -m</a:t>
            </a:r>
          </a:p>
          <a:p>
            <a:r>
              <a:rPr lang="zh-CN" altLang="en-US" sz="1200" dirty="0"/>
              <a:t>              - sglang.launch_server</a:t>
            </a:r>
          </a:p>
          <a:p>
            <a:r>
              <a:rPr lang="zh-CN" altLang="en-US" sz="1200" dirty="0"/>
              <a:t>              - --model-path</a:t>
            </a:r>
          </a:p>
          <a:p>
            <a:r>
              <a:rPr lang="zh-CN" altLang="en-US" sz="1200" dirty="0"/>
              <a:t>              - meta-llama/Meta-Llama-3.1-8B-Instruct</a:t>
            </a:r>
          </a:p>
          <a:p>
            <a:r>
              <a:rPr lang="zh-CN" altLang="en-US" sz="1200" dirty="0"/>
              <a:t>              - --tp</a:t>
            </a:r>
          </a:p>
          <a:p>
            <a:r>
              <a:rPr lang="zh-CN" altLang="en-US" sz="1200" dirty="0"/>
              <a:t>              - "2" # Size of Tensor Parallelism</a:t>
            </a:r>
          </a:p>
          <a:p>
            <a:r>
              <a:rPr lang="zh-CN" altLang="en-US" sz="1200" dirty="0"/>
              <a:t>              - --dist-init-addr</a:t>
            </a:r>
          </a:p>
          <a:p>
            <a:r>
              <a:rPr lang="zh-CN" altLang="en-US" sz="1200" b="1" dirty="0">
                <a:solidFill>
                  <a:schemeClr val="accent1"/>
                </a:solidFill>
              </a:rPr>
              <a:t>              - $(LWS_LEADER_ADDRESS):20000</a:t>
            </a:r>
          </a:p>
          <a:p>
            <a:r>
              <a:rPr lang="zh-CN" altLang="en-US" sz="1200" dirty="0"/>
              <a:t>              - --nnodes</a:t>
            </a:r>
          </a:p>
          <a:p>
            <a:r>
              <a:rPr lang="zh-CN" altLang="en-US" sz="1200" b="1" dirty="0">
                <a:solidFill>
                  <a:schemeClr val="accent1"/>
                </a:solidFill>
              </a:rPr>
              <a:t>              - $(LWS_GROUP_SIZE)</a:t>
            </a:r>
          </a:p>
          <a:p>
            <a:r>
              <a:rPr lang="zh-CN" altLang="en-US" sz="1200" dirty="0"/>
              <a:t>              - --node-rank</a:t>
            </a:r>
          </a:p>
          <a:p>
            <a:r>
              <a:rPr lang="zh-CN" altLang="en-US" sz="1200" b="1" dirty="0">
                <a:solidFill>
                  <a:schemeClr val="accent1"/>
                </a:solidFill>
              </a:rPr>
              <a:t>              - $(LWS_WORKER_INDEX)</a:t>
            </a:r>
          </a:p>
          <a:p>
            <a:r>
              <a:rPr lang="zh-CN" altLang="en-US" sz="1200" dirty="0"/>
              <a:t>              - --trust-remote-code</a:t>
            </a:r>
          </a:p>
          <a:p>
            <a:r>
              <a:rPr lang="zh-CN" altLang="en-US" sz="1200" dirty="0"/>
              <a:t>              - --host</a:t>
            </a:r>
          </a:p>
          <a:p>
            <a:r>
              <a:rPr lang="zh-CN" altLang="en-US" sz="1200" dirty="0"/>
              <a:t>              - "0.0.0.0"</a:t>
            </a:r>
          </a:p>
          <a:p>
            <a:r>
              <a:rPr lang="zh-CN" altLang="en-US" sz="1200" dirty="0"/>
              <a:t>              - --port</a:t>
            </a:r>
          </a:p>
          <a:p>
            <a:r>
              <a:rPr lang="zh-CN" altLang="en-US" sz="1200" dirty="0"/>
              <a:t>              - "40000"</a:t>
            </a:r>
          </a:p>
        </p:txBody>
      </p:sp>
      <p:sp>
        <p:nvSpPr>
          <p:cNvPr id="8" name="文本框 7">
            <a:extLst>
              <a:ext uri="{FF2B5EF4-FFF2-40B4-BE49-F238E27FC236}">
                <a16:creationId xmlns:a16="http://schemas.microsoft.com/office/drawing/2014/main" id="{2AE87444-8782-E656-42A0-ACE43B910AC4}"/>
              </a:ext>
            </a:extLst>
          </p:cNvPr>
          <p:cNvSpPr txBox="1"/>
          <p:nvPr/>
        </p:nvSpPr>
        <p:spPr>
          <a:xfrm>
            <a:off x="5830972" y="885600"/>
            <a:ext cx="6095256" cy="378565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200" dirty="0"/>
              <a:t> workerTemplate:</a:t>
            </a:r>
          </a:p>
          <a:p>
            <a:r>
              <a:rPr lang="zh-CN" altLang="en-US" sz="1200" dirty="0"/>
              <a:t>      spec:</a:t>
            </a:r>
          </a:p>
          <a:p>
            <a:r>
              <a:rPr lang="zh-CN" altLang="en-US" sz="1200" dirty="0"/>
              <a:t>        containers:</a:t>
            </a:r>
          </a:p>
          <a:p>
            <a:r>
              <a:rPr lang="zh-CN" altLang="en-US" sz="1200" dirty="0"/>
              <a:t>          - name: sglang-worker</a:t>
            </a:r>
          </a:p>
          <a:p>
            <a:r>
              <a:rPr lang="zh-CN" altLang="en-US" sz="1200" dirty="0"/>
              <a:t>            image: lmsysorg/sglang:latest</a:t>
            </a:r>
          </a:p>
          <a:p>
            <a:r>
              <a:rPr lang="zh-CN" altLang="en-US" sz="1200" dirty="0"/>
              <a:t>            command:</a:t>
            </a:r>
          </a:p>
          <a:p>
            <a:r>
              <a:rPr lang="zh-CN" altLang="en-US" sz="1200" dirty="0"/>
              <a:t>              - python3</a:t>
            </a:r>
          </a:p>
          <a:p>
            <a:r>
              <a:rPr lang="zh-CN" altLang="en-US" sz="1200" dirty="0"/>
              <a:t>              - -m</a:t>
            </a:r>
          </a:p>
          <a:p>
            <a:r>
              <a:rPr lang="zh-CN" altLang="en-US" sz="1200" dirty="0"/>
              <a:t>              - sglang.launch_server</a:t>
            </a:r>
          </a:p>
          <a:p>
            <a:r>
              <a:rPr lang="zh-CN" altLang="en-US" sz="1200" dirty="0"/>
              <a:t>              - --model-path</a:t>
            </a:r>
          </a:p>
          <a:p>
            <a:r>
              <a:rPr lang="zh-CN" altLang="en-US" sz="1200" dirty="0"/>
              <a:t>              - meta-llama/Meta-Llama-3.1-8B-Instruct</a:t>
            </a:r>
          </a:p>
          <a:p>
            <a:r>
              <a:rPr lang="zh-CN" altLang="en-US" sz="1200" dirty="0"/>
              <a:t>              - --tp</a:t>
            </a:r>
          </a:p>
          <a:p>
            <a:r>
              <a:rPr lang="zh-CN" altLang="en-US" sz="1200" dirty="0"/>
              <a:t>              - "2" # Size of Tensor Parallelism</a:t>
            </a:r>
          </a:p>
          <a:p>
            <a:r>
              <a:rPr lang="zh-CN" altLang="en-US" sz="1200" dirty="0"/>
              <a:t>              - --dist-init-addr</a:t>
            </a:r>
          </a:p>
          <a:p>
            <a:r>
              <a:rPr lang="zh-CN" altLang="en-US" sz="1200" b="1" dirty="0">
                <a:solidFill>
                  <a:schemeClr val="accent1"/>
                </a:solidFill>
              </a:rPr>
              <a:t>              - $(LWS_LEADER_ADDRESS):20000</a:t>
            </a:r>
          </a:p>
          <a:p>
            <a:r>
              <a:rPr lang="zh-CN" altLang="en-US" sz="1200" dirty="0"/>
              <a:t>              - --nnodes</a:t>
            </a:r>
          </a:p>
          <a:p>
            <a:r>
              <a:rPr lang="zh-CN" altLang="en-US" sz="1200" b="1" dirty="0">
                <a:solidFill>
                  <a:schemeClr val="accent1"/>
                </a:solidFill>
              </a:rPr>
              <a:t>              - $(LWS_GROUP_SIZE)</a:t>
            </a:r>
          </a:p>
          <a:p>
            <a:r>
              <a:rPr lang="zh-CN" altLang="en-US" sz="1200" dirty="0"/>
              <a:t>              - --node-rank</a:t>
            </a:r>
          </a:p>
          <a:p>
            <a:r>
              <a:rPr lang="zh-CN" altLang="en-US" sz="1200" b="1" dirty="0">
                <a:solidFill>
                  <a:schemeClr val="accent1"/>
                </a:solidFill>
              </a:rPr>
              <a:t>              - $(LWS_WORKER_INDEX)</a:t>
            </a:r>
          </a:p>
          <a:p>
            <a:r>
              <a:rPr lang="zh-CN" altLang="en-US" sz="1200" dirty="0"/>
              <a:t>              - --trust-remote-code</a:t>
            </a:r>
          </a:p>
        </p:txBody>
      </p:sp>
    </p:spTree>
    <p:extLst>
      <p:ext uri="{BB962C8B-B14F-4D97-AF65-F5344CB8AC3E}">
        <p14:creationId xmlns:p14="http://schemas.microsoft.com/office/powerpoint/2010/main" val="891423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C0128-3907-A7D8-5308-B6B3B8783D0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DFE9D87-343C-521F-9D9E-7458EA67DE48}"/>
              </a:ext>
            </a:extLst>
          </p:cNvPr>
          <p:cNvSpPr>
            <a:spLocks noGrp="1"/>
          </p:cNvSpPr>
          <p:nvPr>
            <p:ph type="title"/>
          </p:nvPr>
        </p:nvSpPr>
        <p:spPr/>
        <p:txBody>
          <a:bodyPr/>
          <a:lstStyle/>
          <a:p>
            <a:r>
              <a:rPr lang="en-US" altLang="zh-CN" dirty="0"/>
              <a:t>Auto Scale with HPA</a:t>
            </a:r>
            <a:endParaRPr lang="zh-CN" altLang="en-US" dirty="0"/>
          </a:p>
        </p:txBody>
      </p:sp>
      <p:pic>
        <p:nvPicPr>
          <p:cNvPr id="8194" name="Picture 2" descr="Figure 1 – This is the high-level architecture diagram of what you will be provisioning in this blog to deploy the Llama3.1-405B model across multiple P5.48xlarge EC2 instances.">
            <a:extLst>
              <a:ext uri="{FF2B5EF4-FFF2-40B4-BE49-F238E27FC236}">
                <a16:creationId xmlns:a16="http://schemas.microsoft.com/office/drawing/2014/main" id="{984DCDC9-6F97-3623-73C2-F1683B1E9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3500" y="259452"/>
            <a:ext cx="7523339" cy="3982472"/>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descr="图示&#10;&#10;AI 生成的内容可能不正确。">
            <a:extLst>
              <a:ext uri="{FF2B5EF4-FFF2-40B4-BE49-F238E27FC236}">
                <a16:creationId xmlns:a16="http://schemas.microsoft.com/office/drawing/2014/main" id="{B4290F82-F8D9-2455-5A2F-71EA3A20ED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4093" y="4380199"/>
            <a:ext cx="6632746" cy="2017729"/>
          </a:xfrm>
          <a:prstGeom prst="rect">
            <a:avLst/>
          </a:prstGeom>
        </p:spPr>
      </p:pic>
      <p:sp>
        <p:nvSpPr>
          <p:cNvPr id="9" name="文本框 8">
            <a:extLst>
              <a:ext uri="{FF2B5EF4-FFF2-40B4-BE49-F238E27FC236}">
                <a16:creationId xmlns:a16="http://schemas.microsoft.com/office/drawing/2014/main" id="{010D8103-C316-BC70-5EAB-98F7023CE3E2}"/>
              </a:ext>
            </a:extLst>
          </p:cNvPr>
          <p:cNvSpPr txBox="1"/>
          <p:nvPr/>
        </p:nvSpPr>
        <p:spPr>
          <a:xfrm>
            <a:off x="660400" y="1277570"/>
            <a:ext cx="3442381" cy="923330"/>
          </a:xfrm>
          <a:prstGeom prst="rect">
            <a:avLst/>
          </a:prstGeom>
          <a:noFill/>
        </p:spPr>
        <p:txBody>
          <a:bodyPr wrap="square">
            <a:spAutoFit/>
          </a:bodyPr>
          <a:lstStyle/>
          <a:p>
            <a:r>
              <a:rPr lang="zh-CN" altLang="en-US" b="0" i="0" dirty="0">
                <a:solidFill>
                  <a:srgbClr val="1F2328"/>
                </a:solidFill>
                <a:effectLst/>
                <a:latin typeface="-apple-system"/>
              </a:rPr>
              <a:t>可以与 </a:t>
            </a:r>
            <a:r>
              <a:rPr lang="en-US" altLang="zh-CN" b="0" i="0" dirty="0">
                <a:solidFill>
                  <a:srgbClr val="1F2328"/>
                </a:solidFill>
                <a:effectLst/>
                <a:latin typeface="-apple-system"/>
              </a:rPr>
              <a:t>k8s HPA </a:t>
            </a:r>
            <a:r>
              <a:rPr lang="zh-CN" altLang="en-US" b="0" i="0" dirty="0">
                <a:solidFill>
                  <a:srgbClr val="1F2328"/>
                </a:solidFill>
                <a:effectLst/>
                <a:latin typeface="-apple-system"/>
              </a:rPr>
              <a:t>无缝对接，将 </a:t>
            </a:r>
            <a:r>
              <a:rPr lang="en-US" altLang="zh-CN" b="0" i="0" dirty="0">
                <a:solidFill>
                  <a:srgbClr val="1F2328"/>
                </a:solidFill>
                <a:effectLst/>
                <a:latin typeface="-apple-system"/>
              </a:rPr>
              <a:t>LWS </a:t>
            </a:r>
            <a:r>
              <a:rPr lang="zh-CN" altLang="en-US" b="0" i="0" dirty="0">
                <a:solidFill>
                  <a:srgbClr val="1F2328"/>
                </a:solidFill>
                <a:effectLst/>
                <a:latin typeface="-apple-system"/>
              </a:rPr>
              <a:t>作为</a:t>
            </a:r>
            <a:r>
              <a:rPr lang="en-US" altLang="zh-CN" b="0" i="0" dirty="0">
                <a:solidFill>
                  <a:srgbClr val="1F2328"/>
                </a:solidFill>
                <a:effectLst/>
                <a:latin typeface="-apple-system"/>
              </a:rPr>
              <a:t>HPA </a:t>
            </a:r>
            <a:r>
              <a:rPr lang="zh-CN" altLang="en-US" b="0" i="0" dirty="0">
                <a:solidFill>
                  <a:srgbClr val="1F2328"/>
                </a:solidFill>
                <a:effectLst/>
                <a:latin typeface="-apple-system"/>
              </a:rPr>
              <a:t>扩容的</a:t>
            </a:r>
            <a:r>
              <a:rPr lang="en-US" altLang="zh-CN" b="0" i="0" dirty="0">
                <a:solidFill>
                  <a:srgbClr val="1F2328"/>
                </a:solidFill>
                <a:effectLst/>
                <a:latin typeface="-apple-system"/>
              </a:rPr>
              <a:t>Target</a:t>
            </a:r>
            <a:r>
              <a:rPr lang="zh-CN" altLang="en-US" b="0" i="0" dirty="0">
                <a:solidFill>
                  <a:srgbClr val="1F2328"/>
                </a:solidFill>
                <a:effectLst/>
                <a:latin typeface="-apple-system"/>
              </a:rPr>
              <a:t>，实现推理服务整组扩容</a:t>
            </a:r>
            <a:endParaRPr lang="zh-CN" altLang="en-US" dirty="0"/>
          </a:p>
        </p:txBody>
      </p:sp>
    </p:spTree>
    <p:extLst>
      <p:ext uri="{BB962C8B-B14F-4D97-AF65-F5344CB8AC3E}">
        <p14:creationId xmlns:p14="http://schemas.microsoft.com/office/powerpoint/2010/main" val="1951178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3A19B-F8D3-6173-42AF-3D814B040F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09B1497-13C2-9235-D486-A8754DE3AC88}"/>
              </a:ext>
            </a:extLst>
          </p:cNvPr>
          <p:cNvSpPr>
            <a:spLocks noGrp="1"/>
          </p:cNvSpPr>
          <p:nvPr>
            <p:ph type="title"/>
          </p:nvPr>
        </p:nvSpPr>
        <p:spPr/>
        <p:txBody>
          <a:bodyPr/>
          <a:lstStyle/>
          <a:p>
            <a:r>
              <a:rPr lang="en-US" altLang="zh-CN" dirty="0"/>
              <a:t>LLM autoscaling: GPU Metrics vs LLM Merics </a:t>
            </a:r>
            <a:endParaRPr lang="zh-CN" altLang="en-US" dirty="0"/>
          </a:p>
        </p:txBody>
      </p:sp>
      <p:pic>
        <p:nvPicPr>
          <p:cNvPr id="5" name="图片 4">
            <a:extLst>
              <a:ext uri="{FF2B5EF4-FFF2-40B4-BE49-F238E27FC236}">
                <a16:creationId xmlns:a16="http://schemas.microsoft.com/office/drawing/2014/main" id="{EFEEFF85-CD68-B2AC-E40E-5E27148C7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0457" y="1966914"/>
            <a:ext cx="5215606" cy="2571751"/>
          </a:xfrm>
          <a:prstGeom prst="rect">
            <a:avLst/>
          </a:prstGeom>
        </p:spPr>
      </p:pic>
      <p:sp>
        <p:nvSpPr>
          <p:cNvPr id="8" name="文本框 7">
            <a:extLst>
              <a:ext uri="{FF2B5EF4-FFF2-40B4-BE49-F238E27FC236}">
                <a16:creationId xmlns:a16="http://schemas.microsoft.com/office/drawing/2014/main" id="{BFEF5CB2-9BD6-F7BF-9D9A-A5B94CD7790D}"/>
              </a:ext>
            </a:extLst>
          </p:cNvPr>
          <p:cNvSpPr txBox="1"/>
          <p:nvPr/>
        </p:nvSpPr>
        <p:spPr>
          <a:xfrm>
            <a:off x="614363" y="1486972"/>
            <a:ext cx="6096000" cy="3416320"/>
          </a:xfrm>
          <a:prstGeom prst="rect">
            <a:avLst/>
          </a:prstGeom>
          <a:noFill/>
        </p:spPr>
        <p:txBody>
          <a:bodyPr wrap="square">
            <a:spAutoFit/>
          </a:bodyPr>
          <a:lstStyle/>
          <a:p>
            <a:pPr marL="285750" indent="-285750">
              <a:buFont typeface="Arial" panose="020B0604020202020204" pitchFamily="34" charset="0"/>
              <a:buChar char="•"/>
            </a:pPr>
            <a:r>
              <a:rPr lang="en-US" altLang="zh-CN" dirty="0"/>
              <a:t>Lot of GPU utilization metrics available</a:t>
            </a:r>
          </a:p>
          <a:p>
            <a:pPr marL="742950" lvl="1" indent="-285750">
              <a:buFont typeface="Arial" panose="020B0604020202020204" pitchFamily="34" charset="0"/>
              <a:buChar char="•"/>
            </a:pPr>
            <a:r>
              <a:rPr lang="en-US" altLang="zh-CN" dirty="0"/>
              <a:t>Duty cycle</a:t>
            </a:r>
          </a:p>
          <a:p>
            <a:pPr marL="742950" lvl="1" indent="-285750">
              <a:buFont typeface="Arial" panose="020B0604020202020204" pitchFamily="34" charset="0"/>
              <a:buChar char="•"/>
            </a:pPr>
            <a:r>
              <a:rPr lang="en-US" altLang="zh-CN" dirty="0"/>
              <a:t>Power usage</a:t>
            </a:r>
          </a:p>
          <a:p>
            <a:pPr marL="742950" lvl="1" indent="-285750">
              <a:buFont typeface="Arial" panose="020B0604020202020204" pitchFamily="34" charset="0"/>
              <a:buChar char="•"/>
            </a:pPr>
            <a:r>
              <a:rPr lang="en-US" altLang="zh-CN" dirty="0"/>
              <a:t>Memory bandwidth usage</a:t>
            </a:r>
          </a:p>
          <a:p>
            <a:pPr marL="285750" indent="-285750">
              <a:buFont typeface="Arial" panose="020B0604020202020204" pitchFamily="34" charset="0"/>
              <a:buChar char="•"/>
            </a:pPr>
            <a:r>
              <a:rPr lang="en-US" altLang="zh-CN" dirty="0"/>
              <a:t>LLM inference bottlenecks make it not so viable for autoscaling</a:t>
            </a:r>
          </a:p>
          <a:p>
            <a:pPr marL="285750" indent="-285750">
              <a:buFont typeface="Arial" panose="020B0604020202020204" pitchFamily="34" charset="0"/>
              <a:buChar char="•"/>
            </a:pPr>
            <a:endParaRPr lang="en-US" altLang="zh-CN" b="1" dirty="0"/>
          </a:p>
          <a:p>
            <a:pPr marL="285750" indent="-285750">
              <a:buFont typeface="Arial" panose="020B0604020202020204" pitchFamily="34" charset="0"/>
              <a:buChar char="•"/>
            </a:pPr>
            <a:r>
              <a:rPr lang="en-US" altLang="zh-CN" b="1" dirty="0"/>
              <a:t>Recommends:</a:t>
            </a:r>
          </a:p>
          <a:p>
            <a:pPr marL="742950" lvl="1" indent="-285750">
              <a:buFont typeface="Arial" panose="020B0604020202020204" pitchFamily="34" charset="0"/>
              <a:buChar char="•"/>
            </a:pPr>
            <a:r>
              <a:rPr lang="en-US" altLang="zh-CN" dirty="0"/>
              <a:t>queue size </a:t>
            </a:r>
          </a:p>
          <a:p>
            <a:pPr marL="742950" lvl="1" indent="-285750">
              <a:buFont typeface="Arial" panose="020B0604020202020204" pitchFamily="34" charset="0"/>
              <a:buChar char="•"/>
            </a:pPr>
            <a:r>
              <a:rPr lang="en-US" altLang="zh-CN" dirty="0"/>
              <a:t>batch size</a:t>
            </a:r>
          </a:p>
          <a:p>
            <a:pPr marL="742950" lvl="1" indent="-285750">
              <a:buFont typeface="Arial" panose="020B0604020202020204" pitchFamily="34" charset="0"/>
              <a:buChar char="•"/>
            </a:pPr>
            <a:r>
              <a:rPr lang="en-US" altLang="zh-CN" dirty="0"/>
              <a:t>KV cache usage percentage</a:t>
            </a:r>
            <a:endParaRPr lang="en-US" altLang="zh-CN" b="1" dirty="0"/>
          </a:p>
          <a:p>
            <a:pPr marL="285750" indent="-285750">
              <a:buFont typeface="Arial" panose="020B0604020202020204" pitchFamily="34" charset="0"/>
              <a:buChar char="•"/>
            </a:pPr>
            <a:endParaRPr lang="en-US" altLang="zh-CN" b="1" dirty="0"/>
          </a:p>
        </p:txBody>
      </p:sp>
    </p:spTree>
    <p:extLst>
      <p:ext uri="{BB962C8B-B14F-4D97-AF65-F5344CB8AC3E}">
        <p14:creationId xmlns:p14="http://schemas.microsoft.com/office/powerpoint/2010/main" val="2563340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624AA-B35A-DC00-D0F5-E3C5239629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52589B5-3E8D-7D45-457B-935A812E9B95}"/>
              </a:ext>
            </a:extLst>
          </p:cNvPr>
          <p:cNvSpPr>
            <a:spLocks noGrp="1"/>
          </p:cNvSpPr>
          <p:nvPr>
            <p:ph type="title"/>
          </p:nvPr>
        </p:nvSpPr>
        <p:spPr/>
        <p:txBody>
          <a:bodyPr/>
          <a:lstStyle/>
          <a:p>
            <a:r>
              <a:rPr lang="en-US" altLang="zh-CN" dirty="0"/>
              <a:t>Failure Handling </a:t>
            </a:r>
            <a:endParaRPr lang="zh-CN" altLang="en-US" dirty="0"/>
          </a:p>
        </p:txBody>
      </p:sp>
      <p:sp>
        <p:nvSpPr>
          <p:cNvPr id="4" name="文本框 3">
            <a:extLst>
              <a:ext uri="{FF2B5EF4-FFF2-40B4-BE49-F238E27FC236}">
                <a16:creationId xmlns:a16="http://schemas.microsoft.com/office/drawing/2014/main" id="{CB93B58A-C7EA-154C-236C-E682EBE625CA}"/>
              </a:ext>
            </a:extLst>
          </p:cNvPr>
          <p:cNvSpPr txBox="1"/>
          <p:nvPr/>
        </p:nvSpPr>
        <p:spPr>
          <a:xfrm>
            <a:off x="660400" y="1309597"/>
            <a:ext cx="9923471" cy="923330"/>
          </a:xfrm>
          <a:prstGeom prst="rect">
            <a:avLst/>
          </a:prstGeom>
          <a:noFill/>
        </p:spPr>
        <p:txBody>
          <a:bodyPr wrap="square">
            <a:spAutoFit/>
          </a:bodyPr>
          <a:lstStyle/>
          <a:p>
            <a:r>
              <a:rPr lang="en-US" altLang="zh-CN" dirty="0"/>
              <a:t>Any pod/container restarts in a single serving replica will require the entire replica to be restarted. (group restart) This is because the distributed inference workloads need to </a:t>
            </a:r>
            <a:r>
              <a:rPr lang="en-US" altLang="zh-CN" b="1" dirty="0"/>
              <a:t>be re-initiated </a:t>
            </a:r>
            <a:r>
              <a:rPr lang="en-US" altLang="zh-CN" dirty="0"/>
              <a:t>when any program on different pod in the same group is restarted. </a:t>
            </a:r>
            <a:endParaRPr lang="zh-CN" altLang="en-US" dirty="0"/>
          </a:p>
        </p:txBody>
      </p:sp>
      <p:pic>
        <p:nvPicPr>
          <p:cNvPr id="5" name="图片 4">
            <a:extLst>
              <a:ext uri="{FF2B5EF4-FFF2-40B4-BE49-F238E27FC236}">
                <a16:creationId xmlns:a16="http://schemas.microsoft.com/office/drawing/2014/main" id="{6C2275DF-7DFB-C786-2F8F-ECA990B6B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 y="2624276"/>
            <a:ext cx="11971020" cy="4001596"/>
          </a:xfrm>
          <a:prstGeom prst="rect">
            <a:avLst/>
          </a:prstGeom>
        </p:spPr>
      </p:pic>
    </p:spTree>
    <p:extLst>
      <p:ext uri="{BB962C8B-B14F-4D97-AF65-F5344CB8AC3E}">
        <p14:creationId xmlns:p14="http://schemas.microsoft.com/office/powerpoint/2010/main" val="750119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F1E11-E0B8-0652-293B-89B7353B004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5B39E0A-5D3F-028C-39A8-C2D9EB6800B3}"/>
              </a:ext>
            </a:extLst>
          </p:cNvPr>
          <p:cNvSpPr>
            <a:spLocks noGrp="1"/>
          </p:cNvSpPr>
          <p:nvPr>
            <p:ph type="title"/>
          </p:nvPr>
        </p:nvSpPr>
        <p:spPr/>
        <p:txBody>
          <a:bodyPr/>
          <a:lstStyle/>
          <a:p>
            <a:r>
              <a:rPr lang="en-US" altLang="zh-CN" dirty="0"/>
              <a:t>Topology aware scheduling</a:t>
            </a:r>
            <a:endParaRPr lang="zh-CN" altLang="en-US" dirty="0"/>
          </a:p>
        </p:txBody>
      </p:sp>
      <p:pic>
        <p:nvPicPr>
          <p:cNvPr id="5" name="图片 4">
            <a:extLst>
              <a:ext uri="{FF2B5EF4-FFF2-40B4-BE49-F238E27FC236}">
                <a16:creationId xmlns:a16="http://schemas.microsoft.com/office/drawing/2014/main" id="{C12FB04A-93CD-96C5-59EA-153C0FD3C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13" y="3190432"/>
            <a:ext cx="7783551" cy="3009338"/>
          </a:xfrm>
          <a:prstGeom prst="rect">
            <a:avLst/>
          </a:prstGeom>
        </p:spPr>
      </p:pic>
      <p:sp>
        <p:nvSpPr>
          <p:cNvPr id="7" name="文本框 6">
            <a:extLst>
              <a:ext uri="{FF2B5EF4-FFF2-40B4-BE49-F238E27FC236}">
                <a16:creationId xmlns:a16="http://schemas.microsoft.com/office/drawing/2014/main" id="{BCAFBE0B-314A-395E-1ECC-65D68DBA404E}"/>
              </a:ext>
            </a:extLst>
          </p:cNvPr>
          <p:cNvSpPr txBox="1"/>
          <p:nvPr/>
        </p:nvSpPr>
        <p:spPr>
          <a:xfrm>
            <a:off x="567596" y="1188267"/>
            <a:ext cx="8255249" cy="1200329"/>
          </a:xfrm>
          <a:prstGeom prst="rect">
            <a:avLst/>
          </a:prstGeom>
          <a:noFill/>
        </p:spPr>
        <p:txBody>
          <a:bodyPr wrap="square">
            <a:spAutoFit/>
          </a:bodyPr>
          <a:lstStyle/>
          <a:p>
            <a:r>
              <a:rPr lang="en-US" altLang="zh-CN" dirty="0"/>
              <a:t>One pod group/replica will be exclusively scheduled to one topology domain. </a:t>
            </a:r>
          </a:p>
          <a:p>
            <a:pPr marL="285750" indent="-285750">
              <a:buFont typeface="Arial" panose="020B0604020202020204" pitchFamily="34" charset="0"/>
              <a:buChar char="•"/>
            </a:pPr>
            <a:r>
              <a:rPr lang="en-US" altLang="zh-CN" dirty="0"/>
              <a:t>One pod group is a single multi-host serving instance </a:t>
            </a:r>
          </a:p>
          <a:p>
            <a:pPr marL="285750" indent="-285750">
              <a:buFont typeface="Arial" panose="020B0604020202020204" pitchFamily="34" charset="0"/>
              <a:buChar char="•"/>
            </a:pPr>
            <a:r>
              <a:rPr lang="en-US" altLang="zh-CN" dirty="0"/>
              <a:t>A topology domain here is a group of nodes that share the same node label which categorize them to be the same group</a:t>
            </a:r>
            <a:endParaRPr lang="zh-CN" altLang="en-US" dirty="0"/>
          </a:p>
        </p:txBody>
      </p:sp>
      <p:sp>
        <p:nvSpPr>
          <p:cNvPr id="9" name="文本框 8">
            <a:extLst>
              <a:ext uri="{FF2B5EF4-FFF2-40B4-BE49-F238E27FC236}">
                <a16:creationId xmlns:a16="http://schemas.microsoft.com/office/drawing/2014/main" id="{22645FA1-E1EE-84BC-9E2D-B0C75546A33A}"/>
              </a:ext>
            </a:extLst>
          </p:cNvPr>
          <p:cNvSpPr txBox="1"/>
          <p:nvPr/>
        </p:nvSpPr>
        <p:spPr>
          <a:xfrm>
            <a:off x="7641931" y="3525787"/>
            <a:ext cx="4606569" cy="161582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100" dirty="0" err="1"/>
              <a:t>apiVersion</a:t>
            </a:r>
            <a:r>
              <a:rPr lang="en-US" altLang="zh-CN" sz="1100" dirty="0"/>
              <a:t>: leaderworkerset.x-k8s.io/v1</a:t>
            </a:r>
          </a:p>
          <a:p>
            <a:r>
              <a:rPr lang="en-US" altLang="zh-CN" sz="1100" dirty="0"/>
              <a:t>kind: </a:t>
            </a:r>
            <a:r>
              <a:rPr lang="en-US" altLang="zh-CN" sz="1100" dirty="0" err="1"/>
              <a:t>LeaderWorkerSet</a:t>
            </a:r>
            <a:endParaRPr lang="en-US" altLang="zh-CN" sz="1100" dirty="0"/>
          </a:p>
          <a:p>
            <a:r>
              <a:rPr lang="en-US" altLang="zh-CN" sz="1100" dirty="0"/>
              <a:t>metadata:</a:t>
            </a:r>
          </a:p>
          <a:p>
            <a:r>
              <a:rPr lang="en-US" altLang="zh-CN" sz="1100" dirty="0"/>
              <a:t>  annotations:</a:t>
            </a:r>
          </a:p>
          <a:p>
            <a:r>
              <a:rPr lang="en-US" altLang="zh-CN" sz="1100" dirty="0"/>
              <a:t>    leaderworkerset.sigs.k8s.io/exclusive-topology: google.com/node-pool</a:t>
            </a:r>
          </a:p>
          <a:p>
            <a:r>
              <a:rPr lang="en-US" altLang="zh-CN" sz="1100" dirty="0"/>
              <a:t>  name: multi-node-inference</a:t>
            </a:r>
          </a:p>
          <a:p>
            <a:r>
              <a:rPr lang="en-US" altLang="zh-CN" sz="1100" dirty="0"/>
              <a:t>  spec:</a:t>
            </a:r>
          </a:p>
          <a:p>
            <a:r>
              <a:rPr lang="en-US" altLang="zh-CN" sz="1100" dirty="0"/>
              <a:t>  ...</a:t>
            </a:r>
            <a:endParaRPr lang="zh-CN" altLang="en-US" sz="1100" dirty="0"/>
          </a:p>
        </p:txBody>
      </p:sp>
    </p:spTree>
    <p:extLst>
      <p:ext uri="{BB962C8B-B14F-4D97-AF65-F5344CB8AC3E}">
        <p14:creationId xmlns:p14="http://schemas.microsoft.com/office/powerpoint/2010/main" val="4139402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9B947-1E6E-5AC4-F04D-E392293C4ED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8B7C8B9-5676-4A19-519B-A163E510916B}"/>
              </a:ext>
            </a:extLst>
          </p:cNvPr>
          <p:cNvSpPr>
            <a:spLocks noGrp="1"/>
          </p:cNvSpPr>
          <p:nvPr>
            <p:ph type="title"/>
          </p:nvPr>
        </p:nvSpPr>
        <p:spPr/>
        <p:txBody>
          <a:bodyPr/>
          <a:lstStyle/>
          <a:p>
            <a:r>
              <a:rPr lang="en-US" altLang="zh-CN" dirty="0"/>
              <a:t>Rolling update</a:t>
            </a:r>
            <a:endParaRPr lang="zh-CN" altLang="en-US" dirty="0"/>
          </a:p>
        </p:txBody>
      </p:sp>
      <p:sp>
        <p:nvSpPr>
          <p:cNvPr id="4" name="文本框 3">
            <a:extLst>
              <a:ext uri="{FF2B5EF4-FFF2-40B4-BE49-F238E27FC236}">
                <a16:creationId xmlns:a16="http://schemas.microsoft.com/office/drawing/2014/main" id="{6B402FE6-3D95-8582-7539-1C4C5E8D9286}"/>
              </a:ext>
            </a:extLst>
          </p:cNvPr>
          <p:cNvSpPr txBox="1"/>
          <p:nvPr/>
        </p:nvSpPr>
        <p:spPr>
          <a:xfrm>
            <a:off x="7793586" y="564693"/>
            <a:ext cx="4254191"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t>spec:</a:t>
            </a:r>
          </a:p>
          <a:p>
            <a:r>
              <a:rPr lang="en-US" altLang="zh-CN" dirty="0"/>
              <a:t>  </a:t>
            </a:r>
            <a:r>
              <a:rPr lang="en-US" altLang="zh-CN" dirty="0" err="1"/>
              <a:t>rolloutStrategy</a:t>
            </a:r>
            <a:r>
              <a:rPr lang="en-US" altLang="zh-CN" dirty="0"/>
              <a:t>:</a:t>
            </a:r>
          </a:p>
          <a:p>
            <a:r>
              <a:rPr lang="en-US" altLang="zh-CN" dirty="0"/>
              <a:t>    type: </a:t>
            </a:r>
            <a:r>
              <a:rPr lang="en-US" altLang="zh-CN" dirty="0" err="1"/>
              <a:t>RollingUpdate</a:t>
            </a:r>
            <a:endParaRPr lang="en-US" altLang="zh-CN" dirty="0"/>
          </a:p>
          <a:p>
            <a:r>
              <a:rPr lang="en-US" altLang="zh-CN" dirty="0"/>
              <a:t>    </a:t>
            </a:r>
            <a:r>
              <a:rPr lang="en-US" altLang="zh-CN" dirty="0" err="1"/>
              <a:t>rollingUpdateConfiguration</a:t>
            </a:r>
            <a:r>
              <a:rPr lang="en-US" altLang="zh-CN" dirty="0"/>
              <a:t>:</a:t>
            </a:r>
          </a:p>
          <a:p>
            <a:r>
              <a:rPr lang="en-US" altLang="zh-CN" dirty="0"/>
              <a:t>      </a:t>
            </a:r>
            <a:r>
              <a:rPr lang="en-US" altLang="zh-CN" dirty="0" err="1"/>
              <a:t>maxUnavailable</a:t>
            </a:r>
            <a:r>
              <a:rPr lang="en-US" altLang="zh-CN" dirty="0"/>
              <a:t>: 2</a:t>
            </a:r>
          </a:p>
          <a:p>
            <a:r>
              <a:rPr lang="en-US" altLang="zh-CN" dirty="0"/>
              <a:t>      </a:t>
            </a:r>
            <a:r>
              <a:rPr lang="en-US" altLang="zh-CN" dirty="0" err="1"/>
              <a:t>maxSurge</a:t>
            </a:r>
            <a:r>
              <a:rPr lang="en-US" altLang="zh-CN" dirty="0"/>
              <a:t>: 2</a:t>
            </a:r>
          </a:p>
          <a:p>
            <a:r>
              <a:rPr lang="en-US" altLang="zh-CN" dirty="0"/>
              <a:t>  replicas: 4</a:t>
            </a:r>
            <a:endParaRPr lang="zh-CN" altLang="en-US" dirty="0"/>
          </a:p>
        </p:txBody>
      </p:sp>
      <p:sp>
        <p:nvSpPr>
          <p:cNvPr id="8" name="文本框 7">
            <a:extLst>
              <a:ext uri="{FF2B5EF4-FFF2-40B4-BE49-F238E27FC236}">
                <a16:creationId xmlns:a16="http://schemas.microsoft.com/office/drawing/2014/main" id="{0DE8223D-B595-0453-D53B-26E9BB6F813B}"/>
              </a:ext>
            </a:extLst>
          </p:cNvPr>
          <p:cNvSpPr txBox="1"/>
          <p:nvPr/>
        </p:nvSpPr>
        <p:spPr>
          <a:xfrm>
            <a:off x="531044" y="1161053"/>
            <a:ext cx="6886745" cy="1200329"/>
          </a:xfrm>
          <a:prstGeom prst="rect">
            <a:avLst/>
          </a:prstGeom>
          <a:noFill/>
        </p:spPr>
        <p:txBody>
          <a:bodyPr wrap="square">
            <a:spAutoFit/>
          </a:bodyPr>
          <a:lstStyle/>
          <a:p>
            <a:r>
              <a:rPr lang="zh-CN" altLang="en-US" dirty="0"/>
              <a:t>Rolling update is vital to online services with zero downtime. For LLM inference services, this is particularly important, which helps to mitigate stockout. Two different configurations are supported in LWS, maxUnavailable and maxSurge:</a:t>
            </a:r>
          </a:p>
        </p:txBody>
      </p:sp>
      <p:graphicFrame>
        <p:nvGraphicFramePr>
          <p:cNvPr id="9" name="表格 8">
            <a:extLst>
              <a:ext uri="{FF2B5EF4-FFF2-40B4-BE49-F238E27FC236}">
                <a16:creationId xmlns:a16="http://schemas.microsoft.com/office/drawing/2014/main" id="{356F17BF-61A4-A57B-A360-8482633BDC1E}"/>
              </a:ext>
            </a:extLst>
          </p:cNvPr>
          <p:cNvGraphicFramePr>
            <a:graphicFrameLocks noGrp="1"/>
          </p:cNvGraphicFramePr>
          <p:nvPr>
            <p:extLst>
              <p:ext uri="{D42A27DB-BD31-4B8C-83A1-F6EECF244321}">
                <p14:modId xmlns:p14="http://schemas.microsoft.com/office/powerpoint/2010/main" val="4063407614"/>
              </p:ext>
            </p:extLst>
          </p:nvPr>
        </p:nvGraphicFramePr>
        <p:xfrm>
          <a:off x="856412" y="2735652"/>
          <a:ext cx="10301259" cy="3095110"/>
        </p:xfrm>
        <a:graphic>
          <a:graphicData uri="http://schemas.openxmlformats.org/drawingml/2006/table">
            <a:tbl>
              <a:tblPr/>
              <a:tblGrid>
                <a:gridCol w="1594808">
                  <a:extLst>
                    <a:ext uri="{9D8B030D-6E8A-4147-A177-3AD203B41FA5}">
                      <a16:colId xmlns:a16="http://schemas.microsoft.com/office/drawing/2014/main" val="3012045369"/>
                    </a:ext>
                  </a:extLst>
                </a:gridCol>
                <a:gridCol w="756000">
                  <a:extLst>
                    <a:ext uri="{9D8B030D-6E8A-4147-A177-3AD203B41FA5}">
                      <a16:colId xmlns:a16="http://schemas.microsoft.com/office/drawing/2014/main" val="2590149744"/>
                    </a:ext>
                  </a:extLst>
                </a:gridCol>
                <a:gridCol w="756000">
                  <a:extLst>
                    <a:ext uri="{9D8B030D-6E8A-4147-A177-3AD203B41FA5}">
                      <a16:colId xmlns:a16="http://schemas.microsoft.com/office/drawing/2014/main" val="2949256248"/>
                    </a:ext>
                  </a:extLst>
                </a:gridCol>
                <a:gridCol w="756000">
                  <a:extLst>
                    <a:ext uri="{9D8B030D-6E8A-4147-A177-3AD203B41FA5}">
                      <a16:colId xmlns:a16="http://schemas.microsoft.com/office/drawing/2014/main" val="3549740847"/>
                    </a:ext>
                  </a:extLst>
                </a:gridCol>
                <a:gridCol w="756000">
                  <a:extLst>
                    <a:ext uri="{9D8B030D-6E8A-4147-A177-3AD203B41FA5}">
                      <a16:colId xmlns:a16="http://schemas.microsoft.com/office/drawing/2014/main" val="2007938589"/>
                    </a:ext>
                  </a:extLst>
                </a:gridCol>
                <a:gridCol w="756000">
                  <a:extLst>
                    <a:ext uri="{9D8B030D-6E8A-4147-A177-3AD203B41FA5}">
                      <a16:colId xmlns:a16="http://schemas.microsoft.com/office/drawing/2014/main" val="2912209550"/>
                    </a:ext>
                  </a:extLst>
                </a:gridCol>
                <a:gridCol w="756000">
                  <a:extLst>
                    <a:ext uri="{9D8B030D-6E8A-4147-A177-3AD203B41FA5}">
                      <a16:colId xmlns:a16="http://schemas.microsoft.com/office/drawing/2014/main" val="1090983387"/>
                    </a:ext>
                  </a:extLst>
                </a:gridCol>
                <a:gridCol w="756000">
                  <a:extLst>
                    <a:ext uri="{9D8B030D-6E8A-4147-A177-3AD203B41FA5}">
                      <a16:colId xmlns:a16="http://schemas.microsoft.com/office/drawing/2014/main" val="1843726998"/>
                    </a:ext>
                  </a:extLst>
                </a:gridCol>
                <a:gridCol w="756000">
                  <a:extLst>
                    <a:ext uri="{9D8B030D-6E8A-4147-A177-3AD203B41FA5}">
                      <a16:colId xmlns:a16="http://schemas.microsoft.com/office/drawing/2014/main" val="2736749449"/>
                    </a:ext>
                  </a:extLst>
                </a:gridCol>
                <a:gridCol w="2658451">
                  <a:extLst>
                    <a:ext uri="{9D8B030D-6E8A-4147-A177-3AD203B41FA5}">
                      <a16:colId xmlns:a16="http://schemas.microsoft.com/office/drawing/2014/main" val="3901870437"/>
                    </a:ext>
                  </a:extLst>
                </a:gridCol>
              </a:tblGrid>
              <a:tr h="238449">
                <a:tc>
                  <a:txBody>
                    <a:bodyPr/>
                    <a:lstStyle/>
                    <a:p>
                      <a:pPr algn="l"/>
                      <a:r>
                        <a:rPr lang="en-US" sz="1200">
                          <a:effectLst/>
                        </a:rPr>
                        <a:t>artition</a:t>
                      </a:r>
                    </a:p>
                  </a:txBody>
                  <a:tcPr marL="18262" marR="18262" marT="9131" marB="9131">
                    <a:lnL w="12700" cap="flat" cmpd="sng" algn="ctr">
                      <a:solidFill>
                        <a:srgbClr val="307B1E"/>
                      </a:solidFill>
                      <a:prstDash val="solid"/>
                      <a:round/>
                      <a:headEnd type="none" w="med" len="med"/>
                      <a:tailEnd type="none" w="med" len="med"/>
                    </a:lnL>
                    <a:lnR w="12700" cap="flat" cmpd="sng" algn="ctr">
                      <a:solidFill>
                        <a:srgbClr val="D07C1E"/>
                      </a:solidFill>
                      <a:prstDash val="solid"/>
                      <a:round/>
                      <a:headEnd type="none" w="med" len="med"/>
                      <a:tailEnd type="none" w="med" len="med"/>
                    </a:lnR>
                    <a:lnT w="12700" cap="flat" cmpd="sng" algn="ctr">
                      <a:solidFill>
                        <a:srgbClr val="307B1E"/>
                      </a:solidFill>
                      <a:prstDash val="solid"/>
                      <a:round/>
                      <a:headEnd type="none" w="med" len="med"/>
                      <a:tailEnd type="none" w="med" len="med"/>
                    </a:lnT>
                    <a:lnB w="12700" cap="flat" cmpd="sng" algn="ctr">
                      <a:solidFill>
                        <a:srgbClr val="D07C1E"/>
                      </a:solidFill>
                      <a:prstDash val="solid"/>
                      <a:round/>
                      <a:headEnd type="none" w="med" len="med"/>
                      <a:tailEnd type="none" w="med" len="med"/>
                    </a:lnB>
                    <a:solidFill>
                      <a:srgbClr val="FFFFFF"/>
                    </a:solidFill>
                  </a:tcPr>
                </a:tc>
                <a:tc>
                  <a:txBody>
                    <a:bodyPr/>
                    <a:lstStyle/>
                    <a:p>
                      <a:pPr algn="l"/>
                      <a:r>
                        <a:rPr lang="en-US" sz="1200">
                          <a:effectLst/>
                        </a:rPr>
                        <a:t>Replicas</a:t>
                      </a:r>
                    </a:p>
                  </a:txBody>
                  <a:tcPr marL="18262" marR="18262" marT="9131" marB="9131">
                    <a:lnL w="12700" cap="flat" cmpd="sng" algn="ctr">
                      <a:solidFill>
                        <a:srgbClr val="D07C1E"/>
                      </a:solidFill>
                      <a:prstDash val="solid"/>
                      <a:round/>
                      <a:headEnd type="none" w="med" len="med"/>
                      <a:tailEnd type="none" w="med" len="med"/>
                    </a:lnL>
                    <a:lnR w="12700" cap="flat" cmpd="sng" algn="ctr">
                      <a:solidFill>
                        <a:srgbClr val="907A1E"/>
                      </a:solidFill>
                      <a:prstDash val="solid"/>
                      <a:round/>
                      <a:headEnd type="none" w="med" len="med"/>
                      <a:tailEnd type="none" w="med" len="med"/>
                    </a:lnR>
                    <a:lnT w="12700" cap="flat" cmpd="sng" algn="ctr">
                      <a:solidFill>
                        <a:srgbClr val="D07C1E"/>
                      </a:solidFill>
                      <a:prstDash val="solid"/>
                      <a:round/>
                      <a:headEnd type="none" w="med" len="med"/>
                      <a:tailEnd type="none" w="med" len="med"/>
                    </a:lnT>
                    <a:lnB w="12700" cap="flat" cmpd="sng" algn="ctr">
                      <a:solidFill>
                        <a:srgbClr val="50831E"/>
                      </a:solidFill>
                      <a:prstDash val="solid"/>
                      <a:round/>
                      <a:headEnd type="none" w="med" len="med"/>
                      <a:tailEnd type="none" w="med" len="med"/>
                    </a:lnB>
                    <a:solidFill>
                      <a:srgbClr val="FFFFFF"/>
                    </a:solidFill>
                  </a:tcPr>
                </a:tc>
                <a:tc>
                  <a:txBody>
                    <a:bodyPr/>
                    <a:lstStyle/>
                    <a:p>
                      <a:pPr algn="l"/>
                      <a:r>
                        <a:rPr lang="en-US" sz="1200">
                          <a:effectLst/>
                        </a:rPr>
                        <a:t>R-0</a:t>
                      </a:r>
                    </a:p>
                  </a:txBody>
                  <a:tcPr marL="18262" marR="18262" marT="9131" marB="9131">
                    <a:lnL w="12700" cap="flat" cmpd="sng" algn="ctr">
                      <a:solidFill>
                        <a:srgbClr val="907A1E"/>
                      </a:solidFill>
                      <a:prstDash val="solid"/>
                      <a:round/>
                      <a:headEnd type="none" w="med" len="med"/>
                      <a:tailEnd type="none" w="med" len="med"/>
                    </a:lnL>
                    <a:lnR w="12700" cap="flat" cmpd="sng" algn="ctr">
                      <a:solidFill>
                        <a:srgbClr val="D07C1E"/>
                      </a:solidFill>
                      <a:prstDash val="solid"/>
                      <a:round/>
                      <a:headEnd type="none" w="med" len="med"/>
                      <a:tailEnd type="none" w="med" len="med"/>
                    </a:lnR>
                    <a:lnT w="12700" cap="flat" cmpd="sng" algn="ctr">
                      <a:solidFill>
                        <a:srgbClr val="907A1E"/>
                      </a:solidFill>
                      <a:prstDash val="solid"/>
                      <a:round/>
                      <a:headEnd type="none" w="med" len="med"/>
                      <a:tailEnd type="none" w="med" len="med"/>
                    </a:lnT>
                    <a:lnB w="12700" cap="flat" cmpd="sng" algn="ctr">
                      <a:solidFill>
                        <a:srgbClr val="50831E"/>
                      </a:solidFill>
                      <a:prstDash val="solid"/>
                      <a:round/>
                      <a:headEnd type="none" w="med" len="med"/>
                      <a:tailEnd type="none" w="med" len="med"/>
                    </a:lnB>
                    <a:solidFill>
                      <a:srgbClr val="FFFFFF"/>
                    </a:solidFill>
                  </a:tcPr>
                </a:tc>
                <a:tc>
                  <a:txBody>
                    <a:bodyPr/>
                    <a:lstStyle/>
                    <a:p>
                      <a:pPr algn="l"/>
                      <a:r>
                        <a:rPr lang="en-US" sz="1200">
                          <a:effectLst/>
                        </a:rPr>
                        <a:t>R-1</a:t>
                      </a:r>
                    </a:p>
                  </a:txBody>
                  <a:tcPr marL="18262" marR="18262" marT="9131" marB="9131">
                    <a:lnL w="12700" cap="flat" cmpd="sng" algn="ctr">
                      <a:solidFill>
                        <a:srgbClr val="D07C1E"/>
                      </a:solidFill>
                      <a:prstDash val="solid"/>
                      <a:round/>
                      <a:headEnd type="none" w="med" len="med"/>
                      <a:tailEnd type="none" w="med" len="med"/>
                    </a:lnL>
                    <a:lnR w="12700" cap="flat" cmpd="sng" algn="ctr">
                      <a:solidFill>
                        <a:srgbClr val="F07A1E"/>
                      </a:solidFill>
                      <a:prstDash val="solid"/>
                      <a:round/>
                      <a:headEnd type="none" w="med" len="med"/>
                      <a:tailEnd type="none" w="med" len="med"/>
                    </a:lnR>
                    <a:lnT w="12700" cap="flat" cmpd="sng" algn="ctr">
                      <a:solidFill>
                        <a:srgbClr val="D07C1E"/>
                      </a:solidFill>
                      <a:prstDash val="solid"/>
                      <a:round/>
                      <a:headEnd type="none" w="med" len="med"/>
                      <a:tailEnd type="none" w="med" len="med"/>
                    </a:lnT>
                    <a:lnB w="12700" cap="flat" cmpd="sng" algn="ctr">
                      <a:solidFill>
                        <a:srgbClr val="50831E"/>
                      </a:solidFill>
                      <a:prstDash val="solid"/>
                      <a:round/>
                      <a:headEnd type="none" w="med" len="med"/>
                      <a:tailEnd type="none" w="med" len="med"/>
                    </a:lnB>
                    <a:solidFill>
                      <a:srgbClr val="FFFFFF"/>
                    </a:solidFill>
                  </a:tcPr>
                </a:tc>
                <a:tc>
                  <a:txBody>
                    <a:bodyPr/>
                    <a:lstStyle/>
                    <a:p>
                      <a:pPr algn="l"/>
                      <a:r>
                        <a:rPr lang="en-US" sz="1200">
                          <a:effectLst/>
                        </a:rPr>
                        <a:t>R-2</a:t>
                      </a:r>
                    </a:p>
                  </a:txBody>
                  <a:tcPr marL="18262" marR="18262" marT="9131" marB="9131">
                    <a:lnL w="12700" cap="flat" cmpd="sng" algn="ctr">
                      <a:solidFill>
                        <a:srgbClr val="F07A1E"/>
                      </a:solidFill>
                      <a:prstDash val="solid"/>
                      <a:round/>
                      <a:headEnd type="none" w="med" len="med"/>
                      <a:tailEnd type="none" w="med" len="med"/>
                    </a:lnL>
                    <a:lnR w="12700" cap="flat" cmpd="sng" algn="ctr">
                      <a:solidFill>
                        <a:srgbClr val="F07A1E"/>
                      </a:solidFill>
                      <a:prstDash val="solid"/>
                      <a:round/>
                      <a:headEnd type="none" w="med" len="med"/>
                      <a:tailEnd type="none" w="med" len="med"/>
                    </a:lnR>
                    <a:lnT w="12700" cap="flat" cmpd="sng" algn="ctr">
                      <a:solidFill>
                        <a:srgbClr val="F07A1E"/>
                      </a:solidFill>
                      <a:prstDash val="solid"/>
                      <a:round/>
                      <a:headEnd type="none" w="med" len="med"/>
                      <a:tailEnd type="none" w="med" len="med"/>
                    </a:lnT>
                    <a:lnB w="12700" cap="flat" cmpd="sng" algn="ctr">
                      <a:solidFill>
                        <a:srgbClr val="50831E"/>
                      </a:solidFill>
                      <a:prstDash val="solid"/>
                      <a:round/>
                      <a:headEnd type="none" w="med" len="med"/>
                      <a:tailEnd type="none" w="med" len="med"/>
                    </a:lnB>
                    <a:solidFill>
                      <a:srgbClr val="FFFFFF"/>
                    </a:solidFill>
                  </a:tcPr>
                </a:tc>
                <a:tc>
                  <a:txBody>
                    <a:bodyPr/>
                    <a:lstStyle/>
                    <a:p>
                      <a:pPr algn="l"/>
                      <a:r>
                        <a:rPr lang="en-US" sz="1200">
                          <a:effectLst/>
                        </a:rPr>
                        <a:t>R-3</a:t>
                      </a:r>
                    </a:p>
                  </a:txBody>
                  <a:tcPr marL="18262" marR="18262" marT="9131" marB="9131">
                    <a:lnL w="12700" cap="flat" cmpd="sng" algn="ctr">
                      <a:solidFill>
                        <a:srgbClr val="F07A1E"/>
                      </a:solidFill>
                      <a:prstDash val="solid"/>
                      <a:round/>
                      <a:headEnd type="none" w="med" len="med"/>
                      <a:tailEnd type="none" w="med" len="med"/>
                    </a:lnL>
                    <a:lnR w="12700" cap="flat" cmpd="sng" algn="ctr">
                      <a:solidFill>
                        <a:srgbClr val="D07C1E"/>
                      </a:solidFill>
                      <a:prstDash val="solid"/>
                      <a:round/>
                      <a:headEnd type="none" w="med" len="med"/>
                      <a:tailEnd type="none" w="med" len="med"/>
                    </a:lnR>
                    <a:lnT w="12700" cap="flat" cmpd="sng" algn="ctr">
                      <a:solidFill>
                        <a:srgbClr val="F07A1E"/>
                      </a:solidFill>
                      <a:prstDash val="solid"/>
                      <a:round/>
                      <a:headEnd type="none" w="med" len="med"/>
                      <a:tailEnd type="none" w="med" len="med"/>
                    </a:lnT>
                    <a:lnB w="12700" cap="flat" cmpd="sng" algn="ctr">
                      <a:solidFill>
                        <a:srgbClr val="50831E"/>
                      </a:solidFill>
                      <a:prstDash val="solid"/>
                      <a:round/>
                      <a:headEnd type="none" w="med" len="med"/>
                      <a:tailEnd type="none" w="med" len="med"/>
                    </a:lnB>
                    <a:solidFill>
                      <a:srgbClr val="FFFFFF"/>
                    </a:solidFill>
                  </a:tcPr>
                </a:tc>
                <a:tc>
                  <a:txBody>
                    <a:bodyPr/>
                    <a:lstStyle/>
                    <a:p>
                      <a:pPr algn="l"/>
                      <a:r>
                        <a:rPr lang="en-US" sz="1200">
                          <a:effectLst/>
                        </a:rPr>
                        <a:t>R-4</a:t>
                      </a:r>
                    </a:p>
                  </a:txBody>
                  <a:tcPr marL="18262" marR="18262" marT="9131" marB="9131">
                    <a:lnL w="12700" cap="flat" cmpd="sng" algn="ctr">
                      <a:solidFill>
                        <a:srgbClr val="D07C1E"/>
                      </a:solidFill>
                      <a:prstDash val="solid"/>
                      <a:round/>
                      <a:headEnd type="none" w="med" len="med"/>
                      <a:tailEnd type="none" w="med" len="med"/>
                    </a:lnL>
                    <a:lnR w="12700" cap="flat" cmpd="sng" algn="ctr">
                      <a:solidFill>
                        <a:srgbClr val="D07C1E"/>
                      </a:solidFill>
                      <a:prstDash val="solid"/>
                      <a:round/>
                      <a:headEnd type="none" w="med" len="med"/>
                      <a:tailEnd type="none" w="med" len="med"/>
                    </a:lnR>
                    <a:lnT w="12700" cap="flat" cmpd="sng" algn="ctr">
                      <a:solidFill>
                        <a:srgbClr val="D07C1E"/>
                      </a:solidFill>
                      <a:prstDash val="solid"/>
                      <a:round/>
                      <a:headEnd type="none" w="med" len="med"/>
                      <a:tailEnd type="none" w="med" len="med"/>
                    </a:lnT>
                    <a:lnB w="12700" cap="flat" cmpd="sng" algn="ctr">
                      <a:solidFill>
                        <a:srgbClr val="50831E"/>
                      </a:solidFill>
                      <a:prstDash val="solid"/>
                      <a:round/>
                      <a:headEnd type="none" w="med" len="med"/>
                      <a:tailEnd type="none" w="med" len="med"/>
                    </a:lnB>
                    <a:solidFill>
                      <a:srgbClr val="FFFFFF"/>
                    </a:solidFill>
                  </a:tcPr>
                </a:tc>
                <a:tc>
                  <a:txBody>
                    <a:bodyPr/>
                    <a:lstStyle/>
                    <a:p>
                      <a:pPr algn="l"/>
                      <a:r>
                        <a:rPr lang="en-US" sz="1200">
                          <a:effectLst/>
                        </a:rPr>
                        <a:t>R-5</a:t>
                      </a:r>
                    </a:p>
                  </a:txBody>
                  <a:tcPr marL="18262" marR="18262" marT="9131" marB="9131">
                    <a:lnL w="12700" cap="flat" cmpd="sng" algn="ctr">
                      <a:solidFill>
                        <a:srgbClr val="D07C1E"/>
                      </a:solidFill>
                      <a:prstDash val="solid"/>
                      <a:round/>
                      <a:headEnd type="none" w="med" len="med"/>
                      <a:tailEnd type="none" w="med" len="med"/>
                    </a:lnL>
                    <a:lnR w="12700" cap="flat" cmpd="sng" algn="ctr">
                      <a:solidFill>
                        <a:srgbClr val="D07C1E"/>
                      </a:solidFill>
                      <a:prstDash val="solid"/>
                      <a:round/>
                      <a:headEnd type="none" w="med" len="med"/>
                      <a:tailEnd type="none" w="med" len="med"/>
                    </a:lnR>
                    <a:lnT w="12700" cap="flat" cmpd="sng" algn="ctr">
                      <a:solidFill>
                        <a:srgbClr val="D07C1E"/>
                      </a:solidFill>
                      <a:prstDash val="solid"/>
                      <a:round/>
                      <a:headEnd type="none" w="med" len="med"/>
                      <a:tailEnd type="none" w="med" len="med"/>
                    </a:lnT>
                    <a:lnB w="12700" cap="flat" cmpd="sng" algn="ctr">
                      <a:solidFill>
                        <a:srgbClr val="50831E"/>
                      </a:solidFill>
                      <a:prstDash val="solid"/>
                      <a:round/>
                      <a:headEnd type="none" w="med" len="med"/>
                      <a:tailEnd type="none" w="med" len="med"/>
                    </a:lnB>
                    <a:solidFill>
                      <a:srgbClr val="FFFFFF"/>
                    </a:solidFill>
                  </a:tcPr>
                </a:tc>
                <a:tc>
                  <a:txBody>
                    <a:bodyPr/>
                    <a:lstStyle/>
                    <a:p>
                      <a:pPr algn="l"/>
                      <a:r>
                        <a:rPr lang="en-US" sz="1200" dirty="0">
                          <a:effectLst/>
                        </a:rPr>
                        <a:t>Note</a:t>
                      </a:r>
                    </a:p>
                  </a:txBody>
                  <a:tcPr marL="18262" marR="18262" marT="9131" marB="9131">
                    <a:lnL w="12700" cap="flat" cmpd="sng" algn="ctr">
                      <a:solidFill>
                        <a:srgbClr val="D07C1E"/>
                      </a:solidFill>
                      <a:prstDash val="solid"/>
                      <a:round/>
                      <a:headEnd type="none" w="med" len="med"/>
                      <a:tailEnd type="none" w="med" len="med"/>
                    </a:lnL>
                    <a:lnR w="12700" cap="flat" cmpd="sng" algn="ctr">
                      <a:solidFill>
                        <a:srgbClr val="D07C1E"/>
                      </a:solidFill>
                      <a:prstDash val="solid"/>
                      <a:round/>
                      <a:headEnd type="none" w="med" len="med"/>
                      <a:tailEnd type="none" w="med" len="med"/>
                    </a:lnR>
                    <a:lnT w="12700" cap="flat" cmpd="sng" algn="ctr">
                      <a:solidFill>
                        <a:srgbClr val="D07C1E"/>
                      </a:solidFill>
                      <a:prstDash val="solid"/>
                      <a:round/>
                      <a:headEnd type="none" w="med" len="med"/>
                      <a:tailEnd type="none" w="med" len="med"/>
                    </a:lnT>
                    <a:lnB w="12700" cap="flat" cmpd="sng" algn="ctr">
                      <a:solidFill>
                        <a:srgbClr val="50831E"/>
                      </a:solidFill>
                      <a:prstDash val="solid"/>
                      <a:round/>
                      <a:headEnd type="none" w="med" len="med"/>
                      <a:tailEnd type="none" w="med" len="med"/>
                    </a:lnB>
                    <a:solidFill>
                      <a:srgbClr val="FFFFFF"/>
                    </a:solidFill>
                  </a:tcPr>
                </a:tc>
                <a:tc>
                  <a:txBody>
                    <a:bodyPr/>
                    <a:lstStyle/>
                    <a:p>
                      <a:endParaRPr lang="zh-CN" altLang="en-US" sz="1200"/>
                    </a:p>
                  </a:txBody>
                  <a:tcPr marL="18262" marR="18262" marT="9131" marB="9131">
                    <a:lnL w="12700" cap="flat" cmpd="sng" algn="ctr">
                      <a:solidFill>
                        <a:srgbClr val="D07C1E"/>
                      </a:solidFill>
                      <a:prstDash val="solid"/>
                      <a:round/>
                      <a:headEnd type="none" w="med" len="med"/>
                      <a:tailEnd type="none" w="med" len="med"/>
                    </a:lnL>
                    <a:lnB w="12700" cap="flat" cmpd="sng" algn="ctr">
                      <a:solidFill>
                        <a:srgbClr val="50831E"/>
                      </a:solidFill>
                      <a:prstDash val="solid"/>
                      <a:round/>
                      <a:headEnd type="none" w="med" len="med"/>
                      <a:tailEnd type="none" w="med" len="med"/>
                    </a:lnB>
                  </a:tcPr>
                </a:tc>
                <a:extLst>
                  <a:ext uri="{0D108BD9-81ED-4DB2-BD59-A6C34878D82A}">
                    <a16:rowId xmlns:a16="http://schemas.microsoft.com/office/drawing/2014/main" val="145324499"/>
                  </a:ext>
                </a:extLst>
              </a:tr>
              <a:tr h="241147">
                <a:tc>
                  <a:txBody>
                    <a:bodyPr/>
                    <a:lstStyle/>
                    <a:p>
                      <a:r>
                        <a:rPr lang="en-US" sz="1200" b="0">
                          <a:solidFill>
                            <a:srgbClr val="222222"/>
                          </a:solidFill>
                          <a:effectLst/>
                        </a:rPr>
                        <a:t>Stage1</a:t>
                      </a:r>
                    </a:p>
                  </a:txBody>
                  <a:tcPr marL="18262" marR="18262" marT="9131" marB="9131">
                    <a:lnL w="12700" cap="flat" cmpd="sng" algn="ctr">
                      <a:solidFill>
                        <a:srgbClr val="D07C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D07C1E"/>
                      </a:solidFill>
                      <a:prstDash val="solid"/>
                      <a:round/>
                      <a:headEnd type="none" w="med" len="med"/>
                      <a:tailEnd type="none" w="med" len="med"/>
                    </a:lnT>
                    <a:lnB w="12700" cap="flat" cmpd="sng" algn="ctr">
                      <a:solidFill>
                        <a:srgbClr val="5083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0</a:t>
                      </a: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4</a:t>
                      </a: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908C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1085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30861E"/>
                      </a:solidFill>
                      <a:prstDash val="solid"/>
                      <a:round/>
                      <a:headEnd type="none" w="med" len="med"/>
                      <a:tailEnd type="none" w="med" len="med"/>
                    </a:lnB>
                    <a:solidFill>
                      <a:srgbClr val="FFFFFF"/>
                    </a:solidFill>
                  </a:tcPr>
                </a:tc>
                <a:tc>
                  <a:txBody>
                    <a:bodyPr/>
                    <a:lstStyle/>
                    <a:p>
                      <a:endParaRPr lang="zh-CN" altLang="en-US" sz="1200" b="0">
                        <a:solidFill>
                          <a:srgbClr val="222222"/>
                        </a:solidFill>
                        <a:effectLst/>
                      </a:endParaRP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endParaRPr lang="zh-CN" altLang="en-US" sz="1200" b="0" dirty="0">
                        <a:solidFill>
                          <a:srgbClr val="222222"/>
                        </a:solidFill>
                        <a:effectLst/>
                      </a:endParaRP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30861E"/>
                      </a:solidFill>
                      <a:prstDash val="solid"/>
                      <a:round/>
                      <a:headEnd type="none" w="med" len="med"/>
                      <a:tailEnd type="none" w="med" len="med"/>
                    </a:lnB>
                    <a:solidFill>
                      <a:srgbClr val="FFFFFF"/>
                    </a:solidFill>
                  </a:tcPr>
                </a:tc>
                <a:tc>
                  <a:txBody>
                    <a:bodyPr/>
                    <a:lstStyle/>
                    <a:p>
                      <a:r>
                        <a:rPr lang="en-US" sz="1200" b="0">
                          <a:solidFill>
                            <a:srgbClr val="222222"/>
                          </a:solidFill>
                          <a:effectLst/>
                        </a:rPr>
                        <a:t>Before rolling update</a:t>
                      </a: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5083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extLst>
                  <a:ext uri="{0D108BD9-81ED-4DB2-BD59-A6C34878D82A}">
                    <a16:rowId xmlns:a16="http://schemas.microsoft.com/office/drawing/2014/main" val="3524255781"/>
                  </a:ext>
                </a:extLst>
              </a:tr>
              <a:tr h="241147">
                <a:tc>
                  <a:txBody>
                    <a:bodyPr/>
                    <a:lstStyle/>
                    <a:p>
                      <a:r>
                        <a:rPr lang="en-US" sz="1200" b="0">
                          <a:effectLst/>
                        </a:rPr>
                        <a:t>Stage2</a:t>
                      </a:r>
                    </a:p>
                  </a:txBody>
                  <a:tcPr marL="18262" marR="18262" marT="9131" marB="9131">
                    <a:lnL w="12700" cap="flat" cmpd="sng" algn="ctr">
                      <a:solidFill>
                        <a:srgbClr val="5083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50831E"/>
                      </a:solidFill>
                      <a:prstDash val="solid"/>
                      <a:round/>
                      <a:headEnd type="none" w="med" len="med"/>
                      <a:tailEnd type="none" w="med" len="med"/>
                    </a:lnT>
                    <a:lnB w="12700" cap="flat" cmpd="sng" algn="ctr">
                      <a:solidFill>
                        <a:srgbClr val="30861E"/>
                      </a:solidFill>
                      <a:prstDash val="solid"/>
                      <a:round/>
                      <a:headEnd type="none" w="med" len="med"/>
                      <a:tailEnd type="none" w="med" len="med"/>
                    </a:lnB>
                    <a:solidFill>
                      <a:srgbClr val="FFFFFF"/>
                    </a:solidFill>
                  </a:tcPr>
                </a:tc>
                <a:tc>
                  <a:txBody>
                    <a:bodyPr/>
                    <a:lstStyle/>
                    <a:p>
                      <a:r>
                        <a:rPr lang="en-US" altLang="zh-CN" sz="1200" b="0">
                          <a:effectLst/>
                        </a:rPr>
                        <a:t>4</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908C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en-US" altLang="zh-CN" sz="1200" b="0">
                          <a:effectLst/>
                        </a:rPr>
                        <a:t>6</a:t>
                      </a:r>
                    </a:p>
                  </a:txBody>
                  <a:tcPr marL="18262" marR="18262" marT="9131" marB="9131">
                    <a:lnL w="12700" cap="flat" cmpd="sng" algn="ctr">
                      <a:solidFill>
                        <a:srgbClr val="908C1E"/>
                      </a:solidFill>
                      <a:prstDash val="solid"/>
                      <a:round/>
                      <a:headEnd type="none" w="med" len="med"/>
                      <a:tailEnd type="none" w="med" len="med"/>
                    </a:lnL>
                    <a:lnR w="12700" cap="flat" cmpd="sng" algn="ctr">
                      <a:solidFill>
                        <a:srgbClr val="10851E"/>
                      </a:solidFill>
                      <a:prstDash val="solid"/>
                      <a:round/>
                      <a:headEnd type="none" w="med" len="med"/>
                      <a:tailEnd type="none" w="med" len="med"/>
                    </a:lnR>
                    <a:lnT w="12700" cap="flat" cmpd="sng" algn="ctr">
                      <a:solidFill>
                        <a:srgbClr val="908C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1085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1085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3086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6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3086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6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en-US" sz="1200" b="0" dirty="0">
                          <a:effectLst/>
                        </a:rPr>
                        <a:t>⏳</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6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en-US" sz="1200" b="0" dirty="0">
                          <a:effectLst/>
                        </a:rPr>
                        <a:t>⏳</a:t>
                      </a:r>
                    </a:p>
                  </a:txBody>
                  <a:tcPr marL="18262" marR="18262" marT="9131" marB="9131">
                    <a:lnL w="12700" cap="flat" cmpd="sng" algn="ctr">
                      <a:solidFill>
                        <a:srgbClr val="3086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61E"/>
                      </a:solidFill>
                      <a:prstDash val="solid"/>
                      <a:round/>
                      <a:headEnd type="none" w="med" len="med"/>
                      <a:tailEnd type="none" w="med" len="med"/>
                    </a:lnT>
                    <a:lnB w="12700" cap="flat" cmpd="sng" algn="ctr">
                      <a:solidFill>
                        <a:srgbClr val="30891E"/>
                      </a:solidFill>
                      <a:prstDash val="solid"/>
                      <a:round/>
                      <a:headEnd type="none" w="med" len="med"/>
                      <a:tailEnd type="none" w="med" len="med"/>
                    </a:lnB>
                    <a:solidFill>
                      <a:srgbClr val="FFFFFF"/>
                    </a:solidFill>
                  </a:tcPr>
                </a:tc>
                <a:tc>
                  <a:txBody>
                    <a:bodyPr/>
                    <a:lstStyle/>
                    <a:p>
                      <a:r>
                        <a:rPr lang="en-US" sz="1200" b="0">
                          <a:effectLst/>
                        </a:rPr>
                        <a:t>Rolling update started</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30861E"/>
                      </a:solidFill>
                      <a:prstDash val="solid"/>
                      <a:round/>
                      <a:headEnd type="none" w="med" len="med"/>
                      <a:tailEnd type="none" w="med" len="med"/>
                    </a:lnB>
                    <a:solidFill>
                      <a:srgbClr val="FFFFFF"/>
                    </a:solidFill>
                  </a:tcPr>
                </a:tc>
                <a:extLst>
                  <a:ext uri="{0D108BD9-81ED-4DB2-BD59-A6C34878D82A}">
                    <a16:rowId xmlns:a16="http://schemas.microsoft.com/office/drawing/2014/main" val="1271560093"/>
                  </a:ext>
                </a:extLst>
              </a:tr>
              <a:tr h="355986">
                <a:tc>
                  <a:txBody>
                    <a:bodyPr/>
                    <a:lstStyle/>
                    <a:p>
                      <a:r>
                        <a:rPr lang="en-US" sz="1200" b="0">
                          <a:solidFill>
                            <a:srgbClr val="222222"/>
                          </a:solidFill>
                          <a:effectLst/>
                        </a:rPr>
                        <a:t>Stage3</a:t>
                      </a:r>
                    </a:p>
                  </a:txBody>
                  <a:tcPr marL="18262" marR="18262" marT="9131" marB="9131">
                    <a:lnL w="12700" cap="flat" cmpd="sng" algn="ctr">
                      <a:solidFill>
                        <a:srgbClr val="3086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61E"/>
                      </a:solidFill>
                      <a:prstDash val="solid"/>
                      <a:round/>
                      <a:headEnd type="none" w="med" len="med"/>
                      <a:tailEnd type="none" w="med" len="med"/>
                    </a:lnT>
                    <a:lnB w="12700" cap="flat" cmpd="sng" algn="ctr">
                      <a:solidFill>
                        <a:srgbClr val="3086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2</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6</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6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3086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6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tc>
                  <a:txBody>
                    <a:bodyPr/>
                    <a:lstStyle/>
                    <a:p>
                      <a:r>
                        <a:rPr lang="en-US" sz="1200" b="0" dirty="0">
                          <a:solidFill>
                            <a:srgbClr val="222222"/>
                          </a:solidFill>
                          <a:effectLst/>
                        </a:rPr>
                        <a:t>⏳</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tc>
                  <a:txBody>
                    <a:bodyPr/>
                    <a:lstStyle/>
                    <a:p>
                      <a:r>
                        <a:rPr lang="en-US" sz="1200" b="0" dirty="0">
                          <a:solidFill>
                            <a:srgbClr val="222222"/>
                          </a:solidFill>
                          <a:effectLst/>
                        </a:rPr>
                        <a:t>⏳</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tc>
                  <a:txBody>
                    <a:bodyPr/>
                    <a:lstStyle/>
                    <a:p>
                      <a:r>
                        <a:rPr lang="en-US" sz="1200" b="0" dirty="0">
                          <a:solidFill>
                            <a:srgbClr val="222222"/>
                          </a:solidFill>
                          <a:effectLst/>
                        </a:rPr>
                        <a:t>⏳</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9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tc>
                  <a:txBody>
                    <a:bodyPr/>
                    <a:lstStyle/>
                    <a:p>
                      <a:r>
                        <a:rPr lang="en-US" sz="1200" b="0" dirty="0">
                          <a:solidFill>
                            <a:srgbClr val="222222"/>
                          </a:solidFill>
                          <a:effectLst/>
                        </a:rPr>
                        <a:t>⏳</a:t>
                      </a:r>
                    </a:p>
                  </a:txBody>
                  <a:tcPr marL="18262" marR="18262" marT="9131" marB="9131">
                    <a:lnL w="12700" cap="flat" cmpd="sng" algn="ctr">
                      <a:solidFill>
                        <a:srgbClr val="30891E"/>
                      </a:solidFill>
                      <a:prstDash val="solid"/>
                      <a:round/>
                      <a:headEnd type="none" w="med" len="med"/>
                      <a:tailEnd type="none" w="med" len="med"/>
                    </a:lnL>
                    <a:lnR w="12700" cap="flat" cmpd="sng" algn="ctr">
                      <a:solidFill>
                        <a:srgbClr val="30861E"/>
                      </a:solidFill>
                      <a:prstDash val="solid"/>
                      <a:round/>
                      <a:headEnd type="none" w="med" len="med"/>
                      <a:tailEnd type="none" w="med" len="med"/>
                    </a:lnR>
                    <a:lnT w="12700" cap="flat" cmpd="sng" algn="ctr">
                      <a:solidFill>
                        <a:srgbClr val="3089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tc>
                  <a:txBody>
                    <a:bodyPr/>
                    <a:lstStyle/>
                    <a:p>
                      <a:r>
                        <a:rPr lang="en-US" sz="1200" b="0">
                          <a:solidFill>
                            <a:srgbClr val="222222"/>
                          </a:solidFill>
                          <a:effectLst/>
                        </a:rPr>
                        <a:t>Partition changes from 4 to 2</a:t>
                      </a:r>
                    </a:p>
                  </a:txBody>
                  <a:tcPr marL="18262" marR="18262" marT="9131" marB="9131">
                    <a:lnL w="12700" cap="flat" cmpd="sng" algn="ctr">
                      <a:solidFill>
                        <a:srgbClr val="30861E"/>
                      </a:solidFill>
                      <a:prstDash val="solid"/>
                      <a:round/>
                      <a:headEnd type="none" w="med" len="med"/>
                      <a:tailEnd type="none" w="med" len="med"/>
                    </a:lnL>
                    <a:lnR w="12700" cap="flat" cmpd="sng" algn="ctr">
                      <a:solidFill>
                        <a:srgbClr val="30861E"/>
                      </a:solidFill>
                      <a:prstDash val="solid"/>
                      <a:round/>
                      <a:headEnd type="none" w="med" len="med"/>
                      <a:tailEnd type="none" w="med" len="med"/>
                    </a:lnR>
                    <a:lnT w="12700" cap="flat" cmpd="sng" algn="ctr">
                      <a:solidFill>
                        <a:srgbClr val="3086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extLst>
                  <a:ext uri="{0D108BD9-81ED-4DB2-BD59-A6C34878D82A}">
                    <a16:rowId xmlns:a16="http://schemas.microsoft.com/office/drawing/2014/main" val="11641202"/>
                  </a:ext>
                </a:extLst>
              </a:tr>
              <a:tr h="470826">
                <a:tc>
                  <a:txBody>
                    <a:bodyPr/>
                    <a:lstStyle/>
                    <a:p>
                      <a:r>
                        <a:rPr lang="en-US" sz="1200" b="0">
                          <a:effectLst/>
                        </a:rPr>
                        <a:t>Stage4</a:t>
                      </a:r>
                    </a:p>
                  </a:txBody>
                  <a:tcPr marL="18262" marR="18262" marT="9131" marB="9131">
                    <a:lnL w="12700" cap="flat" cmpd="sng" algn="ctr">
                      <a:solidFill>
                        <a:srgbClr val="3086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30861E"/>
                      </a:solidFill>
                      <a:prstDash val="solid"/>
                      <a:round/>
                      <a:headEnd type="none" w="med" len="med"/>
                      <a:tailEnd type="none" w="med" len="med"/>
                    </a:lnT>
                    <a:lnB w="12700" cap="flat" cmpd="sng" algn="ctr">
                      <a:solidFill>
                        <a:srgbClr val="70911E"/>
                      </a:solidFill>
                      <a:prstDash val="solid"/>
                      <a:round/>
                      <a:headEnd type="none" w="med" len="med"/>
                      <a:tailEnd type="none" w="med" len="med"/>
                    </a:lnB>
                    <a:solidFill>
                      <a:srgbClr val="FFFFFF"/>
                    </a:solidFill>
                  </a:tcPr>
                </a:tc>
                <a:tc>
                  <a:txBody>
                    <a:bodyPr/>
                    <a:lstStyle/>
                    <a:p>
                      <a:r>
                        <a:rPr lang="en-US" altLang="zh-CN" sz="1200" b="0">
                          <a:effectLst/>
                        </a:rPr>
                        <a:t>2</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10961E"/>
                      </a:solidFill>
                      <a:prstDash val="solid"/>
                      <a:round/>
                      <a:headEnd type="none" w="med" len="med"/>
                      <a:tailEnd type="none" w="med" len="med"/>
                    </a:lnB>
                    <a:solidFill>
                      <a:srgbClr val="FFFFFF"/>
                    </a:solidFill>
                  </a:tcPr>
                </a:tc>
                <a:tc>
                  <a:txBody>
                    <a:bodyPr/>
                    <a:lstStyle/>
                    <a:p>
                      <a:r>
                        <a:rPr lang="en-US" altLang="zh-CN" sz="1200" b="0">
                          <a:effectLst/>
                        </a:rPr>
                        <a:t>6</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D09B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D09B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909C1E"/>
                      </a:solidFill>
                      <a:prstDash val="solid"/>
                      <a:round/>
                      <a:headEnd type="none" w="med" len="med"/>
                      <a:tailEnd type="none" w="med" len="med"/>
                    </a:lnB>
                    <a:solidFill>
                      <a:srgbClr val="FFFFFF"/>
                    </a:solidFill>
                  </a:tcPr>
                </a:tc>
                <a:tc>
                  <a:txBody>
                    <a:bodyPr/>
                    <a:lstStyle/>
                    <a:p>
                      <a:r>
                        <a:rPr lang="en-US" sz="1200" b="0">
                          <a:effectLst/>
                        </a:rPr>
                        <a:t>⏳</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D09B1E"/>
                      </a:solidFill>
                      <a:prstDash val="solid"/>
                      <a:round/>
                      <a:headEnd type="none" w="med" len="med"/>
                      <a:tailEnd type="none" w="med" len="med"/>
                    </a:lnB>
                    <a:solidFill>
                      <a:srgbClr val="FFFFFF"/>
                    </a:solidFill>
                  </a:tcPr>
                </a:tc>
                <a:tc>
                  <a:txBody>
                    <a:bodyPr/>
                    <a:lstStyle/>
                    <a:p>
                      <a:r>
                        <a:rPr lang="en-US" sz="1200" b="0">
                          <a:effectLst/>
                        </a:rPr>
                        <a:t>⏳</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D09B1E"/>
                      </a:solidFill>
                      <a:prstDash val="solid"/>
                      <a:round/>
                      <a:headEnd type="none" w="med" len="med"/>
                      <a:tailEnd type="none" w="med" len="med"/>
                    </a:lnB>
                    <a:solidFill>
                      <a:srgbClr val="FFFFFF"/>
                    </a:solidFill>
                  </a:tcPr>
                </a:tc>
                <a:tc>
                  <a:txBody>
                    <a:bodyPr/>
                    <a:lstStyle/>
                    <a:p>
                      <a:r>
                        <a:rPr lang="zh-CN" altLang="en-US" sz="1200" b="0" dirty="0">
                          <a:effectLst/>
                        </a:rPr>
                        <a:t>✅</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D09B1E"/>
                      </a:solidFill>
                      <a:prstDash val="solid"/>
                      <a:round/>
                      <a:headEnd type="none" w="med" len="med"/>
                      <a:tailEnd type="none" w="med" len="med"/>
                    </a:lnB>
                    <a:solidFill>
                      <a:srgbClr val="FFFFFF"/>
                    </a:solidFill>
                  </a:tcPr>
                </a:tc>
                <a:tc>
                  <a:txBody>
                    <a:bodyPr/>
                    <a:lstStyle/>
                    <a:p>
                      <a:r>
                        <a:rPr lang="en-US" sz="1200" b="0" dirty="0">
                          <a:effectLst/>
                        </a:rPr>
                        <a:t>⏳</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909C1E"/>
                      </a:solidFill>
                      <a:prstDash val="solid"/>
                      <a:round/>
                      <a:headEnd type="none" w="med" len="med"/>
                      <a:tailEnd type="none" w="med" len="med"/>
                    </a:lnB>
                    <a:solidFill>
                      <a:srgbClr val="FFFFFF"/>
                    </a:solidFill>
                  </a:tcPr>
                </a:tc>
                <a:tc>
                  <a:txBody>
                    <a:bodyPr/>
                    <a:lstStyle/>
                    <a:p>
                      <a:r>
                        <a:rPr lang="en-US" sz="1200" b="0" dirty="0">
                          <a:effectLst/>
                        </a:rPr>
                        <a:t>Since the last Replica is not ready, Partition will not change</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7091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D09B1E"/>
                      </a:solidFill>
                      <a:prstDash val="solid"/>
                      <a:round/>
                      <a:headEnd type="none" w="med" len="med"/>
                      <a:tailEnd type="none" w="med" len="med"/>
                    </a:lnB>
                    <a:solidFill>
                      <a:srgbClr val="FFFFFF"/>
                    </a:solidFill>
                  </a:tcPr>
                </a:tc>
                <a:extLst>
                  <a:ext uri="{0D108BD9-81ED-4DB2-BD59-A6C34878D82A}">
                    <a16:rowId xmlns:a16="http://schemas.microsoft.com/office/drawing/2014/main" val="2408919856"/>
                  </a:ext>
                </a:extLst>
              </a:tr>
              <a:tr h="355986">
                <a:tc>
                  <a:txBody>
                    <a:bodyPr/>
                    <a:lstStyle/>
                    <a:p>
                      <a:r>
                        <a:rPr lang="en-US" sz="1200" b="0">
                          <a:solidFill>
                            <a:srgbClr val="222222"/>
                          </a:solidFill>
                          <a:effectLst/>
                        </a:rPr>
                        <a:t>Stage5</a:t>
                      </a:r>
                    </a:p>
                  </a:txBody>
                  <a:tcPr marL="18262" marR="18262" marT="9131" marB="9131">
                    <a:lnL w="12700" cap="flat" cmpd="sng" algn="ctr">
                      <a:solidFill>
                        <a:srgbClr val="70911E"/>
                      </a:solidFill>
                      <a:prstDash val="solid"/>
                      <a:round/>
                      <a:headEnd type="none" w="med" len="med"/>
                      <a:tailEnd type="none" w="med" len="med"/>
                    </a:lnL>
                    <a:lnR w="12700" cap="flat" cmpd="sng" algn="ctr">
                      <a:solidFill>
                        <a:srgbClr val="10961E"/>
                      </a:solidFill>
                      <a:prstDash val="solid"/>
                      <a:round/>
                      <a:headEnd type="none" w="med" len="med"/>
                      <a:tailEnd type="none" w="med" len="med"/>
                    </a:lnR>
                    <a:lnT w="12700" cap="flat" cmpd="sng" algn="ctr">
                      <a:solidFill>
                        <a:srgbClr val="70911E"/>
                      </a:solidFill>
                      <a:prstDash val="solid"/>
                      <a:round/>
                      <a:headEnd type="none" w="med" len="med"/>
                      <a:tailEnd type="none" w="med" len="med"/>
                    </a:lnT>
                    <a:lnB w="12700" cap="flat" cmpd="sng" algn="ctr">
                      <a:solidFill>
                        <a:srgbClr val="D09B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0</a:t>
                      </a:r>
                    </a:p>
                  </a:txBody>
                  <a:tcPr marL="18262" marR="18262" marT="9131" marB="9131">
                    <a:lnL w="12700" cap="flat" cmpd="sng" algn="ctr">
                      <a:solidFill>
                        <a:srgbClr val="10961E"/>
                      </a:solidFill>
                      <a:prstDash val="solid"/>
                      <a:round/>
                      <a:headEnd type="none" w="med" len="med"/>
                      <a:tailEnd type="none" w="med" len="med"/>
                    </a:lnL>
                    <a:lnR w="12700" cap="flat" cmpd="sng" algn="ctr">
                      <a:solidFill>
                        <a:srgbClr val="D09B1E"/>
                      </a:solidFill>
                      <a:prstDash val="solid"/>
                      <a:round/>
                      <a:headEnd type="none" w="med" len="med"/>
                      <a:tailEnd type="none" w="med" len="med"/>
                    </a:lnR>
                    <a:lnT w="12700" cap="flat" cmpd="sng" algn="ctr">
                      <a:solidFill>
                        <a:srgbClr val="10961E"/>
                      </a:solidFill>
                      <a:prstDash val="solid"/>
                      <a:round/>
                      <a:headEnd type="none" w="med" len="med"/>
                      <a:tailEnd type="none" w="med" len="med"/>
                    </a:lnT>
                    <a:lnB w="12700" cap="flat" cmpd="sng" algn="ctr">
                      <a:solidFill>
                        <a:srgbClr val="109D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6</a:t>
                      </a:r>
                    </a:p>
                  </a:txBody>
                  <a:tcPr marL="18262" marR="18262" marT="9131" marB="9131">
                    <a:lnL w="12700" cap="flat" cmpd="sng" algn="ctr">
                      <a:solidFill>
                        <a:srgbClr val="D09B1E"/>
                      </a:solidFill>
                      <a:prstDash val="solid"/>
                      <a:round/>
                      <a:headEnd type="none" w="med" len="med"/>
                      <a:tailEnd type="none" w="med" len="med"/>
                    </a:lnL>
                    <a:lnR w="12700" cap="flat" cmpd="sng" algn="ctr">
                      <a:solidFill>
                        <a:srgbClr val="D09B1E"/>
                      </a:solidFill>
                      <a:prstDash val="solid"/>
                      <a:round/>
                      <a:headEnd type="none" w="med" len="med"/>
                      <a:tailEnd type="none" w="med" len="med"/>
                    </a:lnR>
                    <a:lnT w="12700" cap="flat" cmpd="sng" algn="ctr">
                      <a:solidFill>
                        <a:srgbClr val="D09B1E"/>
                      </a:solidFill>
                      <a:prstDash val="solid"/>
                      <a:round/>
                      <a:headEnd type="none" w="med" len="med"/>
                      <a:tailEnd type="none" w="med" len="med"/>
                    </a:lnT>
                    <a:lnB w="12700" cap="flat" cmpd="sng" algn="ctr">
                      <a:solidFill>
                        <a:srgbClr val="D0A21E"/>
                      </a:solidFill>
                      <a:prstDash val="solid"/>
                      <a:round/>
                      <a:headEnd type="none" w="med" len="med"/>
                      <a:tailEnd type="none" w="med" len="med"/>
                    </a:lnB>
                    <a:solidFill>
                      <a:srgbClr val="FFFFFF"/>
                    </a:solidFill>
                  </a:tcPr>
                </a:tc>
                <a:tc>
                  <a:txBody>
                    <a:bodyPr/>
                    <a:lstStyle/>
                    <a:p>
                      <a:r>
                        <a:rPr lang="en-US" sz="1200" b="0">
                          <a:solidFill>
                            <a:srgbClr val="222222"/>
                          </a:solidFill>
                          <a:effectLst/>
                        </a:rPr>
                        <a:t>⏳</a:t>
                      </a:r>
                    </a:p>
                  </a:txBody>
                  <a:tcPr marL="18262" marR="18262" marT="9131" marB="9131">
                    <a:lnL w="12700" cap="flat" cmpd="sng" algn="ctr">
                      <a:solidFill>
                        <a:srgbClr val="D09B1E"/>
                      </a:solidFill>
                      <a:prstDash val="solid"/>
                      <a:round/>
                      <a:headEnd type="none" w="med" len="med"/>
                      <a:tailEnd type="none" w="med" len="med"/>
                    </a:lnL>
                    <a:lnR w="12700" cap="flat" cmpd="sng" algn="ctr">
                      <a:solidFill>
                        <a:srgbClr val="909C1E"/>
                      </a:solidFill>
                      <a:prstDash val="solid"/>
                      <a:round/>
                      <a:headEnd type="none" w="med" len="med"/>
                      <a:tailEnd type="none" w="med" len="med"/>
                    </a:lnR>
                    <a:lnT w="12700" cap="flat" cmpd="sng" algn="ctr">
                      <a:solidFill>
                        <a:srgbClr val="D09B1E"/>
                      </a:solidFill>
                      <a:prstDash val="solid"/>
                      <a:round/>
                      <a:headEnd type="none" w="med" len="med"/>
                      <a:tailEnd type="none" w="med" len="med"/>
                    </a:lnT>
                    <a:lnB w="12700" cap="flat" cmpd="sng" algn="ctr">
                      <a:solidFill>
                        <a:srgbClr val="F09D1E"/>
                      </a:solidFill>
                      <a:prstDash val="solid"/>
                      <a:round/>
                      <a:headEnd type="none" w="med" len="med"/>
                      <a:tailEnd type="none" w="med" len="med"/>
                    </a:lnB>
                    <a:solidFill>
                      <a:srgbClr val="FFFFFF"/>
                    </a:solidFill>
                  </a:tcPr>
                </a:tc>
                <a:tc>
                  <a:txBody>
                    <a:bodyPr/>
                    <a:lstStyle/>
                    <a:p>
                      <a:r>
                        <a:rPr lang="en-US" sz="1200" b="0">
                          <a:solidFill>
                            <a:srgbClr val="222222"/>
                          </a:solidFill>
                          <a:effectLst/>
                        </a:rPr>
                        <a:t>⏳</a:t>
                      </a:r>
                    </a:p>
                  </a:txBody>
                  <a:tcPr marL="18262" marR="18262" marT="9131" marB="9131">
                    <a:lnL w="12700" cap="flat" cmpd="sng" algn="ctr">
                      <a:solidFill>
                        <a:srgbClr val="909C1E"/>
                      </a:solidFill>
                      <a:prstDash val="solid"/>
                      <a:round/>
                      <a:headEnd type="none" w="med" len="med"/>
                      <a:tailEnd type="none" w="med" len="med"/>
                    </a:lnL>
                    <a:lnR w="12700" cap="flat" cmpd="sng" algn="ctr">
                      <a:solidFill>
                        <a:srgbClr val="D09B1E"/>
                      </a:solidFill>
                      <a:prstDash val="solid"/>
                      <a:round/>
                      <a:headEnd type="none" w="med" len="med"/>
                      <a:tailEnd type="none" w="med" len="med"/>
                    </a:lnR>
                    <a:lnT w="12700" cap="flat" cmpd="sng" algn="ctr">
                      <a:solidFill>
                        <a:srgbClr val="909C1E"/>
                      </a:solidFill>
                      <a:prstDash val="solid"/>
                      <a:round/>
                      <a:headEnd type="none" w="med" len="med"/>
                      <a:tailEnd type="none" w="med" len="med"/>
                    </a:lnT>
                    <a:lnB w="12700" cap="flat" cmpd="sng" algn="ctr">
                      <a:solidFill>
                        <a:srgbClr val="D0A21E"/>
                      </a:solidFill>
                      <a:prstDash val="solid"/>
                      <a:round/>
                      <a:headEnd type="none" w="med" len="med"/>
                      <a:tailEnd type="none" w="med" len="med"/>
                    </a:lnB>
                    <a:solidFill>
                      <a:srgbClr val="FFFFFF"/>
                    </a:solidFill>
                  </a:tcPr>
                </a:tc>
                <a:tc>
                  <a:txBody>
                    <a:bodyPr/>
                    <a:lstStyle/>
                    <a:p>
                      <a:r>
                        <a:rPr lang="en-US" sz="1200" b="0">
                          <a:solidFill>
                            <a:srgbClr val="222222"/>
                          </a:solidFill>
                          <a:effectLst/>
                        </a:rPr>
                        <a:t>⏳</a:t>
                      </a:r>
                    </a:p>
                  </a:txBody>
                  <a:tcPr marL="18262" marR="18262" marT="9131" marB="9131">
                    <a:lnL w="12700" cap="flat" cmpd="sng" algn="ctr">
                      <a:solidFill>
                        <a:srgbClr val="D09B1E"/>
                      </a:solidFill>
                      <a:prstDash val="solid"/>
                      <a:round/>
                      <a:headEnd type="none" w="med" len="med"/>
                      <a:tailEnd type="none" w="med" len="med"/>
                    </a:lnL>
                    <a:lnR w="12700" cap="flat" cmpd="sng" algn="ctr">
                      <a:solidFill>
                        <a:srgbClr val="D09B1E"/>
                      </a:solidFill>
                      <a:prstDash val="solid"/>
                      <a:round/>
                      <a:headEnd type="none" w="med" len="med"/>
                      <a:tailEnd type="none" w="med" len="med"/>
                    </a:lnR>
                    <a:lnT w="12700" cap="flat" cmpd="sng" algn="ctr">
                      <a:solidFill>
                        <a:srgbClr val="D09B1E"/>
                      </a:solidFill>
                      <a:prstDash val="solid"/>
                      <a:round/>
                      <a:headEnd type="none" w="med" len="med"/>
                      <a:tailEnd type="none" w="med" len="med"/>
                    </a:lnT>
                    <a:lnB w="12700" cap="flat" cmpd="sng" algn="ctr">
                      <a:solidFill>
                        <a:srgbClr val="F09D1E"/>
                      </a:solidFill>
                      <a:prstDash val="solid"/>
                      <a:round/>
                      <a:headEnd type="none" w="med" len="med"/>
                      <a:tailEnd type="none" w="med" len="med"/>
                    </a:lnB>
                    <a:solidFill>
                      <a:srgbClr val="FFFFFF"/>
                    </a:solidFill>
                  </a:tcPr>
                </a:tc>
                <a:tc>
                  <a:txBody>
                    <a:bodyPr/>
                    <a:lstStyle/>
                    <a:p>
                      <a:r>
                        <a:rPr lang="en-US" sz="1200" b="0" dirty="0">
                          <a:solidFill>
                            <a:srgbClr val="222222"/>
                          </a:solidFill>
                          <a:effectLst/>
                        </a:rPr>
                        <a:t>⏳</a:t>
                      </a:r>
                    </a:p>
                  </a:txBody>
                  <a:tcPr marL="18262" marR="18262" marT="9131" marB="9131">
                    <a:lnL w="12700" cap="flat" cmpd="sng" algn="ctr">
                      <a:solidFill>
                        <a:srgbClr val="D09B1E"/>
                      </a:solidFill>
                      <a:prstDash val="solid"/>
                      <a:round/>
                      <a:headEnd type="none" w="med" len="med"/>
                      <a:tailEnd type="none" w="med" len="med"/>
                    </a:lnL>
                    <a:lnR w="12700" cap="flat" cmpd="sng" algn="ctr">
                      <a:solidFill>
                        <a:srgbClr val="D09B1E"/>
                      </a:solidFill>
                      <a:prstDash val="solid"/>
                      <a:round/>
                      <a:headEnd type="none" w="med" len="med"/>
                      <a:tailEnd type="none" w="med" len="med"/>
                    </a:lnR>
                    <a:lnT w="12700" cap="flat" cmpd="sng" algn="ctr">
                      <a:solidFill>
                        <a:srgbClr val="D09B1E"/>
                      </a:solidFill>
                      <a:prstDash val="solid"/>
                      <a:round/>
                      <a:headEnd type="none" w="med" len="med"/>
                      <a:tailEnd type="none" w="med" len="med"/>
                    </a:lnT>
                    <a:lnB w="12700" cap="flat" cmpd="sng" algn="ctr">
                      <a:solidFill>
                        <a:srgbClr val="F09D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D09B1E"/>
                      </a:solidFill>
                      <a:prstDash val="solid"/>
                      <a:round/>
                      <a:headEnd type="none" w="med" len="med"/>
                      <a:tailEnd type="none" w="med" len="med"/>
                    </a:lnL>
                    <a:lnR w="12700" cap="flat" cmpd="sng" algn="ctr">
                      <a:solidFill>
                        <a:srgbClr val="909C1E"/>
                      </a:solidFill>
                      <a:prstDash val="solid"/>
                      <a:round/>
                      <a:headEnd type="none" w="med" len="med"/>
                      <a:tailEnd type="none" w="med" len="med"/>
                    </a:lnR>
                    <a:lnT w="12700" cap="flat" cmpd="sng" algn="ctr">
                      <a:solidFill>
                        <a:srgbClr val="D09B1E"/>
                      </a:solidFill>
                      <a:prstDash val="solid"/>
                      <a:round/>
                      <a:headEnd type="none" w="med" len="med"/>
                      <a:tailEnd type="none" w="med" len="med"/>
                    </a:lnT>
                    <a:lnB w="12700" cap="flat" cmpd="sng" algn="ctr">
                      <a:solidFill>
                        <a:srgbClr val="F09D1E"/>
                      </a:solidFill>
                      <a:prstDash val="solid"/>
                      <a:round/>
                      <a:headEnd type="none" w="med" len="med"/>
                      <a:tailEnd type="none" w="med" len="med"/>
                    </a:lnB>
                    <a:solidFill>
                      <a:srgbClr val="FFFFFF"/>
                    </a:solidFill>
                  </a:tcPr>
                </a:tc>
                <a:tc>
                  <a:txBody>
                    <a:bodyPr/>
                    <a:lstStyle/>
                    <a:p>
                      <a:r>
                        <a:rPr lang="zh-CN" altLang="en-US" sz="1200" b="0" dirty="0">
                          <a:solidFill>
                            <a:srgbClr val="222222"/>
                          </a:solidFill>
                          <a:effectLst/>
                        </a:rPr>
                        <a:t>✅</a:t>
                      </a:r>
                    </a:p>
                  </a:txBody>
                  <a:tcPr marL="18262" marR="18262" marT="9131" marB="9131">
                    <a:lnL w="12700" cap="flat" cmpd="sng" algn="ctr">
                      <a:solidFill>
                        <a:srgbClr val="909C1E"/>
                      </a:solidFill>
                      <a:prstDash val="solid"/>
                      <a:round/>
                      <a:headEnd type="none" w="med" len="med"/>
                      <a:tailEnd type="none" w="med" len="med"/>
                    </a:lnL>
                    <a:lnR w="12700" cap="flat" cmpd="sng" algn="ctr">
                      <a:solidFill>
                        <a:srgbClr val="D09B1E"/>
                      </a:solidFill>
                      <a:prstDash val="solid"/>
                      <a:round/>
                      <a:headEnd type="none" w="med" len="med"/>
                      <a:tailEnd type="none" w="med" len="med"/>
                    </a:lnR>
                    <a:lnT w="12700" cap="flat" cmpd="sng" algn="ctr">
                      <a:solidFill>
                        <a:srgbClr val="909C1E"/>
                      </a:solidFill>
                      <a:prstDash val="solid"/>
                      <a:round/>
                      <a:headEnd type="none" w="med" len="med"/>
                      <a:tailEnd type="none" w="med" len="med"/>
                    </a:lnT>
                    <a:lnB w="12700" cap="flat" cmpd="sng" algn="ctr">
                      <a:solidFill>
                        <a:srgbClr val="D0A21E"/>
                      </a:solidFill>
                      <a:prstDash val="solid"/>
                      <a:round/>
                      <a:headEnd type="none" w="med" len="med"/>
                      <a:tailEnd type="none" w="med" len="med"/>
                    </a:lnB>
                    <a:solidFill>
                      <a:srgbClr val="FFFFFF"/>
                    </a:solidFill>
                  </a:tcPr>
                </a:tc>
                <a:tc>
                  <a:txBody>
                    <a:bodyPr/>
                    <a:lstStyle/>
                    <a:p>
                      <a:r>
                        <a:rPr lang="en-US" sz="1200" b="0">
                          <a:solidFill>
                            <a:srgbClr val="222222"/>
                          </a:solidFill>
                          <a:effectLst/>
                        </a:rPr>
                        <a:t>Partition changes from 2 to 0</a:t>
                      </a:r>
                    </a:p>
                  </a:txBody>
                  <a:tcPr marL="18262" marR="18262" marT="9131" marB="9131">
                    <a:lnL w="12700" cap="flat" cmpd="sng" algn="ctr">
                      <a:solidFill>
                        <a:srgbClr val="D09B1E"/>
                      </a:solidFill>
                      <a:prstDash val="solid"/>
                      <a:round/>
                      <a:headEnd type="none" w="med" len="med"/>
                      <a:tailEnd type="none" w="med" len="med"/>
                    </a:lnL>
                    <a:lnR w="12700" cap="flat" cmpd="sng" algn="ctr">
                      <a:solidFill>
                        <a:srgbClr val="D09B1E"/>
                      </a:solidFill>
                      <a:prstDash val="solid"/>
                      <a:round/>
                      <a:headEnd type="none" w="med" len="med"/>
                      <a:tailEnd type="none" w="med" len="med"/>
                    </a:lnR>
                    <a:lnT w="12700" cap="flat" cmpd="sng" algn="ctr">
                      <a:solidFill>
                        <a:srgbClr val="D09B1E"/>
                      </a:solidFill>
                      <a:prstDash val="solid"/>
                      <a:round/>
                      <a:headEnd type="none" w="med" len="med"/>
                      <a:tailEnd type="none" w="med" len="med"/>
                    </a:lnT>
                    <a:lnB w="12700" cap="flat" cmpd="sng" algn="ctr">
                      <a:solidFill>
                        <a:srgbClr val="F09D1E"/>
                      </a:solidFill>
                      <a:prstDash val="solid"/>
                      <a:round/>
                      <a:headEnd type="none" w="med" len="med"/>
                      <a:tailEnd type="none" w="med" len="med"/>
                    </a:lnB>
                    <a:solidFill>
                      <a:srgbClr val="FFFFFF"/>
                    </a:solidFill>
                  </a:tcPr>
                </a:tc>
                <a:extLst>
                  <a:ext uri="{0D108BD9-81ED-4DB2-BD59-A6C34878D82A}">
                    <a16:rowId xmlns:a16="http://schemas.microsoft.com/office/drawing/2014/main" val="2572341984"/>
                  </a:ext>
                </a:extLst>
              </a:tr>
              <a:tr h="238449">
                <a:tc>
                  <a:txBody>
                    <a:bodyPr/>
                    <a:lstStyle/>
                    <a:p>
                      <a:r>
                        <a:rPr lang="en-US" sz="1200" b="0">
                          <a:effectLst/>
                        </a:rPr>
                        <a:t>Stage6</a:t>
                      </a:r>
                    </a:p>
                  </a:txBody>
                  <a:tcPr marL="18262" marR="18262" marT="9131" marB="9131">
                    <a:lnL w="12700" cap="flat" cmpd="sng" algn="ctr">
                      <a:solidFill>
                        <a:srgbClr val="D09B1E"/>
                      </a:solidFill>
                      <a:prstDash val="solid"/>
                      <a:round/>
                      <a:headEnd type="none" w="med" len="med"/>
                      <a:tailEnd type="none" w="med" len="med"/>
                    </a:lnL>
                    <a:lnR w="12700" cap="flat" cmpd="sng" algn="ctr">
                      <a:solidFill>
                        <a:srgbClr val="109D1E"/>
                      </a:solidFill>
                      <a:prstDash val="solid"/>
                      <a:round/>
                      <a:headEnd type="none" w="med" len="med"/>
                      <a:tailEnd type="none" w="med" len="med"/>
                    </a:lnR>
                    <a:lnT w="12700" cap="flat" cmpd="sng" algn="ctr">
                      <a:solidFill>
                        <a:srgbClr val="D09B1E"/>
                      </a:solidFill>
                      <a:prstDash val="solid"/>
                      <a:round/>
                      <a:headEnd type="none" w="med" len="med"/>
                      <a:tailEnd type="none" w="med" len="med"/>
                    </a:lnT>
                    <a:lnB w="12700" cap="flat" cmpd="sng" algn="ctr">
                      <a:solidFill>
                        <a:srgbClr val="F09D1E"/>
                      </a:solidFill>
                      <a:prstDash val="solid"/>
                      <a:round/>
                      <a:headEnd type="none" w="med" len="med"/>
                      <a:tailEnd type="none" w="med" len="med"/>
                    </a:lnB>
                    <a:solidFill>
                      <a:srgbClr val="FFFFFF"/>
                    </a:solidFill>
                  </a:tcPr>
                </a:tc>
                <a:tc>
                  <a:txBody>
                    <a:bodyPr/>
                    <a:lstStyle/>
                    <a:p>
                      <a:r>
                        <a:rPr lang="en-US" altLang="zh-CN" sz="1200" b="0">
                          <a:effectLst/>
                        </a:rPr>
                        <a:t>0</a:t>
                      </a:r>
                    </a:p>
                  </a:txBody>
                  <a:tcPr marL="18262" marR="18262" marT="9131" marB="9131">
                    <a:lnL w="12700" cap="flat" cmpd="sng" algn="ctr">
                      <a:solidFill>
                        <a:srgbClr val="109D1E"/>
                      </a:solidFill>
                      <a:prstDash val="solid"/>
                      <a:round/>
                      <a:headEnd type="none" w="med" len="med"/>
                      <a:tailEnd type="none" w="med" len="med"/>
                    </a:lnL>
                    <a:lnR w="12700" cap="flat" cmpd="sng" algn="ctr">
                      <a:solidFill>
                        <a:srgbClr val="D0A21E"/>
                      </a:solidFill>
                      <a:prstDash val="solid"/>
                      <a:round/>
                      <a:headEnd type="none" w="med" len="med"/>
                      <a:tailEnd type="none" w="med" len="med"/>
                    </a:lnR>
                    <a:lnT w="12700" cap="flat" cmpd="sng" algn="ctr">
                      <a:solidFill>
                        <a:srgbClr val="109D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tc>
                  <a:txBody>
                    <a:bodyPr/>
                    <a:lstStyle/>
                    <a:p>
                      <a:r>
                        <a:rPr lang="en-US" altLang="zh-CN" sz="1200" b="0">
                          <a:effectLst/>
                        </a:rPr>
                        <a:t>6</a:t>
                      </a:r>
                    </a:p>
                  </a:txBody>
                  <a:tcPr marL="18262" marR="18262" marT="9131" marB="9131">
                    <a:lnL w="12700" cap="flat" cmpd="sng" algn="ctr">
                      <a:solidFill>
                        <a:srgbClr val="D0A21E"/>
                      </a:solidFill>
                      <a:prstDash val="solid"/>
                      <a:round/>
                      <a:headEnd type="none" w="med" len="med"/>
                      <a:tailEnd type="none" w="med" len="med"/>
                    </a:lnL>
                    <a:lnR w="12700" cap="flat" cmpd="sng" algn="ctr">
                      <a:solidFill>
                        <a:srgbClr val="F09D1E"/>
                      </a:solidFill>
                      <a:prstDash val="solid"/>
                      <a:round/>
                      <a:headEnd type="none" w="med" len="med"/>
                      <a:tailEnd type="none" w="med" len="med"/>
                    </a:lnR>
                    <a:lnT w="12700" cap="flat" cmpd="sng" algn="ctr">
                      <a:solidFill>
                        <a:srgbClr val="D0A2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tc>
                  <a:txBody>
                    <a:bodyPr/>
                    <a:lstStyle/>
                    <a:p>
                      <a:r>
                        <a:rPr lang="en-US" sz="1200" b="0">
                          <a:effectLst/>
                        </a:rPr>
                        <a:t>⏳</a:t>
                      </a:r>
                    </a:p>
                  </a:txBody>
                  <a:tcPr marL="18262" marR="18262" marT="9131" marB="9131">
                    <a:lnL w="12700" cap="flat" cmpd="sng" algn="ctr">
                      <a:solidFill>
                        <a:srgbClr val="F09D1E"/>
                      </a:solidFill>
                      <a:prstDash val="solid"/>
                      <a:round/>
                      <a:headEnd type="none" w="med" len="med"/>
                      <a:tailEnd type="none" w="med" len="med"/>
                    </a:lnL>
                    <a:lnR w="12700" cap="flat" cmpd="sng" algn="ctr">
                      <a:solidFill>
                        <a:srgbClr val="D0A21E"/>
                      </a:solidFill>
                      <a:prstDash val="solid"/>
                      <a:round/>
                      <a:headEnd type="none" w="med" len="med"/>
                      <a:tailEnd type="none" w="med" len="med"/>
                    </a:lnR>
                    <a:lnT w="12700" cap="flat" cmpd="sng" algn="ctr">
                      <a:solidFill>
                        <a:srgbClr val="F09D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tc>
                  <a:txBody>
                    <a:bodyPr/>
                    <a:lstStyle/>
                    <a:p>
                      <a:r>
                        <a:rPr lang="en-US" sz="1200" b="0">
                          <a:effectLst/>
                        </a:rPr>
                        <a:t>⏳</a:t>
                      </a:r>
                    </a:p>
                  </a:txBody>
                  <a:tcPr marL="18262" marR="18262" marT="9131" marB="9131">
                    <a:lnL w="12700" cap="flat" cmpd="sng" algn="ctr">
                      <a:solidFill>
                        <a:srgbClr val="D0A21E"/>
                      </a:solidFill>
                      <a:prstDash val="solid"/>
                      <a:round/>
                      <a:headEnd type="none" w="med" len="med"/>
                      <a:tailEnd type="none" w="med" len="med"/>
                    </a:lnL>
                    <a:lnR w="12700" cap="flat" cmpd="sng" algn="ctr">
                      <a:solidFill>
                        <a:srgbClr val="F09D1E"/>
                      </a:solidFill>
                      <a:prstDash val="solid"/>
                      <a:round/>
                      <a:headEnd type="none" w="med" len="med"/>
                      <a:tailEnd type="none" w="med" len="med"/>
                    </a:lnR>
                    <a:lnT w="12700" cap="flat" cmpd="sng" algn="ctr">
                      <a:solidFill>
                        <a:srgbClr val="D0A2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tc>
                  <a:txBody>
                    <a:bodyPr/>
                    <a:lstStyle/>
                    <a:p>
                      <a:r>
                        <a:rPr lang="en-US" sz="1200" b="0">
                          <a:effectLst/>
                        </a:rPr>
                        <a:t>⏳</a:t>
                      </a:r>
                    </a:p>
                  </a:txBody>
                  <a:tcPr marL="18262" marR="18262" marT="9131" marB="9131">
                    <a:lnL w="12700" cap="flat" cmpd="sng" algn="ctr">
                      <a:solidFill>
                        <a:srgbClr val="F09D1E"/>
                      </a:solidFill>
                      <a:prstDash val="solid"/>
                      <a:round/>
                      <a:headEnd type="none" w="med" len="med"/>
                      <a:tailEnd type="none" w="med" len="med"/>
                    </a:lnL>
                    <a:lnR w="12700" cap="flat" cmpd="sng" algn="ctr">
                      <a:solidFill>
                        <a:srgbClr val="F09D1E"/>
                      </a:solidFill>
                      <a:prstDash val="solid"/>
                      <a:round/>
                      <a:headEnd type="none" w="med" len="med"/>
                      <a:tailEnd type="none" w="med" len="med"/>
                    </a:lnR>
                    <a:lnT w="12700" cap="flat" cmpd="sng" algn="ctr">
                      <a:solidFill>
                        <a:srgbClr val="F09D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F09D1E"/>
                      </a:solidFill>
                      <a:prstDash val="solid"/>
                      <a:round/>
                      <a:headEnd type="none" w="med" len="med"/>
                      <a:tailEnd type="none" w="med" len="med"/>
                    </a:lnL>
                    <a:lnR w="12700" cap="flat" cmpd="sng" algn="ctr">
                      <a:solidFill>
                        <a:srgbClr val="F09D1E"/>
                      </a:solidFill>
                      <a:prstDash val="solid"/>
                      <a:round/>
                      <a:headEnd type="none" w="med" len="med"/>
                      <a:tailEnd type="none" w="med" len="med"/>
                    </a:lnR>
                    <a:lnT w="12700" cap="flat" cmpd="sng" algn="ctr">
                      <a:solidFill>
                        <a:srgbClr val="F09D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F09D1E"/>
                      </a:solidFill>
                      <a:prstDash val="solid"/>
                      <a:round/>
                      <a:headEnd type="none" w="med" len="med"/>
                      <a:tailEnd type="none" w="med" len="med"/>
                    </a:lnL>
                    <a:lnR w="12700" cap="flat" cmpd="sng" algn="ctr">
                      <a:solidFill>
                        <a:srgbClr val="D0A21E"/>
                      </a:solidFill>
                      <a:prstDash val="solid"/>
                      <a:round/>
                      <a:headEnd type="none" w="med" len="med"/>
                      <a:tailEnd type="none" w="med" len="med"/>
                    </a:lnR>
                    <a:lnT w="12700" cap="flat" cmpd="sng" algn="ctr">
                      <a:solidFill>
                        <a:srgbClr val="F09D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D0A21E"/>
                      </a:solidFill>
                      <a:prstDash val="solid"/>
                      <a:round/>
                      <a:headEnd type="none" w="med" len="med"/>
                      <a:tailEnd type="none" w="med" len="med"/>
                    </a:lnL>
                    <a:lnR w="12700" cap="flat" cmpd="sng" algn="ctr">
                      <a:solidFill>
                        <a:srgbClr val="F09D1E"/>
                      </a:solidFill>
                      <a:prstDash val="solid"/>
                      <a:round/>
                      <a:headEnd type="none" w="med" len="med"/>
                      <a:tailEnd type="none" w="med" len="med"/>
                    </a:lnR>
                    <a:lnT w="12700" cap="flat" cmpd="sng" algn="ctr">
                      <a:solidFill>
                        <a:srgbClr val="D0A2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tc>
                  <a:txBody>
                    <a:bodyPr/>
                    <a:lstStyle/>
                    <a:p>
                      <a:endParaRPr lang="zh-CN" altLang="en-US" sz="1200" b="0">
                        <a:effectLst/>
                      </a:endParaRPr>
                    </a:p>
                  </a:txBody>
                  <a:tcPr marL="18262" marR="18262" marT="9131" marB="9131">
                    <a:lnL w="12700" cap="flat" cmpd="sng" algn="ctr">
                      <a:solidFill>
                        <a:srgbClr val="F09D1E"/>
                      </a:solidFill>
                      <a:prstDash val="solid"/>
                      <a:round/>
                      <a:headEnd type="none" w="med" len="med"/>
                      <a:tailEnd type="none" w="med" len="med"/>
                    </a:lnL>
                    <a:lnR w="12700" cap="flat" cmpd="sng" algn="ctr">
                      <a:solidFill>
                        <a:srgbClr val="F09D1E"/>
                      </a:solidFill>
                      <a:prstDash val="solid"/>
                      <a:round/>
                      <a:headEnd type="none" w="med" len="med"/>
                      <a:tailEnd type="none" w="med" len="med"/>
                    </a:lnR>
                    <a:lnT w="12700" cap="flat" cmpd="sng" algn="ctr">
                      <a:solidFill>
                        <a:srgbClr val="F09D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extLst>
                  <a:ext uri="{0D108BD9-81ED-4DB2-BD59-A6C34878D82A}">
                    <a16:rowId xmlns:a16="http://schemas.microsoft.com/office/drawing/2014/main" val="684695071"/>
                  </a:ext>
                </a:extLst>
              </a:tr>
              <a:tr h="470826">
                <a:tc>
                  <a:txBody>
                    <a:bodyPr/>
                    <a:lstStyle/>
                    <a:p>
                      <a:r>
                        <a:rPr lang="en-US" sz="1200" b="0">
                          <a:solidFill>
                            <a:srgbClr val="222222"/>
                          </a:solidFill>
                          <a:effectLst/>
                        </a:rPr>
                        <a:t>Stage7</a:t>
                      </a:r>
                    </a:p>
                  </a:txBody>
                  <a:tcPr marL="18262" marR="18262" marT="9131" marB="9131">
                    <a:lnL w="12700" cap="flat" cmpd="sng" algn="ctr">
                      <a:solidFill>
                        <a:srgbClr val="F09D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F09D1E"/>
                      </a:solidFill>
                      <a:prstDash val="solid"/>
                      <a:round/>
                      <a:headEnd type="none" w="med" len="med"/>
                      <a:tailEnd type="none" w="med" len="med"/>
                    </a:lnT>
                    <a:lnB w="12700" cap="flat" cmpd="sng" algn="ctr">
                      <a:solidFill>
                        <a:srgbClr val="309E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0</a:t>
                      </a: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5</a:t>
                      </a: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tc>
                  <a:txBody>
                    <a:bodyPr/>
                    <a:lstStyle/>
                    <a:p>
                      <a:r>
                        <a:rPr lang="en-US" sz="1200" b="0">
                          <a:solidFill>
                            <a:srgbClr val="222222"/>
                          </a:solidFill>
                          <a:effectLst/>
                        </a:rPr>
                        <a:t>⏳</a:t>
                      </a: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tc>
                  <a:txBody>
                    <a:bodyPr/>
                    <a:lstStyle/>
                    <a:p>
                      <a:r>
                        <a:rPr lang="en-US" sz="1200" b="0">
                          <a:solidFill>
                            <a:srgbClr val="222222"/>
                          </a:solidFill>
                          <a:effectLst/>
                        </a:rPr>
                        <a:t>⏳</a:t>
                      </a: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tc>
                  <a:txBody>
                    <a:bodyPr/>
                    <a:lstStyle/>
                    <a:p>
                      <a:endParaRPr lang="zh-CN" altLang="en-US" sz="1200" b="0">
                        <a:solidFill>
                          <a:srgbClr val="222222"/>
                        </a:solidFill>
                        <a:effectLst/>
                      </a:endParaRP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tc>
                  <a:txBody>
                    <a:bodyPr/>
                    <a:lstStyle/>
                    <a:p>
                      <a:r>
                        <a:rPr lang="en-US" sz="1200" b="0">
                          <a:solidFill>
                            <a:srgbClr val="222222"/>
                          </a:solidFill>
                          <a:effectLst/>
                        </a:rPr>
                        <a:t>Reclaim a Replica for the accommodation of unready ones</a:t>
                      </a: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309E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extLst>
                  <a:ext uri="{0D108BD9-81ED-4DB2-BD59-A6C34878D82A}">
                    <a16:rowId xmlns:a16="http://schemas.microsoft.com/office/drawing/2014/main" val="2926792079"/>
                  </a:ext>
                </a:extLst>
              </a:tr>
              <a:tr h="241147">
                <a:tc>
                  <a:txBody>
                    <a:bodyPr/>
                    <a:lstStyle/>
                    <a:p>
                      <a:r>
                        <a:rPr lang="en-US" sz="1200" b="0">
                          <a:effectLst/>
                        </a:rPr>
                        <a:t>Stage8</a:t>
                      </a:r>
                    </a:p>
                  </a:txBody>
                  <a:tcPr marL="18262" marR="18262" marT="9131" marB="9131">
                    <a:lnL w="12700" cap="flat" cmpd="sng" algn="ctr">
                      <a:solidFill>
                        <a:srgbClr val="309E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309E1E"/>
                      </a:solidFill>
                      <a:prstDash val="solid"/>
                      <a:round/>
                      <a:headEnd type="none" w="med" len="med"/>
                      <a:tailEnd type="none" w="med" len="med"/>
                    </a:lnT>
                    <a:lnB w="12700" cap="flat" cmpd="sng" algn="ctr">
                      <a:solidFill>
                        <a:srgbClr val="90AC1E"/>
                      </a:solidFill>
                      <a:prstDash val="solid"/>
                      <a:round/>
                      <a:headEnd type="none" w="med" len="med"/>
                      <a:tailEnd type="none" w="med" len="med"/>
                    </a:lnB>
                    <a:solidFill>
                      <a:srgbClr val="FFFFFF"/>
                    </a:solidFill>
                  </a:tcPr>
                </a:tc>
                <a:tc>
                  <a:txBody>
                    <a:bodyPr/>
                    <a:lstStyle/>
                    <a:p>
                      <a:r>
                        <a:rPr lang="en-US" altLang="zh-CN" sz="1200" b="0">
                          <a:effectLst/>
                        </a:rPr>
                        <a:t>0</a:t>
                      </a: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90AC1E"/>
                      </a:solidFill>
                      <a:prstDash val="solid"/>
                      <a:round/>
                      <a:headEnd type="none" w="med" len="med"/>
                      <a:tailEnd type="none" w="med" len="med"/>
                    </a:lnT>
                    <a:lnB w="12700" cap="flat" cmpd="sng" algn="ctr">
                      <a:solidFill>
                        <a:srgbClr val="B0AE1E"/>
                      </a:solidFill>
                      <a:prstDash val="solid"/>
                      <a:round/>
                      <a:headEnd type="none" w="med" len="med"/>
                      <a:tailEnd type="none" w="med" len="med"/>
                    </a:lnB>
                    <a:solidFill>
                      <a:srgbClr val="FFFFFF"/>
                    </a:solidFill>
                  </a:tcPr>
                </a:tc>
                <a:tc>
                  <a:txBody>
                    <a:bodyPr/>
                    <a:lstStyle/>
                    <a:p>
                      <a:r>
                        <a:rPr lang="en-US" altLang="zh-CN" sz="1200" b="0">
                          <a:effectLst/>
                        </a:rPr>
                        <a:t>4</a:t>
                      </a: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90AC1E"/>
                      </a:solidFill>
                      <a:prstDash val="solid"/>
                      <a:round/>
                      <a:headEnd type="none" w="med" len="med"/>
                      <a:tailEnd type="none" w="med" len="med"/>
                    </a:lnT>
                    <a:lnB w="12700" cap="flat" cmpd="sng" algn="ctr">
                      <a:solidFill>
                        <a:srgbClr val="B0AE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90AC1E"/>
                      </a:solidFill>
                      <a:prstDash val="solid"/>
                      <a:round/>
                      <a:headEnd type="none" w="med" len="med"/>
                      <a:tailEnd type="none" w="med" len="med"/>
                    </a:lnT>
                    <a:lnB w="12700" cap="flat" cmpd="sng" algn="ctr">
                      <a:solidFill>
                        <a:srgbClr val="10B11E"/>
                      </a:solidFill>
                      <a:prstDash val="solid"/>
                      <a:round/>
                      <a:headEnd type="none" w="med" len="med"/>
                      <a:tailEnd type="none" w="med" len="med"/>
                    </a:lnB>
                    <a:solidFill>
                      <a:srgbClr val="FFFFFF"/>
                    </a:solidFill>
                  </a:tcPr>
                </a:tc>
                <a:tc>
                  <a:txBody>
                    <a:bodyPr/>
                    <a:lstStyle/>
                    <a:p>
                      <a:r>
                        <a:rPr lang="en-US" sz="1200" b="0">
                          <a:effectLst/>
                        </a:rPr>
                        <a:t>⏳</a:t>
                      </a: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90AC1E"/>
                      </a:solidFill>
                      <a:prstDash val="solid"/>
                      <a:round/>
                      <a:headEnd type="none" w="med" len="med"/>
                      <a:tailEnd type="none" w="med" len="med"/>
                    </a:lnT>
                    <a:lnB w="12700" cap="flat" cmpd="sng" algn="ctr">
                      <a:solidFill>
                        <a:srgbClr val="B0AE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90AC1E"/>
                      </a:solidFill>
                      <a:prstDash val="solid"/>
                      <a:round/>
                      <a:headEnd type="none" w="med" len="med"/>
                      <a:tailEnd type="none" w="med" len="med"/>
                    </a:lnT>
                    <a:lnB w="12700" cap="flat" cmpd="sng" algn="ctr">
                      <a:solidFill>
                        <a:srgbClr val="B0AE1E"/>
                      </a:solidFill>
                      <a:prstDash val="solid"/>
                      <a:round/>
                      <a:headEnd type="none" w="med" len="med"/>
                      <a:tailEnd type="none" w="med" len="med"/>
                    </a:lnB>
                    <a:solidFill>
                      <a:srgbClr val="FFFFFF"/>
                    </a:solidFill>
                  </a:tcPr>
                </a:tc>
                <a:tc>
                  <a:txBody>
                    <a:bodyPr/>
                    <a:lstStyle/>
                    <a:p>
                      <a:r>
                        <a:rPr lang="zh-CN" altLang="en-US" sz="1200" b="0">
                          <a:effectLst/>
                        </a:rPr>
                        <a:t>✅</a:t>
                      </a: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90AC1E"/>
                      </a:solidFill>
                      <a:prstDash val="solid"/>
                      <a:round/>
                      <a:headEnd type="none" w="med" len="med"/>
                      <a:tailEnd type="none" w="med" len="med"/>
                    </a:lnT>
                    <a:lnB w="12700" cap="flat" cmpd="sng" algn="ctr">
                      <a:solidFill>
                        <a:srgbClr val="10B11E"/>
                      </a:solidFill>
                      <a:prstDash val="solid"/>
                      <a:round/>
                      <a:headEnd type="none" w="med" len="med"/>
                      <a:tailEnd type="none" w="med" len="med"/>
                    </a:lnB>
                    <a:solidFill>
                      <a:srgbClr val="FFFFFF"/>
                    </a:solidFill>
                  </a:tcPr>
                </a:tc>
                <a:tc>
                  <a:txBody>
                    <a:bodyPr/>
                    <a:lstStyle/>
                    <a:p>
                      <a:endParaRPr lang="zh-CN" altLang="en-US" sz="1200" b="0">
                        <a:effectLst/>
                      </a:endParaRP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90AC1E"/>
                      </a:solidFill>
                      <a:prstDash val="solid"/>
                      <a:round/>
                      <a:headEnd type="none" w="med" len="med"/>
                      <a:tailEnd type="none" w="med" len="med"/>
                    </a:lnT>
                    <a:lnB w="12700" cap="flat" cmpd="sng" algn="ctr">
                      <a:solidFill>
                        <a:srgbClr val="10B11E"/>
                      </a:solidFill>
                      <a:prstDash val="solid"/>
                      <a:round/>
                      <a:headEnd type="none" w="med" len="med"/>
                      <a:tailEnd type="none" w="med" len="med"/>
                    </a:lnB>
                    <a:solidFill>
                      <a:srgbClr val="FFFFFF"/>
                    </a:solidFill>
                  </a:tcPr>
                </a:tc>
                <a:tc>
                  <a:txBody>
                    <a:bodyPr/>
                    <a:lstStyle/>
                    <a:p>
                      <a:endParaRPr lang="zh-CN" altLang="en-US" sz="1200" b="0">
                        <a:effectLst/>
                      </a:endParaRP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90AC1E"/>
                      </a:solidFill>
                      <a:prstDash val="solid"/>
                      <a:round/>
                      <a:headEnd type="none" w="med" len="med"/>
                      <a:tailEnd type="none" w="med" len="med"/>
                    </a:lnT>
                    <a:lnB w="12700" cap="flat" cmpd="sng" algn="ctr">
                      <a:solidFill>
                        <a:srgbClr val="10B11E"/>
                      </a:solidFill>
                      <a:prstDash val="solid"/>
                      <a:round/>
                      <a:headEnd type="none" w="med" len="med"/>
                      <a:tailEnd type="none" w="med" len="med"/>
                    </a:lnB>
                    <a:solidFill>
                      <a:srgbClr val="FFFFFF"/>
                    </a:solidFill>
                  </a:tcPr>
                </a:tc>
                <a:tc>
                  <a:txBody>
                    <a:bodyPr/>
                    <a:lstStyle/>
                    <a:p>
                      <a:r>
                        <a:rPr lang="en-US" sz="1200" b="0">
                          <a:effectLst/>
                        </a:rPr>
                        <a:t>Release another Replica</a:t>
                      </a: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90AC1E"/>
                      </a:solidFill>
                      <a:prstDash val="solid"/>
                      <a:round/>
                      <a:headEnd type="none" w="med" len="med"/>
                      <a:tailEnd type="none" w="med" len="med"/>
                    </a:lnR>
                    <a:lnT w="12700" cap="flat" cmpd="sng" algn="ctr">
                      <a:solidFill>
                        <a:srgbClr val="90AC1E"/>
                      </a:solidFill>
                      <a:prstDash val="solid"/>
                      <a:round/>
                      <a:headEnd type="none" w="med" len="med"/>
                      <a:tailEnd type="none" w="med" len="med"/>
                    </a:lnT>
                    <a:lnB w="12700" cap="flat" cmpd="sng" algn="ctr">
                      <a:solidFill>
                        <a:srgbClr val="10B11E"/>
                      </a:solidFill>
                      <a:prstDash val="solid"/>
                      <a:round/>
                      <a:headEnd type="none" w="med" len="med"/>
                      <a:tailEnd type="none" w="med" len="med"/>
                    </a:lnB>
                    <a:solidFill>
                      <a:srgbClr val="FFFFFF"/>
                    </a:solidFill>
                  </a:tcPr>
                </a:tc>
                <a:extLst>
                  <a:ext uri="{0D108BD9-81ED-4DB2-BD59-A6C34878D82A}">
                    <a16:rowId xmlns:a16="http://schemas.microsoft.com/office/drawing/2014/main" val="1821809773"/>
                  </a:ext>
                </a:extLst>
              </a:tr>
              <a:tr h="241147">
                <a:tc>
                  <a:txBody>
                    <a:bodyPr/>
                    <a:lstStyle/>
                    <a:p>
                      <a:r>
                        <a:rPr lang="en-US" sz="1200" b="0">
                          <a:solidFill>
                            <a:srgbClr val="222222"/>
                          </a:solidFill>
                          <a:effectLst/>
                        </a:rPr>
                        <a:t>Stage9</a:t>
                      </a:r>
                    </a:p>
                  </a:txBody>
                  <a:tcPr marL="18262" marR="18262" marT="9131" marB="9131">
                    <a:lnL w="12700" cap="flat" cmpd="sng" algn="ctr">
                      <a:solidFill>
                        <a:srgbClr val="90AC1E"/>
                      </a:solidFill>
                      <a:prstDash val="solid"/>
                      <a:round/>
                      <a:headEnd type="none" w="med" len="med"/>
                      <a:tailEnd type="none" w="med" len="med"/>
                    </a:lnL>
                    <a:lnR w="12700" cap="flat" cmpd="sng" algn="ctr">
                      <a:solidFill>
                        <a:srgbClr val="B0AE1E"/>
                      </a:solidFill>
                      <a:prstDash val="solid"/>
                      <a:round/>
                      <a:headEnd type="none" w="med" len="med"/>
                      <a:tailEnd type="none" w="med" len="med"/>
                    </a:lnR>
                    <a:lnT w="12700" cap="flat" cmpd="sng" algn="ctr">
                      <a:solidFill>
                        <a:srgbClr val="90AC1E"/>
                      </a:solidFill>
                      <a:prstDash val="solid"/>
                      <a:round/>
                      <a:headEnd type="none" w="med" len="med"/>
                      <a:tailEnd type="none" w="med" len="med"/>
                    </a:lnT>
                    <a:lnB w="4763" cap="flat" cmpd="sng" algn="ctr">
                      <a:solidFill>
                        <a:srgbClr val="90AC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0</a:t>
                      </a:r>
                    </a:p>
                  </a:txBody>
                  <a:tcPr marL="18262" marR="18262" marT="9131" marB="9131">
                    <a:lnL w="12700" cap="flat" cmpd="sng" algn="ctr">
                      <a:solidFill>
                        <a:srgbClr val="B0AE1E"/>
                      </a:solidFill>
                      <a:prstDash val="solid"/>
                      <a:round/>
                      <a:headEnd type="none" w="med" len="med"/>
                      <a:tailEnd type="none" w="med" len="med"/>
                    </a:lnL>
                    <a:lnR w="12700" cap="flat" cmpd="sng" algn="ctr">
                      <a:solidFill>
                        <a:srgbClr val="B0AE1E"/>
                      </a:solidFill>
                      <a:prstDash val="solid"/>
                      <a:round/>
                      <a:headEnd type="none" w="med" len="med"/>
                      <a:tailEnd type="none" w="med" len="med"/>
                    </a:lnR>
                    <a:lnT w="12700" cap="flat" cmpd="sng" algn="ctr">
                      <a:solidFill>
                        <a:srgbClr val="B0AE1E"/>
                      </a:solidFill>
                      <a:prstDash val="solid"/>
                      <a:round/>
                      <a:headEnd type="none" w="med" len="med"/>
                      <a:tailEnd type="none" w="med" len="med"/>
                    </a:lnT>
                    <a:lnB w="4763" cap="flat" cmpd="sng" algn="ctr">
                      <a:solidFill>
                        <a:srgbClr val="B0AE1E"/>
                      </a:solidFill>
                      <a:prstDash val="solid"/>
                      <a:round/>
                      <a:headEnd type="none" w="med" len="med"/>
                      <a:tailEnd type="none" w="med" len="med"/>
                    </a:lnB>
                    <a:solidFill>
                      <a:srgbClr val="FFFFFF"/>
                    </a:solidFill>
                  </a:tcPr>
                </a:tc>
                <a:tc>
                  <a:txBody>
                    <a:bodyPr/>
                    <a:lstStyle/>
                    <a:p>
                      <a:r>
                        <a:rPr lang="en-US" altLang="zh-CN" sz="1200" b="0">
                          <a:solidFill>
                            <a:srgbClr val="222222"/>
                          </a:solidFill>
                          <a:effectLst/>
                        </a:rPr>
                        <a:t>4</a:t>
                      </a:r>
                    </a:p>
                  </a:txBody>
                  <a:tcPr marL="18262" marR="18262" marT="9131" marB="9131">
                    <a:lnL w="12700" cap="flat" cmpd="sng" algn="ctr">
                      <a:solidFill>
                        <a:srgbClr val="B0AE1E"/>
                      </a:solidFill>
                      <a:prstDash val="solid"/>
                      <a:round/>
                      <a:headEnd type="none" w="med" len="med"/>
                      <a:tailEnd type="none" w="med" len="med"/>
                    </a:lnL>
                    <a:lnR w="12700" cap="flat" cmpd="sng" algn="ctr">
                      <a:solidFill>
                        <a:srgbClr val="10B11E"/>
                      </a:solidFill>
                      <a:prstDash val="solid"/>
                      <a:round/>
                      <a:headEnd type="none" w="med" len="med"/>
                      <a:tailEnd type="none" w="med" len="med"/>
                    </a:lnR>
                    <a:lnT w="12700" cap="flat" cmpd="sng" algn="ctr">
                      <a:solidFill>
                        <a:srgbClr val="B0AE1E"/>
                      </a:solidFill>
                      <a:prstDash val="solid"/>
                      <a:round/>
                      <a:headEnd type="none" w="med" len="med"/>
                      <a:tailEnd type="none" w="med" len="med"/>
                    </a:lnT>
                    <a:lnB w="4763" cap="flat" cmpd="sng" algn="ctr">
                      <a:solidFill>
                        <a:srgbClr val="B0AE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10B11E"/>
                      </a:solidFill>
                      <a:prstDash val="solid"/>
                      <a:round/>
                      <a:headEnd type="none" w="med" len="med"/>
                      <a:tailEnd type="none" w="med" len="med"/>
                    </a:lnL>
                    <a:lnR w="12700" cap="flat" cmpd="sng" algn="ctr">
                      <a:solidFill>
                        <a:srgbClr val="B0AE1E"/>
                      </a:solidFill>
                      <a:prstDash val="solid"/>
                      <a:round/>
                      <a:headEnd type="none" w="med" len="med"/>
                      <a:tailEnd type="none" w="med" len="med"/>
                    </a:lnR>
                    <a:lnT w="12700" cap="flat" cmpd="sng" algn="ctr">
                      <a:solidFill>
                        <a:srgbClr val="10B11E"/>
                      </a:solidFill>
                      <a:prstDash val="solid"/>
                      <a:round/>
                      <a:headEnd type="none" w="med" len="med"/>
                      <a:tailEnd type="none" w="med" len="med"/>
                    </a:lnT>
                    <a:lnB w="4763" cap="flat" cmpd="sng" algn="ctr">
                      <a:solidFill>
                        <a:srgbClr val="10B1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B0AE1E"/>
                      </a:solidFill>
                      <a:prstDash val="solid"/>
                      <a:round/>
                      <a:headEnd type="none" w="med" len="med"/>
                      <a:tailEnd type="none" w="med" len="med"/>
                    </a:lnL>
                    <a:lnR w="12700" cap="flat" cmpd="sng" algn="ctr">
                      <a:solidFill>
                        <a:srgbClr val="B0AE1E"/>
                      </a:solidFill>
                      <a:prstDash val="solid"/>
                      <a:round/>
                      <a:headEnd type="none" w="med" len="med"/>
                      <a:tailEnd type="none" w="med" len="med"/>
                    </a:lnR>
                    <a:lnT w="12700" cap="flat" cmpd="sng" algn="ctr">
                      <a:solidFill>
                        <a:srgbClr val="B0AE1E"/>
                      </a:solidFill>
                      <a:prstDash val="solid"/>
                      <a:round/>
                      <a:headEnd type="none" w="med" len="med"/>
                      <a:tailEnd type="none" w="med" len="med"/>
                    </a:lnT>
                    <a:lnB w="4763" cap="flat" cmpd="sng" algn="ctr">
                      <a:solidFill>
                        <a:srgbClr val="B0AE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B0AE1E"/>
                      </a:solidFill>
                      <a:prstDash val="solid"/>
                      <a:round/>
                      <a:headEnd type="none" w="med" len="med"/>
                      <a:tailEnd type="none" w="med" len="med"/>
                    </a:lnL>
                    <a:lnR w="12700" cap="flat" cmpd="sng" algn="ctr">
                      <a:solidFill>
                        <a:srgbClr val="10B11E"/>
                      </a:solidFill>
                      <a:prstDash val="solid"/>
                      <a:round/>
                      <a:headEnd type="none" w="med" len="med"/>
                      <a:tailEnd type="none" w="med" len="med"/>
                    </a:lnR>
                    <a:lnT w="12700" cap="flat" cmpd="sng" algn="ctr">
                      <a:solidFill>
                        <a:srgbClr val="B0AE1E"/>
                      </a:solidFill>
                      <a:prstDash val="solid"/>
                      <a:round/>
                      <a:headEnd type="none" w="med" len="med"/>
                      <a:tailEnd type="none" w="med" len="med"/>
                    </a:lnT>
                    <a:lnB w="4763" cap="flat" cmpd="sng" algn="ctr">
                      <a:solidFill>
                        <a:srgbClr val="B0AE1E"/>
                      </a:solidFill>
                      <a:prstDash val="solid"/>
                      <a:round/>
                      <a:headEnd type="none" w="med" len="med"/>
                      <a:tailEnd type="none" w="med" len="med"/>
                    </a:lnB>
                    <a:solidFill>
                      <a:srgbClr val="FFFFFF"/>
                    </a:solidFill>
                  </a:tcPr>
                </a:tc>
                <a:tc>
                  <a:txBody>
                    <a:bodyPr/>
                    <a:lstStyle/>
                    <a:p>
                      <a:r>
                        <a:rPr lang="zh-CN" altLang="en-US" sz="1200" b="0">
                          <a:solidFill>
                            <a:srgbClr val="222222"/>
                          </a:solidFill>
                          <a:effectLst/>
                        </a:rPr>
                        <a:t>✅</a:t>
                      </a:r>
                    </a:p>
                  </a:txBody>
                  <a:tcPr marL="18262" marR="18262" marT="9131" marB="9131">
                    <a:lnL w="12700" cap="flat" cmpd="sng" algn="ctr">
                      <a:solidFill>
                        <a:srgbClr val="10B11E"/>
                      </a:solidFill>
                      <a:prstDash val="solid"/>
                      <a:round/>
                      <a:headEnd type="none" w="med" len="med"/>
                      <a:tailEnd type="none" w="med" len="med"/>
                    </a:lnL>
                    <a:lnR w="12700" cap="flat" cmpd="sng" algn="ctr">
                      <a:solidFill>
                        <a:srgbClr val="10B11E"/>
                      </a:solidFill>
                      <a:prstDash val="solid"/>
                      <a:round/>
                      <a:headEnd type="none" w="med" len="med"/>
                      <a:tailEnd type="none" w="med" len="med"/>
                    </a:lnR>
                    <a:lnT w="12700" cap="flat" cmpd="sng" algn="ctr">
                      <a:solidFill>
                        <a:srgbClr val="10B11E"/>
                      </a:solidFill>
                      <a:prstDash val="solid"/>
                      <a:round/>
                      <a:headEnd type="none" w="med" len="med"/>
                      <a:tailEnd type="none" w="med" len="med"/>
                    </a:lnT>
                    <a:lnB w="4763" cap="flat" cmpd="sng" algn="ctr">
                      <a:solidFill>
                        <a:srgbClr val="10B11E"/>
                      </a:solidFill>
                      <a:prstDash val="solid"/>
                      <a:round/>
                      <a:headEnd type="none" w="med" len="med"/>
                      <a:tailEnd type="none" w="med" len="med"/>
                    </a:lnB>
                    <a:solidFill>
                      <a:srgbClr val="FFFFFF"/>
                    </a:solidFill>
                  </a:tcPr>
                </a:tc>
                <a:tc>
                  <a:txBody>
                    <a:bodyPr/>
                    <a:lstStyle/>
                    <a:p>
                      <a:endParaRPr lang="zh-CN" altLang="en-US" sz="1200" b="0">
                        <a:solidFill>
                          <a:srgbClr val="222222"/>
                        </a:solidFill>
                        <a:effectLst/>
                      </a:endParaRPr>
                    </a:p>
                  </a:txBody>
                  <a:tcPr marL="18262" marR="18262" marT="9131" marB="9131">
                    <a:lnL w="12700" cap="flat" cmpd="sng" algn="ctr">
                      <a:solidFill>
                        <a:srgbClr val="10B11E"/>
                      </a:solidFill>
                      <a:prstDash val="solid"/>
                      <a:round/>
                      <a:headEnd type="none" w="med" len="med"/>
                      <a:tailEnd type="none" w="med" len="med"/>
                    </a:lnL>
                    <a:lnR w="12700" cap="flat" cmpd="sng" algn="ctr">
                      <a:solidFill>
                        <a:srgbClr val="10B11E"/>
                      </a:solidFill>
                      <a:prstDash val="solid"/>
                      <a:round/>
                      <a:headEnd type="none" w="med" len="med"/>
                      <a:tailEnd type="none" w="med" len="med"/>
                    </a:lnR>
                    <a:lnT w="12700" cap="flat" cmpd="sng" algn="ctr">
                      <a:solidFill>
                        <a:srgbClr val="10B11E"/>
                      </a:solidFill>
                      <a:prstDash val="solid"/>
                      <a:round/>
                      <a:headEnd type="none" w="med" len="med"/>
                      <a:tailEnd type="none" w="med" len="med"/>
                    </a:lnT>
                    <a:lnB w="4763" cap="flat" cmpd="sng" algn="ctr">
                      <a:solidFill>
                        <a:srgbClr val="10B11E"/>
                      </a:solidFill>
                      <a:prstDash val="solid"/>
                      <a:round/>
                      <a:headEnd type="none" w="med" len="med"/>
                      <a:tailEnd type="none" w="med" len="med"/>
                    </a:lnB>
                    <a:solidFill>
                      <a:srgbClr val="FFFFFF"/>
                    </a:solidFill>
                  </a:tcPr>
                </a:tc>
                <a:tc>
                  <a:txBody>
                    <a:bodyPr/>
                    <a:lstStyle/>
                    <a:p>
                      <a:endParaRPr lang="zh-CN" altLang="en-US" sz="1200" b="0">
                        <a:solidFill>
                          <a:srgbClr val="222222"/>
                        </a:solidFill>
                        <a:effectLst/>
                      </a:endParaRPr>
                    </a:p>
                  </a:txBody>
                  <a:tcPr marL="18262" marR="18262" marT="9131" marB="9131">
                    <a:lnL w="12700" cap="flat" cmpd="sng" algn="ctr">
                      <a:solidFill>
                        <a:srgbClr val="10B11E"/>
                      </a:solidFill>
                      <a:prstDash val="solid"/>
                      <a:round/>
                      <a:headEnd type="none" w="med" len="med"/>
                      <a:tailEnd type="none" w="med" len="med"/>
                    </a:lnL>
                    <a:lnR w="12700" cap="flat" cmpd="sng" algn="ctr">
                      <a:solidFill>
                        <a:srgbClr val="10B11E"/>
                      </a:solidFill>
                      <a:prstDash val="solid"/>
                      <a:round/>
                      <a:headEnd type="none" w="med" len="med"/>
                      <a:tailEnd type="none" w="med" len="med"/>
                    </a:lnR>
                    <a:lnT w="12700" cap="flat" cmpd="sng" algn="ctr">
                      <a:solidFill>
                        <a:srgbClr val="10B11E"/>
                      </a:solidFill>
                      <a:prstDash val="solid"/>
                      <a:round/>
                      <a:headEnd type="none" w="med" len="med"/>
                      <a:tailEnd type="none" w="med" len="med"/>
                    </a:lnT>
                    <a:lnB w="4763" cap="flat" cmpd="sng" algn="ctr">
                      <a:solidFill>
                        <a:srgbClr val="10B11E"/>
                      </a:solidFill>
                      <a:prstDash val="solid"/>
                      <a:round/>
                      <a:headEnd type="none" w="med" len="med"/>
                      <a:tailEnd type="none" w="med" len="med"/>
                    </a:lnB>
                    <a:solidFill>
                      <a:srgbClr val="FFFFFF"/>
                    </a:solidFill>
                  </a:tcPr>
                </a:tc>
                <a:tc>
                  <a:txBody>
                    <a:bodyPr/>
                    <a:lstStyle/>
                    <a:p>
                      <a:r>
                        <a:rPr lang="en-US" sz="1200" b="0" dirty="0">
                          <a:solidFill>
                            <a:srgbClr val="222222"/>
                          </a:solidFill>
                          <a:effectLst/>
                        </a:rPr>
                        <a:t>Rolling update completed</a:t>
                      </a:r>
                    </a:p>
                  </a:txBody>
                  <a:tcPr marL="18262" marR="18262" marT="9131" marB="9131">
                    <a:lnL w="12700" cap="flat" cmpd="sng" algn="ctr">
                      <a:solidFill>
                        <a:srgbClr val="10B11E"/>
                      </a:solidFill>
                      <a:prstDash val="solid"/>
                      <a:round/>
                      <a:headEnd type="none" w="med" len="med"/>
                      <a:tailEnd type="none" w="med" len="med"/>
                    </a:lnL>
                    <a:lnR w="12700" cap="flat" cmpd="sng" algn="ctr">
                      <a:solidFill>
                        <a:srgbClr val="10B11E"/>
                      </a:solidFill>
                      <a:prstDash val="solid"/>
                      <a:round/>
                      <a:headEnd type="none" w="med" len="med"/>
                      <a:tailEnd type="none" w="med" len="med"/>
                    </a:lnR>
                    <a:lnT w="12700" cap="flat" cmpd="sng" algn="ctr">
                      <a:solidFill>
                        <a:srgbClr val="10B11E"/>
                      </a:solidFill>
                      <a:prstDash val="solid"/>
                      <a:round/>
                      <a:headEnd type="none" w="med" len="med"/>
                      <a:tailEnd type="none" w="med" len="med"/>
                    </a:lnT>
                    <a:lnB w="4763" cap="flat" cmpd="sng" algn="ctr">
                      <a:solidFill>
                        <a:srgbClr val="10B11E"/>
                      </a:solidFill>
                      <a:prstDash val="solid"/>
                      <a:round/>
                      <a:headEnd type="none" w="med" len="med"/>
                      <a:tailEnd type="none" w="med" len="med"/>
                    </a:lnB>
                    <a:solidFill>
                      <a:srgbClr val="FFFFFF"/>
                    </a:solidFill>
                  </a:tcPr>
                </a:tc>
                <a:extLst>
                  <a:ext uri="{0D108BD9-81ED-4DB2-BD59-A6C34878D82A}">
                    <a16:rowId xmlns:a16="http://schemas.microsoft.com/office/drawing/2014/main" val="1515091100"/>
                  </a:ext>
                </a:extLst>
              </a:tr>
            </a:tbl>
          </a:graphicData>
        </a:graphic>
      </p:graphicFrame>
      <p:sp>
        <p:nvSpPr>
          <p:cNvPr id="11" name="文本框 10">
            <a:extLst>
              <a:ext uri="{FF2B5EF4-FFF2-40B4-BE49-F238E27FC236}">
                <a16:creationId xmlns:a16="http://schemas.microsoft.com/office/drawing/2014/main" id="{2315552A-E34F-8579-3833-FCA3B49844E9}"/>
              </a:ext>
            </a:extLst>
          </p:cNvPr>
          <p:cNvSpPr txBox="1"/>
          <p:nvPr/>
        </p:nvSpPr>
        <p:spPr>
          <a:xfrm>
            <a:off x="731766" y="6119336"/>
            <a:ext cx="6095256" cy="738664"/>
          </a:xfrm>
          <a:prstGeom prst="rect">
            <a:avLst/>
          </a:prstGeom>
          <a:noFill/>
        </p:spPr>
        <p:txBody>
          <a:bodyPr wrap="square">
            <a:spAutoFit/>
          </a:bodyPr>
          <a:lstStyle/>
          <a:p>
            <a:pPr algn="l"/>
            <a:r>
              <a:rPr lang="en-US" altLang="zh-CN" sz="1400" b="0" i="0" dirty="0">
                <a:solidFill>
                  <a:srgbClr val="222222"/>
                </a:solidFill>
                <a:effectLst/>
                <a:latin typeface="Open Sans" panose="020B0606030504020204" pitchFamily="34" charset="0"/>
              </a:rPr>
              <a:t>✅ Replica has been updated</a:t>
            </a:r>
          </a:p>
          <a:p>
            <a:pPr algn="l"/>
            <a:r>
              <a:rPr lang="en-US" altLang="zh-CN" sz="1400" b="0" i="0" dirty="0">
                <a:solidFill>
                  <a:srgbClr val="222222"/>
                </a:solidFill>
                <a:effectLst/>
                <a:latin typeface="Open Sans" panose="020B0606030504020204" pitchFamily="34" charset="0"/>
              </a:rPr>
              <a:t>❎ Replica hasn’t been updated</a:t>
            </a:r>
          </a:p>
          <a:p>
            <a:pPr algn="l"/>
            <a:r>
              <a:rPr lang="en-US" altLang="zh-CN" sz="1400" b="0" i="0" dirty="0">
                <a:solidFill>
                  <a:srgbClr val="222222"/>
                </a:solidFill>
                <a:effectLst/>
                <a:latin typeface="Open Sans" panose="020B0606030504020204" pitchFamily="34" charset="0"/>
              </a:rPr>
              <a:t>⏳ Replica is in rolling update</a:t>
            </a:r>
          </a:p>
        </p:txBody>
      </p:sp>
    </p:spTree>
    <p:extLst>
      <p:ext uri="{BB962C8B-B14F-4D97-AF65-F5344CB8AC3E}">
        <p14:creationId xmlns:p14="http://schemas.microsoft.com/office/powerpoint/2010/main" val="2875358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5002F-4531-A6D0-CB0B-30D6F788930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D1C1D78-A7A6-F94B-0651-C96B859192A9}"/>
              </a:ext>
            </a:extLst>
          </p:cNvPr>
          <p:cNvSpPr>
            <a:spLocks noGrp="1"/>
          </p:cNvSpPr>
          <p:nvPr>
            <p:ph type="title"/>
          </p:nvPr>
        </p:nvSpPr>
        <p:spPr/>
        <p:txBody>
          <a:bodyPr/>
          <a:lstStyle/>
          <a:p>
            <a:r>
              <a:rPr lang="en-US" altLang="zh-CN" dirty="0" err="1"/>
              <a:t>SubGroup</a:t>
            </a:r>
            <a:endParaRPr lang="zh-CN" altLang="en-US" dirty="0"/>
          </a:p>
        </p:txBody>
      </p:sp>
      <p:pic>
        <p:nvPicPr>
          <p:cNvPr id="14338" name="Picture 2" descr="kep-115 scheduling">
            <a:extLst>
              <a:ext uri="{FF2B5EF4-FFF2-40B4-BE49-F238E27FC236}">
                <a16:creationId xmlns:a16="http://schemas.microsoft.com/office/drawing/2014/main" id="{879C3112-BFF5-84BA-48B9-0563C4E75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5944" y="1937786"/>
            <a:ext cx="6255100" cy="4691326"/>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A22065C5-3A56-E3FC-0757-C9036A0635BD}"/>
              </a:ext>
            </a:extLst>
          </p:cNvPr>
          <p:cNvSpPr txBox="1"/>
          <p:nvPr/>
        </p:nvSpPr>
        <p:spPr>
          <a:xfrm>
            <a:off x="822709" y="1035801"/>
            <a:ext cx="9547189" cy="1354217"/>
          </a:xfrm>
          <a:prstGeom prst="rect">
            <a:avLst/>
          </a:prstGeom>
          <a:noFill/>
        </p:spPr>
        <p:txBody>
          <a:bodyPr wrap="square">
            <a:spAutoFit/>
          </a:bodyPr>
          <a:lstStyle/>
          <a:p>
            <a:pPr algn="l">
              <a:spcAft>
                <a:spcPts val="1200"/>
              </a:spcAft>
              <a:buNone/>
            </a:pPr>
            <a:r>
              <a:rPr lang="en-US" altLang="zh-CN" b="0" i="0" dirty="0">
                <a:solidFill>
                  <a:srgbClr val="1F2328"/>
                </a:solidFill>
                <a:effectLst/>
                <a:latin typeface="-apple-system"/>
              </a:rPr>
              <a:t>split each </a:t>
            </a:r>
            <a:r>
              <a:rPr lang="en-US" altLang="zh-CN" b="0" i="0" dirty="0" err="1">
                <a:solidFill>
                  <a:srgbClr val="1F2328"/>
                </a:solidFill>
                <a:effectLst/>
                <a:latin typeface="-apple-system"/>
              </a:rPr>
              <a:t>LeaderWorkerSet</a:t>
            </a:r>
            <a:r>
              <a:rPr lang="en-US" altLang="zh-CN" b="0" i="0" dirty="0">
                <a:solidFill>
                  <a:srgbClr val="1F2328"/>
                </a:solidFill>
                <a:effectLst/>
                <a:latin typeface="-apple-system"/>
              </a:rPr>
              <a:t> replica into smaller subgroups, and be able to deploy each subgroup on a separate accelerator island.</a:t>
            </a:r>
          </a:p>
          <a:p>
            <a:pPr>
              <a:buNone/>
            </a:pPr>
            <a:br>
              <a:rPr lang="en-US" altLang="zh-CN" b="0" i="0" dirty="0">
                <a:solidFill>
                  <a:srgbClr val="1F2328"/>
                </a:solidFill>
                <a:effectLst/>
                <a:latin typeface="-apple-system"/>
              </a:rPr>
            </a:br>
            <a:endParaRPr lang="zh-CN" altLang="en-US" dirty="0"/>
          </a:p>
        </p:txBody>
      </p:sp>
    </p:spTree>
    <p:extLst>
      <p:ext uri="{BB962C8B-B14F-4D97-AF65-F5344CB8AC3E}">
        <p14:creationId xmlns:p14="http://schemas.microsoft.com/office/powerpoint/2010/main" val="471494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8A1A5-AC6A-FD2F-09BB-61CA98C0DAD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1399A36-EDDC-E63E-CEF2-AF36AE853488}"/>
              </a:ext>
            </a:extLst>
          </p:cNvPr>
          <p:cNvSpPr>
            <a:spLocks noGrp="1"/>
          </p:cNvSpPr>
          <p:nvPr>
            <p:ph type="title"/>
          </p:nvPr>
        </p:nvSpPr>
        <p:spPr/>
        <p:txBody>
          <a:bodyPr/>
          <a:lstStyle/>
          <a:p>
            <a:r>
              <a:rPr lang="en-US" altLang="zh-CN" dirty="0" err="1"/>
              <a:t>Kueue</a:t>
            </a:r>
            <a:r>
              <a:rPr lang="en-US" altLang="zh-CN" dirty="0"/>
              <a:t> + LWS</a:t>
            </a:r>
            <a:endParaRPr lang="zh-CN" altLang="en-US" dirty="0"/>
          </a:p>
        </p:txBody>
      </p:sp>
      <p:sp>
        <p:nvSpPr>
          <p:cNvPr id="6" name="文本框 5">
            <a:extLst>
              <a:ext uri="{FF2B5EF4-FFF2-40B4-BE49-F238E27FC236}">
                <a16:creationId xmlns:a16="http://schemas.microsoft.com/office/drawing/2014/main" id="{0CC57FB1-006E-4A30-1F98-24C5096007F3}"/>
              </a:ext>
            </a:extLst>
          </p:cNvPr>
          <p:cNvSpPr txBox="1"/>
          <p:nvPr/>
        </p:nvSpPr>
        <p:spPr>
          <a:xfrm>
            <a:off x="6449786" y="745311"/>
            <a:ext cx="5623135"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t>apiVersion: leaderworkerset.x-k8s.io/v1</a:t>
            </a:r>
          </a:p>
          <a:p>
            <a:r>
              <a:rPr lang="zh-CN" altLang="en-US" dirty="0"/>
              <a:t>kind: LeaderWorkerSet</a:t>
            </a:r>
          </a:p>
          <a:p>
            <a:r>
              <a:rPr lang="zh-CN" altLang="en-US" dirty="0"/>
              <a:t>metadata:</a:t>
            </a:r>
          </a:p>
          <a:p>
            <a:r>
              <a:rPr lang="zh-CN" altLang="en-US" dirty="0"/>
              <a:t>  name: </a:t>
            </a:r>
            <a:r>
              <a:rPr lang="en-US" altLang="zh-CN" dirty="0" err="1"/>
              <a:t>llm</a:t>
            </a:r>
            <a:r>
              <a:rPr lang="zh-CN" altLang="en-US" dirty="0"/>
              <a:t>-leaderworkerset</a:t>
            </a:r>
          </a:p>
          <a:p>
            <a:r>
              <a:rPr lang="zh-CN" altLang="en-US" dirty="0"/>
              <a:t>  labels:</a:t>
            </a:r>
          </a:p>
          <a:p>
            <a:r>
              <a:rPr lang="zh-CN" altLang="en-US" dirty="0"/>
              <a:t>    app: nginx</a:t>
            </a:r>
          </a:p>
          <a:p>
            <a:r>
              <a:rPr lang="zh-CN" altLang="en-US" dirty="0"/>
              <a:t>    kueue.x-k8s.io/queue-name: user-queue</a:t>
            </a:r>
          </a:p>
        </p:txBody>
      </p:sp>
      <p:pic>
        <p:nvPicPr>
          <p:cNvPr id="15365" name="Picture 5">
            <a:extLst>
              <a:ext uri="{FF2B5EF4-FFF2-40B4-BE49-F238E27FC236}">
                <a16:creationId xmlns:a16="http://schemas.microsoft.com/office/drawing/2014/main" id="{392BF1E1-F308-42C0-E06D-98FF68364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9009" y="3255577"/>
            <a:ext cx="8663912" cy="297504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441E6DB6-8CF2-FF39-4D00-2AB784C99809}"/>
              </a:ext>
            </a:extLst>
          </p:cNvPr>
          <p:cNvSpPr txBox="1"/>
          <p:nvPr/>
        </p:nvSpPr>
        <p:spPr>
          <a:xfrm>
            <a:off x="4973963" y="6112689"/>
            <a:ext cx="6122189" cy="369332"/>
          </a:xfrm>
          <a:prstGeom prst="rect">
            <a:avLst/>
          </a:prstGeom>
          <a:noFill/>
        </p:spPr>
        <p:txBody>
          <a:bodyPr wrap="none" rtlCol="0">
            <a:spAutoFit/>
          </a:bodyPr>
          <a:lstStyle/>
          <a:p>
            <a:r>
              <a:rPr lang="en-US" altLang="zh-CN" dirty="0" err="1"/>
              <a:t>DeepSeek</a:t>
            </a:r>
            <a:r>
              <a:rPr lang="en-US" altLang="zh-CN" dirty="0"/>
              <a:t> Inference </a:t>
            </a:r>
            <a:r>
              <a:rPr lang="zh-CN" altLang="en-US" dirty="0"/>
              <a:t>每日节点用量图</a:t>
            </a:r>
            <a:r>
              <a:rPr lang="en-US" altLang="zh-CN" dirty="0"/>
              <a:t>(22 nodes per group)</a:t>
            </a:r>
            <a:endParaRPr lang="zh-CN" altLang="en-US" dirty="0"/>
          </a:p>
        </p:txBody>
      </p:sp>
      <p:sp>
        <p:nvSpPr>
          <p:cNvPr id="10" name="文本框 9">
            <a:extLst>
              <a:ext uri="{FF2B5EF4-FFF2-40B4-BE49-F238E27FC236}">
                <a16:creationId xmlns:a16="http://schemas.microsoft.com/office/drawing/2014/main" id="{F8FD42D6-2319-68D0-8353-556B340DCEDD}"/>
              </a:ext>
            </a:extLst>
          </p:cNvPr>
          <p:cNvSpPr txBox="1"/>
          <p:nvPr/>
        </p:nvSpPr>
        <p:spPr>
          <a:xfrm>
            <a:off x="590062" y="1262102"/>
            <a:ext cx="6096836" cy="1384995"/>
          </a:xfrm>
          <a:prstGeom prst="rect">
            <a:avLst/>
          </a:prstGeom>
          <a:noFill/>
        </p:spPr>
        <p:txBody>
          <a:bodyPr wrap="square">
            <a:spAutoFit/>
          </a:bodyPr>
          <a:lstStyle/>
          <a:p>
            <a:pPr marL="285750" indent="-285750">
              <a:buFont typeface="Arial" panose="020B0604020202020204" pitchFamily="34" charset="0"/>
              <a:buChar char="•"/>
            </a:pPr>
            <a:r>
              <a:rPr lang="zh-CN" altLang="en-US" sz="2800" dirty="0"/>
              <a:t>推训混布</a:t>
            </a:r>
            <a:endParaRPr lang="en-US" altLang="zh-CN" sz="2800" dirty="0"/>
          </a:p>
          <a:p>
            <a:pPr marL="285750" indent="-285750">
              <a:buFont typeface="Arial" panose="020B0604020202020204" pitchFamily="34" charset="0"/>
              <a:buChar char="•"/>
            </a:pPr>
            <a:r>
              <a:rPr lang="zh-CN" altLang="en-US" sz="2800" dirty="0"/>
              <a:t>推理每天 按 </a:t>
            </a:r>
            <a:r>
              <a:rPr lang="en-US" altLang="zh-CN" sz="2800" dirty="0"/>
              <a:t>Group </a:t>
            </a:r>
            <a:r>
              <a:rPr lang="zh-CN" altLang="en-US" sz="2800" dirty="0"/>
              <a:t>伸缩</a:t>
            </a:r>
            <a:endParaRPr lang="en-US" altLang="zh-CN" sz="2800" dirty="0"/>
          </a:p>
          <a:p>
            <a:pPr marL="285750" indent="-285750">
              <a:buFont typeface="Arial" panose="020B0604020202020204" pitchFamily="34" charset="0"/>
              <a:buChar char="•"/>
            </a:pPr>
            <a:r>
              <a:rPr lang="zh-CN" altLang="en-US" sz="2800" dirty="0"/>
              <a:t>节约的机器，自动启动训练任务</a:t>
            </a:r>
          </a:p>
        </p:txBody>
      </p:sp>
    </p:spTree>
    <p:extLst>
      <p:ext uri="{BB962C8B-B14F-4D97-AF65-F5344CB8AC3E}">
        <p14:creationId xmlns:p14="http://schemas.microsoft.com/office/powerpoint/2010/main" val="2207559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B293A-5D46-119C-4D30-E81BECA8EF3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AE7349A-68A2-B07A-D531-0C4F24548476}"/>
              </a:ext>
            </a:extLst>
          </p:cNvPr>
          <p:cNvSpPr>
            <a:spLocks noGrp="1"/>
          </p:cNvSpPr>
          <p:nvPr>
            <p:ph type="title"/>
          </p:nvPr>
        </p:nvSpPr>
        <p:spPr/>
        <p:txBody>
          <a:bodyPr/>
          <a:lstStyle/>
          <a:p>
            <a:r>
              <a:rPr lang="en-US" altLang="zh-CN" dirty="0"/>
              <a:t>RoadMap</a:t>
            </a:r>
            <a:endParaRPr lang="zh-CN" altLang="en-US" dirty="0"/>
          </a:p>
        </p:txBody>
      </p:sp>
      <p:sp>
        <p:nvSpPr>
          <p:cNvPr id="4" name="文本框 3">
            <a:extLst>
              <a:ext uri="{FF2B5EF4-FFF2-40B4-BE49-F238E27FC236}">
                <a16:creationId xmlns:a16="http://schemas.microsoft.com/office/drawing/2014/main" id="{7F65219E-08E5-8EF9-F43F-F319906FD091}"/>
              </a:ext>
            </a:extLst>
          </p:cNvPr>
          <p:cNvSpPr txBox="1"/>
          <p:nvPr/>
        </p:nvSpPr>
        <p:spPr>
          <a:xfrm>
            <a:off x="867926" y="1253422"/>
            <a:ext cx="9261911" cy="518315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2800" dirty="0"/>
              <a:t>DRA Support</a:t>
            </a:r>
          </a:p>
          <a:p>
            <a:pPr marL="285750" indent="-285750">
              <a:lnSpc>
                <a:spcPct val="150000"/>
              </a:lnSpc>
              <a:buFont typeface="Arial" panose="020B0604020202020204" pitchFamily="34" charset="0"/>
              <a:buChar char="•"/>
            </a:pPr>
            <a:r>
              <a:rPr lang="en-US" altLang="zh-CN" sz="2800" dirty="0"/>
              <a:t>Gang scheduling</a:t>
            </a:r>
          </a:p>
          <a:p>
            <a:pPr marL="285750" indent="-285750">
              <a:lnSpc>
                <a:spcPct val="150000"/>
              </a:lnSpc>
              <a:buFont typeface="Arial" panose="020B0604020202020204" pitchFamily="34" charset="0"/>
              <a:buChar char="•"/>
            </a:pPr>
            <a:r>
              <a:rPr lang="en-US" altLang="zh-CN" sz="2800" dirty="0"/>
              <a:t>Disaggregating Prefill and Decoding</a:t>
            </a:r>
          </a:p>
          <a:p>
            <a:pPr marL="742950" lvl="1" indent="-285750">
              <a:lnSpc>
                <a:spcPct val="150000"/>
              </a:lnSpc>
              <a:buFont typeface="Arial" panose="020B0604020202020204" pitchFamily="34" charset="0"/>
              <a:buChar char="•"/>
            </a:pPr>
            <a:r>
              <a:rPr lang="en-US" altLang="zh-CN" sz="2800" dirty="0"/>
              <a:t>two LWS instances(recommend) vs subgroup</a:t>
            </a:r>
          </a:p>
          <a:p>
            <a:pPr marL="285750" indent="-285750">
              <a:lnSpc>
                <a:spcPct val="150000"/>
              </a:lnSpc>
              <a:buFont typeface="Arial" panose="020B0604020202020204" pitchFamily="34" charset="0"/>
              <a:buChar char="•"/>
            </a:pPr>
            <a:r>
              <a:rPr lang="en-US" altLang="zh-CN" sz="2800" dirty="0"/>
              <a:t>Volcano integration</a:t>
            </a:r>
          </a:p>
          <a:p>
            <a:pPr marL="742950" lvl="1" indent="-285750">
              <a:lnSpc>
                <a:spcPct val="150000"/>
              </a:lnSpc>
              <a:buFont typeface="Arial" panose="020B0604020202020204" pitchFamily="34" charset="0"/>
              <a:buChar char="•"/>
            </a:pPr>
            <a:endParaRPr lang="en-US" altLang="zh-CN" sz="2800" dirty="0"/>
          </a:p>
          <a:p>
            <a:pPr marL="285750" indent="-285750">
              <a:lnSpc>
                <a:spcPct val="150000"/>
              </a:lnSpc>
              <a:buFont typeface="Arial" panose="020B0604020202020204" pitchFamily="34" charset="0"/>
              <a:buChar char="•"/>
            </a:pPr>
            <a:endParaRPr lang="en-US" altLang="zh-CN" sz="2800" dirty="0"/>
          </a:p>
          <a:p>
            <a:pPr marL="285750" indent="-285750">
              <a:lnSpc>
                <a:spcPct val="150000"/>
              </a:lnSpc>
              <a:buFont typeface="Arial" panose="020B0604020202020204" pitchFamily="34" charset="0"/>
              <a:buChar char="•"/>
            </a:pPr>
            <a:endParaRPr lang="zh-CN" altLang="en-US" sz="2800" dirty="0"/>
          </a:p>
        </p:txBody>
      </p:sp>
    </p:spTree>
    <p:extLst>
      <p:ext uri="{BB962C8B-B14F-4D97-AF65-F5344CB8AC3E}">
        <p14:creationId xmlns:p14="http://schemas.microsoft.com/office/powerpoint/2010/main" val="1166252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0A5A2-54D8-517B-DCF8-7E737A982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E0531-151D-2854-B2DB-0C40FE838CF3}"/>
              </a:ext>
            </a:extLst>
          </p:cNvPr>
          <p:cNvSpPr>
            <a:spLocks noGrp="1"/>
          </p:cNvSpPr>
          <p:nvPr>
            <p:ph type="title"/>
          </p:nvPr>
        </p:nvSpPr>
        <p:spPr/>
        <p:txBody>
          <a:bodyPr/>
          <a:lstStyle/>
          <a:p>
            <a:pPr algn="l"/>
            <a:r>
              <a:rPr lang="zh-CN" altLang="en-US" dirty="0"/>
              <a:t>技术演进和未来展望</a:t>
            </a:r>
            <a:endParaRPr lang="en-US" altLang="zh-CN" dirty="0"/>
          </a:p>
        </p:txBody>
      </p:sp>
      <p:sp>
        <p:nvSpPr>
          <p:cNvPr id="4" name="Text Placeholder 3">
            <a:extLst>
              <a:ext uri="{FF2B5EF4-FFF2-40B4-BE49-F238E27FC236}">
                <a16:creationId xmlns:a16="http://schemas.microsoft.com/office/drawing/2014/main" id="{477B4E88-63D8-6E6F-9AD4-194E5302EFFC}"/>
              </a:ext>
            </a:extLst>
          </p:cNvPr>
          <p:cNvSpPr>
            <a:spLocks noGrp="1"/>
          </p:cNvSpPr>
          <p:nvPr>
            <p:ph type="body" idx="10"/>
          </p:nvPr>
        </p:nvSpPr>
        <p:spPr/>
        <p:txBody>
          <a:bodyPr/>
          <a:lstStyle/>
          <a:p>
            <a:r>
              <a:rPr lang="en-CN"/>
              <a:t>Part</a:t>
            </a:r>
          </a:p>
        </p:txBody>
      </p:sp>
      <p:sp>
        <p:nvSpPr>
          <p:cNvPr id="5" name="Text Placeholder 4">
            <a:extLst>
              <a:ext uri="{FF2B5EF4-FFF2-40B4-BE49-F238E27FC236}">
                <a16:creationId xmlns:a16="http://schemas.microsoft.com/office/drawing/2014/main" id="{73A22D4F-1D79-1050-4276-D89E86A09B54}"/>
              </a:ext>
            </a:extLst>
          </p:cNvPr>
          <p:cNvSpPr>
            <a:spLocks noGrp="1"/>
          </p:cNvSpPr>
          <p:nvPr>
            <p:ph type="body" idx="11"/>
          </p:nvPr>
        </p:nvSpPr>
        <p:spPr/>
        <p:txBody>
          <a:bodyPr/>
          <a:lstStyle/>
          <a:p>
            <a:r>
              <a:rPr lang="en-US" altLang="zh-CN" dirty="0"/>
              <a:t>04</a:t>
            </a:r>
            <a:endParaRPr lang="en-CN" dirty="0"/>
          </a:p>
        </p:txBody>
      </p:sp>
    </p:spTree>
    <p:extLst>
      <p:ext uri="{BB962C8B-B14F-4D97-AF65-F5344CB8AC3E}">
        <p14:creationId xmlns:p14="http://schemas.microsoft.com/office/powerpoint/2010/main" val="18003573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207B7-CDCE-0DEC-FBFC-84375CB1F81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6BCB7B1-FDDD-7A42-EF8D-2313E8411D76}"/>
              </a:ext>
            </a:extLst>
          </p:cNvPr>
          <p:cNvSpPr>
            <a:spLocks noGrp="1"/>
          </p:cNvSpPr>
          <p:nvPr>
            <p:ph type="body" sz="quarter" idx="32"/>
          </p:nvPr>
        </p:nvSpPr>
        <p:spPr/>
        <p:txBody>
          <a:bodyPr/>
          <a:lstStyle/>
          <a:p>
            <a:pPr indent="0">
              <a:buNone/>
            </a:pPr>
            <a:r>
              <a:rPr lang="zh-CN" altLang="en-US" dirty="0"/>
              <a:t>推理的两种主要场景</a:t>
            </a:r>
          </a:p>
        </p:txBody>
      </p:sp>
      <p:graphicFrame>
        <p:nvGraphicFramePr>
          <p:cNvPr id="12" name="表格 11">
            <a:extLst>
              <a:ext uri="{FF2B5EF4-FFF2-40B4-BE49-F238E27FC236}">
                <a16:creationId xmlns:a16="http://schemas.microsoft.com/office/drawing/2014/main" id="{DFE732AB-44CE-C6A2-E5D8-5CFD45199B48}"/>
              </a:ext>
            </a:extLst>
          </p:cNvPr>
          <p:cNvGraphicFramePr>
            <a:graphicFrameLocks noGrp="1"/>
          </p:cNvGraphicFramePr>
          <p:nvPr>
            <p:extLst>
              <p:ext uri="{D42A27DB-BD31-4B8C-83A1-F6EECF244321}">
                <p14:modId xmlns:p14="http://schemas.microsoft.com/office/powerpoint/2010/main" val="313711653"/>
              </p:ext>
            </p:extLst>
          </p:nvPr>
        </p:nvGraphicFramePr>
        <p:xfrm>
          <a:off x="615950" y="1538607"/>
          <a:ext cx="10287000" cy="1854200"/>
        </p:xfrm>
        <a:graphic>
          <a:graphicData uri="http://schemas.openxmlformats.org/drawingml/2006/table">
            <a:tbl>
              <a:tblPr firstRow="1" bandRow="1">
                <a:tableStyleId>{5C22544A-7EE6-4342-B048-85BDC9FD1C3A}</a:tableStyleId>
              </a:tblPr>
              <a:tblGrid>
                <a:gridCol w="1891881">
                  <a:extLst>
                    <a:ext uri="{9D8B030D-6E8A-4147-A177-3AD203B41FA5}">
                      <a16:colId xmlns:a16="http://schemas.microsoft.com/office/drawing/2014/main" val="280614801"/>
                    </a:ext>
                  </a:extLst>
                </a:gridCol>
                <a:gridCol w="4003501">
                  <a:extLst>
                    <a:ext uri="{9D8B030D-6E8A-4147-A177-3AD203B41FA5}">
                      <a16:colId xmlns:a16="http://schemas.microsoft.com/office/drawing/2014/main" val="441463844"/>
                    </a:ext>
                  </a:extLst>
                </a:gridCol>
                <a:gridCol w="4391618">
                  <a:extLst>
                    <a:ext uri="{9D8B030D-6E8A-4147-A177-3AD203B41FA5}">
                      <a16:colId xmlns:a16="http://schemas.microsoft.com/office/drawing/2014/main" val="421320231"/>
                    </a:ext>
                  </a:extLst>
                </a:gridCol>
              </a:tblGrid>
              <a:tr h="370840">
                <a:tc>
                  <a:txBody>
                    <a:bodyPr/>
                    <a:lstStyle/>
                    <a:p>
                      <a:pPr fontAlgn="t">
                        <a:buNone/>
                      </a:pPr>
                      <a:r>
                        <a:rPr lang="zh-CN" altLang="en-US" sz="1600" dirty="0">
                          <a:effectLst/>
                        </a:rPr>
                        <a:t>路径</a:t>
                      </a:r>
                    </a:p>
                  </a:txBody>
                  <a:tcPr marL="38100" marR="38100" marT="38100" marB="38100"/>
                </a:tc>
                <a:tc>
                  <a:txBody>
                    <a:bodyPr/>
                    <a:lstStyle/>
                    <a:p>
                      <a:pPr fontAlgn="t">
                        <a:buNone/>
                      </a:pPr>
                      <a:r>
                        <a:rPr lang="zh-CN" altLang="en-US" sz="1600" dirty="0">
                          <a:effectLst/>
                        </a:rPr>
                        <a:t>一体机</a:t>
                      </a:r>
                    </a:p>
                  </a:txBody>
                  <a:tcPr marL="38100" marR="38100" marT="38100" marB="38100"/>
                </a:tc>
                <a:tc>
                  <a:txBody>
                    <a:bodyPr/>
                    <a:lstStyle/>
                    <a:p>
                      <a:pPr fontAlgn="t">
                        <a:buNone/>
                      </a:pPr>
                      <a:r>
                        <a:rPr lang="zh-CN" altLang="en-US" sz="1600" dirty="0">
                          <a:effectLst/>
                        </a:rPr>
                        <a:t>大规模推理集群</a:t>
                      </a:r>
                    </a:p>
                  </a:txBody>
                  <a:tcPr marL="38100" marR="38100" marT="38100" marB="38100"/>
                </a:tc>
                <a:extLst>
                  <a:ext uri="{0D108BD9-81ED-4DB2-BD59-A6C34878D82A}">
                    <a16:rowId xmlns:a16="http://schemas.microsoft.com/office/drawing/2014/main" val="151094897"/>
                  </a:ext>
                </a:extLst>
              </a:tr>
              <a:tr h="370840">
                <a:tc>
                  <a:txBody>
                    <a:bodyPr/>
                    <a:lstStyle/>
                    <a:p>
                      <a:pPr fontAlgn="t">
                        <a:buNone/>
                      </a:pPr>
                      <a:r>
                        <a:rPr lang="zh-CN" altLang="en-US" sz="1600" kern="1200" dirty="0">
                          <a:solidFill>
                            <a:schemeClr val="dk1"/>
                          </a:solidFill>
                          <a:effectLst/>
                          <a:latin typeface="+mn-ea"/>
                          <a:ea typeface="+mn-ea"/>
                          <a:cs typeface="+mn-cs"/>
                        </a:rPr>
                        <a:t>核心目标</a:t>
                      </a:r>
                    </a:p>
                  </a:txBody>
                  <a:tcPr marL="38100" marR="38100" marT="38100" marB="38100"/>
                </a:tc>
                <a:tc>
                  <a:txBody>
                    <a:bodyPr/>
                    <a:lstStyle/>
                    <a:p>
                      <a:pPr fontAlgn="t">
                        <a:buNone/>
                      </a:pPr>
                      <a:r>
                        <a:rPr lang="zh-CN" altLang="en-US" sz="1600" kern="1200">
                          <a:solidFill>
                            <a:schemeClr val="dk1"/>
                          </a:solidFill>
                          <a:effectLst/>
                          <a:latin typeface="+mn-ea"/>
                          <a:ea typeface="+mn-ea"/>
                          <a:cs typeface="+mn-cs"/>
                        </a:rPr>
                        <a:t>成本够低</a:t>
                      </a:r>
                      <a:r>
                        <a:rPr lang="en-US" altLang="zh-CN" sz="1600" kern="1200">
                          <a:solidFill>
                            <a:schemeClr val="dk1"/>
                          </a:solidFill>
                          <a:effectLst/>
                          <a:latin typeface="+mn-ea"/>
                          <a:ea typeface="+mn-ea"/>
                          <a:cs typeface="+mn-cs"/>
                        </a:rPr>
                        <a:t>(100~500/</a:t>
                      </a:r>
                      <a:r>
                        <a:rPr lang="en-US" sz="1600" kern="1200">
                          <a:solidFill>
                            <a:schemeClr val="dk1"/>
                          </a:solidFill>
                          <a:effectLst/>
                          <a:latin typeface="+mn-ea"/>
                          <a:ea typeface="+mn-ea"/>
                          <a:cs typeface="+mn-cs"/>
                        </a:rPr>
                        <a:t>gpu)</a:t>
                      </a:r>
                    </a:p>
                  </a:txBody>
                  <a:tcPr marL="38100" marR="38100" marT="38100" marB="38100"/>
                </a:tc>
                <a:tc>
                  <a:txBody>
                    <a:bodyPr/>
                    <a:lstStyle/>
                    <a:p>
                      <a:pPr fontAlgn="t">
                        <a:buNone/>
                      </a:pPr>
                      <a:r>
                        <a:rPr lang="zh-CN" altLang="en-US" sz="1600" kern="1200" dirty="0">
                          <a:solidFill>
                            <a:schemeClr val="dk1"/>
                          </a:solidFill>
                          <a:effectLst/>
                          <a:latin typeface="+mn-ea"/>
                          <a:ea typeface="+mn-ea"/>
                          <a:cs typeface="+mn-cs"/>
                        </a:rPr>
                        <a:t>最高 </a:t>
                      </a:r>
                      <a:r>
                        <a:rPr lang="en-US" sz="1600" kern="1200" dirty="0">
                          <a:solidFill>
                            <a:schemeClr val="dk1"/>
                          </a:solidFill>
                          <a:effectLst/>
                          <a:latin typeface="+mn-ea"/>
                          <a:ea typeface="+mn-ea"/>
                          <a:cs typeface="+mn-cs"/>
                        </a:rPr>
                        <a:t>Token per GPU(~10k/</a:t>
                      </a:r>
                      <a:r>
                        <a:rPr lang="en-US" sz="1600" kern="1200" dirty="0" err="1">
                          <a:solidFill>
                            <a:schemeClr val="dk1"/>
                          </a:solidFill>
                          <a:effectLst/>
                          <a:latin typeface="+mn-ea"/>
                          <a:ea typeface="+mn-ea"/>
                          <a:cs typeface="+mn-cs"/>
                        </a:rPr>
                        <a:t>gpu</a:t>
                      </a:r>
                      <a:r>
                        <a:rPr lang="en-US" sz="1600" kern="1200" dirty="0">
                          <a:solidFill>
                            <a:schemeClr val="dk1"/>
                          </a:solidFill>
                          <a:effectLst/>
                          <a:latin typeface="+mn-ea"/>
                          <a:ea typeface="+mn-ea"/>
                          <a:cs typeface="+mn-cs"/>
                        </a:rPr>
                        <a:t>)</a:t>
                      </a:r>
                    </a:p>
                  </a:txBody>
                  <a:tcPr marL="38100" marR="38100" marT="38100" marB="38100"/>
                </a:tc>
                <a:extLst>
                  <a:ext uri="{0D108BD9-81ED-4DB2-BD59-A6C34878D82A}">
                    <a16:rowId xmlns:a16="http://schemas.microsoft.com/office/drawing/2014/main" val="3440315631"/>
                  </a:ext>
                </a:extLst>
              </a:tr>
              <a:tr h="370840">
                <a:tc>
                  <a:txBody>
                    <a:bodyPr/>
                    <a:lstStyle/>
                    <a:p>
                      <a:pPr fontAlgn="t">
                        <a:buNone/>
                      </a:pPr>
                      <a:r>
                        <a:rPr lang="zh-CN" altLang="en-US" sz="1600" kern="1200">
                          <a:solidFill>
                            <a:schemeClr val="dk1"/>
                          </a:solidFill>
                          <a:effectLst/>
                          <a:latin typeface="+mn-ea"/>
                          <a:ea typeface="+mn-ea"/>
                          <a:cs typeface="+mn-cs"/>
                        </a:rPr>
                        <a:t>物质条件</a:t>
                      </a:r>
                    </a:p>
                  </a:txBody>
                  <a:tcPr marL="38100" marR="38100" marT="38100" marB="38100"/>
                </a:tc>
                <a:tc>
                  <a:txBody>
                    <a:bodyPr/>
                    <a:lstStyle/>
                    <a:p>
                      <a:pPr fontAlgn="t">
                        <a:buNone/>
                      </a:pPr>
                      <a:r>
                        <a:rPr lang="en-US" altLang="zh-CN" sz="1600" kern="1200" dirty="0">
                          <a:solidFill>
                            <a:schemeClr val="dk1"/>
                          </a:solidFill>
                          <a:effectLst/>
                          <a:latin typeface="+mn-ea"/>
                          <a:ea typeface="+mn-ea"/>
                          <a:cs typeface="+mn-cs"/>
                        </a:rPr>
                        <a:t>1 </a:t>
                      </a:r>
                      <a:r>
                        <a:rPr lang="zh-CN" altLang="en-US" sz="1600" kern="1200" dirty="0">
                          <a:solidFill>
                            <a:schemeClr val="dk1"/>
                          </a:solidFill>
                          <a:effectLst/>
                          <a:latin typeface="+mn-ea"/>
                          <a:ea typeface="+mn-ea"/>
                          <a:cs typeface="+mn-cs"/>
                        </a:rPr>
                        <a:t>或 几台 </a:t>
                      </a:r>
                      <a:r>
                        <a:rPr lang="en-US" altLang="zh-CN" sz="1600" kern="1200" dirty="0">
                          <a:solidFill>
                            <a:schemeClr val="dk1"/>
                          </a:solidFill>
                          <a:effectLst/>
                          <a:latin typeface="+mn-ea"/>
                          <a:ea typeface="+mn-ea"/>
                          <a:cs typeface="+mn-cs"/>
                        </a:rPr>
                        <a:t>GPU </a:t>
                      </a:r>
                      <a:r>
                        <a:rPr lang="zh-CN" altLang="en-US" sz="1600" kern="1200" dirty="0">
                          <a:solidFill>
                            <a:schemeClr val="dk1"/>
                          </a:solidFill>
                          <a:effectLst/>
                          <a:latin typeface="+mn-ea"/>
                          <a:ea typeface="+mn-ea"/>
                          <a:cs typeface="+mn-cs"/>
                        </a:rPr>
                        <a:t>服务器</a:t>
                      </a:r>
                    </a:p>
                  </a:txBody>
                  <a:tcPr marL="38100" marR="38100" marT="38100" marB="38100"/>
                </a:tc>
                <a:tc>
                  <a:txBody>
                    <a:bodyPr/>
                    <a:lstStyle/>
                    <a:p>
                      <a:pPr fontAlgn="t">
                        <a:buNone/>
                      </a:pPr>
                      <a:r>
                        <a:rPr lang="en-US" altLang="zh-CN" sz="1600" kern="1200" dirty="0">
                          <a:solidFill>
                            <a:schemeClr val="dk1"/>
                          </a:solidFill>
                          <a:effectLst/>
                          <a:latin typeface="+mn-ea"/>
                          <a:ea typeface="+mn-ea"/>
                          <a:cs typeface="+mn-cs"/>
                        </a:rPr>
                        <a:t>&gt; 50 </a:t>
                      </a:r>
                      <a:r>
                        <a:rPr lang="zh-CN" altLang="en-US" sz="1600" kern="1200" dirty="0">
                          <a:solidFill>
                            <a:schemeClr val="dk1"/>
                          </a:solidFill>
                          <a:effectLst/>
                          <a:latin typeface="+mn-ea"/>
                          <a:ea typeface="+mn-ea"/>
                          <a:cs typeface="+mn-cs"/>
                        </a:rPr>
                        <a:t>大卡 </a:t>
                      </a:r>
                      <a:r>
                        <a:rPr lang="en-US" sz="1600" kern="1200" dirty="0">
                          <a:solidFill>
                            <a:schemeClr val="dk1"/>
                          </a:solidFill>
                          <a:effectLst/>
                          <a:latin typeface="+mn-ea"/>
                          <a:ea typeface="+mn-ea"/>
                          <a:cs typeface="+mn-cs"/>
                        </a:rPr>
                        <a:t>GPU</a:t>
                      </a:r>
                    </a:p>
                  </a:txBody>
                  <a:tcPr marL="38100" marR="38100" marT="38100" marB="38100"/>
                </a:tc>
                <a:extLst>
                  <a:ext uri="{0D108BD9-81ED-4DB2-BD59-A6C34878D82A}">
                    <a16:rowId xmlns:a16="http://schemas.microsoft.com/office/drawing/2014/main" val="2038472515"/>
                  </a:ext>
                </a:extLst>
              </a:tr>
              <a:tr h="370840">
                <a:tc>
                  <a:txBody>
                    <a:bodyPr/>
                    <a:lstStyle/>
                    <a:p>
                      <a:pPr fontAlgn="t">
                        <a:buNone/>
                      </a:pPr>
                      <a:r>
                        <a:rPr lang="zh-CN" altLang="en-US" sz="1600" kern="1200">
                          <a:solidFill>
                            <a:schemeClr val="dk1"/>
                          </a:solidFill>
                          <a:effectLst/>
                          <a:latin typeface="+mn-ea"/>
                          <a:ea typeface="+mn-ea"/>
                          <a:cs typeface="+mn-cs"/>
                        </a:rPr>
                        <a:t>对应技术</a:t>
                      </a:r>
                    </a:p>
                  </a:txBody>
                  <a:tcPr marL="38100" marR="38100" marT="38100" marB="38100"/>
                </a:tc>
                <a:tc>
                  <a:txBody>
                    <a:bodyPr/>
                    <a:lstStyle/>
                    <a:p>
                      <a:pPr fontAlgn="t">
                        <a:buNone/>
                      </a:pPr>
                      <a:r>
                        <a:rPr lang="en-US" sz="1600" kern="1200" dirty="0">
                          <a:solidFill>
                            <a:schemeClr val="dk1"/>
                          </a:solidFill>
                          <a:effectLst/>
                          <a:latin typeface="+mn-ea"/>
                          <a:ea typeface="+mn-ea"/>
                          <a:cs typeface="+mn-cs"/>
                        </a:rPr>
                        <a:t>CPU Offload </a:t>
                      </a:r>
                      <a:r>
                        <a:rPr lang="zh-CN" altLang="en-US" sz="1600" kern="1200" dirty="0">
                          <a:solidFill>
                            <a:schemeClr val="dk1"/>
                          </a:solidFill>
                          <a:effectLst/>
                          <a:latin typeface="+mn-ea"/>
                          <a:ea typeface="+mn-ea"/>
                          <a:cs typeface="+mn-cs"/>
                        </a:rPr>
                        <a:t>技术，量化，蒸馏</a:t>
                      </a:r>
                    </a:p>
                  </a:txBody>
                  <a:tcPr marL="38100" marR="38100" marT="38100" marB="38100"/>
                </a:tc>
                <a:tc>
                  <a:txBody>
                    <a:bodyPr/>
                    <a:lstStyle/>
                    <a:p>
                      <a:pPr fontAlgn="t">
                        <a:buNone/>
                      </a:pPr>
                      <a:r>
                        <a:rPr lang="zh-CN" altLang="en-US" sz="1600" kern="1200" dirty="0">
                          <a:solidFill>
                            <a:schemeClr val="dk1"/>
                          </a:solidFill>
                          <a:effectLst/>
                          <a:latin typeface="+mn-ea"/>
                          <a:ea typeface="+mn-ea"/>
                          <a:cs typeface="+mn-cs"/>
                        </a:rPr>
                        <a:t>并行优化技术（</a:t>
                      </a:r>
                      <a:r>
                        <a:rPr lang="en-US" altLang="zh-CN" sz="1600" kern="1200" dirty="0">
                          <a:solidFill>
                            <a:schemeClr val="dk1"/>
                          </a:solidFill>
                          <a:effectLst/>
                          <a:latin typeface="+mn-ea"/>
                          <a:ea typeface="+mn-ea"/>
                          <a:cs typeface="+mn-cs"/>
                        </a:rPr>
                        <a:t>TP</a:t>
                      </a:r>
                      <a:r>
                        <a:rPr lang="zh-CN" altLang="en-US" sz="1600" kern="1200" dirty="0">
                          <a:solidFill>
                            <a:schemeClr val="dk1"/>
                          </a:solidFill>
                          <a:effectLst/>
                          <a:latin typeface="+mn-ea"/>
                          <a:ea typeface="+mn-ea"/>
                          <a:cs typeface="+mn-cs"/>
                        </a:rPr>
                        <a:t>，</a:t>
                      </a:r>
                      <a:r>
                        <a:rPr lang="en-US" altLang="zh-CN" sz="1600" kern="1200" dirty="0">
                          <a:solidFill>
                            <a:schemeClr val="dk1"/>
                          </a:solidFill>
                          <a:effectLst/>
                          <a:latin typeface="+mn-ea"/>
                          <a:ea typeface="+mn-ea"/>
                          <a:cs typeface="+mn-cs"/>
                        </a:rPr>
                        <a:t>DP</a:t>
                      </a:r>
                      <a:r>
                        <a:rPr lang="zh-CN" altLang="en-US" sz="1600" kern="1200" dirty="0">
                          <a:solidFill>
                            <a:schemeClr val="dk1"/>
                          </a:solidFill>
                          <a:effectLst/>
                          <a:latin typeface="+mn-ea"/>
                          <a:ea typeface="+mn-ea"/>
                          <a:cs typeface="+mn-cs"/>
                        </a:rPr>
                        <a:t>，</a:t>
                      </a:r>
                      <a:r>
                        <a:rPr lang="en-US" altLang="zh-CN" sz="1600" kern="1200" dirty="0">
                          <a:solidFill>
                            <a:schemeClr val="dk1"/>
                          </a:solidFill>
                          <a:effectLst/>
                          <a:latin typeface="+mn-ea"/>
                          <a:ea typeface="+mn-ea"/>
                          <a:cs typeface="+mn-cs"/>
                        </a:rPr>
                        <a:t>EP</a:t>
                      </a:r>
                      <a:r>
                        <a:rPr lang="zh-CN" altLang="en-US" sz="1600" kern="1200" dirty="0">
                          <a:solidFill>
                            <a:schemeClr val="dk1"/>
                          </a:solidFill>
                          <a:effectLst/>
                          <a:latin typeface="+mn-ea"/>
                          <a:ea typeface="+mn-ea"/>
                          <a:cs typeface="+mn-cs"/>
                        </a:rPr>
                        <a:t>，</a:t>
                      </a:r>
                      <a:r>
                        <a:rPr lang="en-US" altLang="zh-CN" sz="1600" kern="1200" dirty="0">
                          <a:solidFill>
                            <a:schemeClr val="dk1"/>
                          </a:solidFill>
                          <a:effectLst/>
                          <a:latin typeface="+mn-ea"/>
                          <a:ea typeface="+mn-ea"/>
                          <a:cs typeface="+mn-cs"/>
                        </a:rPr>
                        <a:t>PP</a:t>
                      </a:r>
                      <a:r>
                        <a:rPr lang="zh-CN" altLang="en-US" sz="1600" kern="1200" dirty="0">
                          <a:solidFill>
                            <a:schemeClr val="dk1"/>
                          </a:solidFill>
                          <a:effectLst/>
                          <a:latin typeface="+mn-ea"/>
                          <a:ea typeface="+mn-ea"/>
                          <a:cs typeface="+mn-cs"/>
                        </a:rPr>
                        <a:t>）</a:t>
                      </a:r>
                    </a:p>
                  </a:txBody>
                  <a:tcPr marL="38100" marR="38100" marT="38100" marB="38100"/>
                </a:tc>
                <a:extLst>
                  <a:ext uri="{0D108BD9-81ED-4DB2-BD59-A6C34878D82A}">
                    <a16:rowId xmlns:a16="http://schemas.microsoft.com/office/drawing/2014/main" val="801914054"/>
                  </a:ext>
                </a:extLst>
              </a:tr>
              <a:tr h="370840">
                <a:tc>
                  <a:txBody>
                    <a:bodyPr/>
                    <a:lstStyle/>
                    <a:p>
                      <a:r>
                        <a:rPr lang="zh-CN" altLang="en-US" sz="1600" kern="1200" dirty="0">
                          <a:solidFill>
                            <a:schemeClr val="dk1"/>
                          </a:solidFill>
                          <a:effectLst/>
                          <a:latin typeface="+mn-ea"/>
                          <a:ea typeface="+mn-ea"/>
                          <a:cs typeface="+mn-cs"/>
                        </a:rPr>
                        <a:t>类比</a:t>
                      </a:r>
                    </a:p>
                  </a:txBody>
                  <a:tcPr/>
                </a:tc>
                <a:tc>
                  <a:txBody>
                    <a:bodyPr/>
                    <a:lstStyle/>
                    <a:p>
                      <a:r>
                        <a:rPr lang="zh-CN" altLang="en-US" sz="1600" kern="1200" dirty="0">
                          <a:solidFill>
                            <a:schemeClr val="dk1"/>
                          </a:solidFill>
                          <a:effectLst/>
                          <a:latin typeface="+mn-ea"/>
                          <a:ea typeface="+mn-ea"/>
                          <a:cs typeface="+mn-cs"/>
                        </a:rPr>
                        <a:t>煤球炉 </a:t>
                      </a:r>
                      <a:r>
                        <a:rPr lang="en-US" altLang="zh-CN" sz="1600" kern="1200" dirty="0">
                          <a:solidFill>
                            <a:schemeClr val="dk1"/>
                          </a:solidFill>
                          <a:effectLst/>
                          <a:latin typeface="+mn-ea"/>
                          <a:ea typeface="+mn-ea"/>
                          <a:cs typeface="+mn-cs"/>
                        </a:rPr>
                        <a:t>- </a:t>
                      </a:r>
                      <a:r>
                        <a:rPr lang="zh-CN" altLang="en-US" sz="1600" kern="1200" dirty="0">
                          <a:solidFill>
                            <a:schemeClr val="dk1"/>
                          </a:solidFill>
                          <a:effectLst/>
                          <a:latin typeface="+mn-ea"/>
                          <a:ea typeface="+mn-ea"/>
                          <a:cs typeface="+mn-cs"/>
                        </a:rPr>
                        <a:t>注重实用</a:t>
                      </a:r>
                    </a:p>
                  </a:txBody>
                  <a:tcPr marL="38100" marR="38100" marT="38100" marB="38100"/>
                </a:tc>
                <a:tc>
                  <a:txBody>
                    <a:bodyPr/>
                    <a:lstStyle/>
                    <a:p>
                      <a:r>
                        <a:rPr lang="zh-CN" altLang="en-US" sz="1600" kern="1200" dirty="0">
                          <a:solidFill>
                            <a:schemeClr val="dk1"/>
                          </a:solidFill>
                          <a:effectLst/>
                          <a:latin typeface="+mn-ea"/>
                          <a:ea typeface="+mn-ea"/>
                          <a:cs typeface="+mn-cs"/>
                        </a:rPr>
                        <a:t>发电站 </a:t>
                      </a:r>
                      <a:r>
                        <a:rPr lang="en-US" altLang="zh-CN" sz="1600" kern="1200" dirty="0">
                          <a:solidFill>
                            <a:schemeClr val="dk1"/>
                          </a:solidFill>
                          <a:effectLst/>
                          <a:latin typeface="+mn-ea"/>
                          <a:ea typeface="+mn-ea"/>
                          <a:cs typeface="+mn-cs"/>
                        </a:rPr>
                        <a:t>- </a:t>
                      </a:r>
                      <a:r>
                        <a:rPr lang="zh-CN" altLang="en-US" sz="1600" kern="1200" dirty="0">
                          <a:solidFill>
                            <a:schemeClr val="dk1"/>
                          </a:solidFill>
                          <a:effectLst/>
                          <a:latin typeface="+mn-ea"/>
                          <a:ea typeface="+mn-ea"/>
                          <a:cs typeface="+mn-cs"/>
                        </a:rPr>
                        <a:t>注重燃烧效率</a:t>
                      </a:r>
                    </a:p>
                  </a:txBody>
                  <a:tcPr marL="38100" marR="38100" marT="38100" marB="38100"/>
                </a:tc>
                <a:extLst>
                  <a:ext uri="{0D108BD9-81ED-4DB2-BD59-A6C34878D82A}">
                    <a16:rowId xmlns:a16="http://schemas.microsoft.com/office/drawing/2014/main" val="3279977174"/>
                  </a:ext>
                </a:extLst>
              </a:tr>
            </a:tbl>
          </a:graphicData>
        </a:graphic>
      </p:graphicFrame>
      <p:pic>
        <p:nvPicPr>
          <p:cNvPr id="16390" name="Picture 6">
            <a:extLst>
              <a:ext uri="{FF2B5EF4-FFF2-40B4-BE49-F238E27FC236}">
                <a16:creationId xmlns:a16="http://schemas.microsoft.com/office/drawing/2014/main" id="{35D89DC3-D44C-F290-CE71-519F7C42A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8805" y="3727939"/>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7">
            <a:extLst>
              <a:ext uri="{FF2B5EF4-FFF2-40B4-BE49-F238E27FC236}">
                <a16:creationId xmlns:a16="http://schemas.microsoft.com/office/drawing/2014/main" id="{AB9117AE-504E-055D-6E1D-589DB99A57FD}"/>
              </a:ext>
            </a:extLst>
          </p:cNvPr>
          <p:cNvSpPr>
            <a:spLocks noChangeArrowheads="1"/>
          </p:cNvSpPr>
          <p:nvPr/>
        </p:nvSpPr>
        <p:spPr bwMode="auto">
          <a:xfrm>
            <a:off x="2868805" y="372793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6392" name="Picture 8">
            <a:extLst>
              <a:ext uri="{FF2B5EF4-FFF2-40B4-BE49-F238E27FC236}">
                <a16:creationId xmlns:a16="http://schemas.microsoft.com/office/drawing/2014/main" id="{461C2355-FD78-4787-C71A-2AB63D35A0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6835" y="3727939"/>
            <a:ext cx="3487096" cy="224078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9">
            <a:extLst>
              <a:ext uri="{FF2B5EF4-FFF2-40B4-BE49-F238E27FC236}">
                <a16:creationId xmlns:a16="http://schemas.microsoft.com/office/drawing/2014/main" id="{DD5AB36F-99A9-7EFB-5E64-68645F90FC27}"/>
              </a:ext>
            </a:extLst>
          </p:cNvPr>
          <p:cNvSpPr>
            <a:spLocks noChangeArrowheads="1"/>
          </p:cNvSpPr>
          <p:nvPr/>
        </p:nvSpPr>
        <p:spPr bwMode="auto">
          <a:xfrm>
            <a:off x="6506834" y="3727938"/>
            <a:ext cx="123779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16385" name="Picture 1">
            <a:extLst>
              <a:ext uri="{FF2B5EF4-FFF2-40B4-BE49-F238E27FC236}">
                <a16:creationId xmlns:a16="http://schemas.microsoft.com/office/drawing/2014/main" id="{C093C487-2EEC-0990-16E4-C3A811A09F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6386" name="Picture 2">
            <a:extLst>
              <a:ext uri="{FF2B5EF4-FFF2-40B4-BE49-F238E27FC236}">
                <a16:creationId xmlns:a16="http://schemas.microsoft.com/office/drawing/2014/main" id="{F3527EDE-95B1-AF0D-4901-BCD8C8F58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287000" cy="661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540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FEAFE-12FE-13BF-13C8-5F0093522A55}"/>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CC18D66-8EC4-F060-3F9D-20BF8F6FB454}"/>
              </a:ext>
            </a:extLst>
          </p:cNvPr>
          <p:cNvSpPr>
            <a:spLocks noGrp="1"/>
          </p:cNvSpPr>
          <p:nvPr>
            <p:ph type="body" sz="quarter" idx="32"/>
          </p:nvPr>
        </p:nvSpPr>
        <p:spPr/>
        <p:txBody>
          <a:bodyPr/>
          <a:lstStyle/>
          <a:p>
            <a:pPr indent="0">
              <a:buNone/>
            </a:pPr>
            <a:r>
              <a:rPr lang="en-US" altLang="zh-CN" b="1" dirty="0" err="1"/>
              <a:t>AIBrix</a:t>
            </a:r>
            <a:endParaRPr lang="en-US" altLang="zh-CN" b="1" dirty="0"/>
          </a:p>
        </p:txBody>
      </p:sp>
      <p:pic>
        <p:nvPicPr>
          <p:cNvPr id="17410" name="Picture 2">
            <a:extLst>
              <a:ext uri="{FF2B5EF4-FFF2-40B4-BE49-F238E27FC236}">
                <a16:creationId xmlns:a16="http://schemas.microsoft.com/office/drawing/2014/main" id="{D847DA55-3836-3BB1-8FA3-A8DFF214D4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4806" y="761162"/>
            <a:ext cx="4524620" cy="5915968"/>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aibrix-distributed-kv-cache-performance">
            <a:extLst>
              <a:ext uri="{FF2B5EF4-FFF2-40B4-BE49-F238E27FC236}">
                <a16:creationId xmlns:a16="http://schemas.microsoft.com/office/drawing/2014/main" id="{31C1FA0F-7337-4DA3-5FBD-0D8587E42F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435" y="2648997"/>
            <a:ext cx="7020067" cy="3676441"/>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D38949A1-FEBF-35D5-F08A-55A1587637F9}"/>
              </a:ext>
            </a:extLst>
          </p:cNvPr>
          <p:cNvSpPr txBox="1"/>
          <p:nvPr/>
        </p:nvSpPr>
        <p:spPr>
          <a:xfrm>
            <a:off x="554894" y="1227687"/>
            <a:ext cx="6096836" cy="646331"/>
          </a:xfrm>
          <a:prstGeom prst="rect">
            <a:avLst/>
          </a:prstGeom>
          <a:noFill/>
        </p:spPr>
        <p:txBody>
          <a:bodyPr wrap="square">
            <a:spAutoFit/>
          </a:bodyPr>
          <a:lstStyle/>
          <a:p>
            <a:r>
              <a:rPr lang="en-US" altLang="zh-CN" b="0" i="0" dirty="0">
                <a:solidFill>
                  <a:srgbClr val="1F1F1F"/>
                </a:solidFill>
                <a:effectLst/>
                <a:latin typeface="-apple-system"/>
              </a:rPr>
              <a:t>A cloud-native, open-source infrastructure toolkit designed to simplify and optimize LLM deployment.</a:t>
            </a:r>
            <a:endParaRPr lang="zh-CN" altLang="en-US" dirty="0"/>
          </a:p>
        </p:txBody>
      </p:sp>
    </p:spTree>
    <p:extLst>
      <p:ext uri="{BB962C8B-B14F-4D97-AF65-F5344CB8AC3E}">
        <p14:creationId xmlns:p14="http://schemas.microsoft.com/office/powerpoint/2010/main" val="1170251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D23A5-5884-6B1D-B37C-1615070E51C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9CB1763-A854-0E17-2C1F-408A3EA90503}"/>
              </a:ext>
            </a:extLst>
          </p:cNvPr>
          <p:cNvSpPr>
            <a:spLocks noGrp="1"/>
          </p:cNvSpPr>
          <p:nvPr>
            <p:ph type="body" sz="quarter" idx="32"/>
          </p:nvPr>
        </p:nvSpPr>
        <p:spPr/>
        <p:txBody>
          <a:bodyPr/>
          <a:lstStyle/>
          <a:p>
            <a:pPr indent="0">
              <a:buNone/>
            </a:pPr>
            <a:r>
              <a:rPr lang="en-US" altLang="zh-CN" b="1" dirty="0" err="1"/>
              <a:t>nvidia</a:t>
            </a:r>
            <a:r>
              <a:rPr lang="en-US" altLang="zh-CN" b="1" dirty="0"/>
              <a:t> dynamo</a:t>
            </a:r>
          </a:p>
        </p:txBody>
      </p:sp>
      <p:pic>
        <p:nvPicPr>
          <p:cNvPr id="19460" name="Picture 4" descr="Bar chart showing NVIDIA Dynamo throughput performance when running DeepSeek-R1 671B model on NVIDIA GB200 NVL72 boosting performance by 30x. It more than doubles performance on the Llama 70B model running on NVIDIA Hopper GPUs.&#10;">
            <a:extLst>
              <a:ext uri="{FF2B5EF4-FFF2-40B4-BE49-F238E27FC236}">
                <a16:creationId xmlns:a16="http://schemas.microsoft.com/office/drawing/2014/main" id="{D4FBF6F7-B517-6CA0-B843-68117A0F5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65" y="2064936"/>
            <a:ext cx="8360641" cy="4245638"/>
          </a:xfrm>
          <a:prstGeom prst="rect">
            <a:avLst/>
          </a:prstGeom>
          <a:noFill/>
          <a:extLst>
            <a:ext uri="{909E8E84-426E-40DD-AFC4-6F175D3DCCD1}">
              <a14:hiddenFill xmlns:a14="http://schemas.microsoft.com/office/drawing/2010/main">
                <a:solidFill>
                  <a:srgbClr val="FFFFFF"/>
                </a:solidFill>
              </a14:hiddenFill>
            </a:ext>
          </a:extLst>
        </p:spPr>
      </p:pic>
      <p:pic>
        <p:nvPicPr>
          <p:cNvPr id="19458" name="Picture 2" descr="Diagram of NVIDIA Dynamo Architecture begins with the API Server, then smart router, disaggregated serving (which includes prefill worker and decode worker) and then finally ends with NVIDIA Inference Transfer Engine (NIXL) for low-latency interconnect-agnostic multinode data transfer.&#10;">
            <a:extLst>
              <a:ext uri="{FF2B5EF4-FFF2-40B4-BE49-F238E27FC236}">
                <a16:creationId xmlns:a16="http://schemas.microsoft.com/office/drawing/2014/main" id="{76BE8208-3C16-B8FE-7704-AFA2351259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3686" y="2623404"/>
            <a:ext cx="7258314" cy="4081856"/>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03C4CD6C-327C-3233-3F0C-3AAECD0D70C3}"/>
              </a:ext>
            </a:extLst>
          </p:cNvPr>
          <p:cNvSpPr txBox="1"/>
          <p:nvPr/>
        </p:nvSpPr>
        <p:spPr>
          <a:xfrm>
            <a:off x="486089" y="6157560"/>
            <a:ext cx="6015196" cy="507831"/>
          </a:xfrm>
          <a:prstGeom prst="rect">
            <a:avLst/>
          </a:prstGeom>
          <a:noFill/>
        </p:spPr>
        <p:txBody>
          <a:bodyPr wrap="square">
            <a:spAutoFit/>
          </a:bodyPr>
          <a:lstStyle/>
          <a:p>
            <a:r>
              <a:rPr lang="en-US" altLang="zh-CN" sz="900" b="0" i="0" dirty="0" err="1">
                <a:solidFill>
                  <a:srgbClr val="1A1A1A"/>
                </a:solidFill>
                <a:effectLst/>
                <a:latin typeface="NVIDIA Sans"/>
              </a:rPr>
              <a:t>TensorRT</a:t>
            </a:r>
            <a:r>
              <a:rPr lang="en-US" altLang="zh-CN" sz="900" b="0" i="0" dirty="0">
                <a:solidFill>
                  <a:srgbClr val="1A1A1A"/>
                </a:solidFill>
                <a:effectLst/>
                <a:latin typeface="NVIDIA Sans"/>
              </a:rPr>
              <a:t>-LLM, FP4, ISL/OSL: 32K/8K. </a:t>
            </a:r>
          </a:p>
          <a:p>
            <a:r>
              <a:rPr lang="en-US" altLang="zh-CN" sz="900" b="0" i="0" dirty="0">
                <a:solidFill>
                  <a:srgbClr val="1A1A1A"/>
                </a:solidFill>
                <a:effectLst/>
                <a:latin typeface="NVIDIA Sans"/>
              </a:rPr>
              <a:t>Without Dynamo: Inflight Batching, TEP16PP4DP4. </a:t>
            </a:r>
          </a:p>
          <a:p>
            <a:r>
              <a:rPr lang="en-US" altLang="zh-CN" sz="900" b="0" i="0" dirty="0">
                <a:solidFill>
                  <a:srgbClr val="1A1A1A"/>
                </a:solidFill>
                <a:effectLst/>
                <a:latin typeface="NVIDIA Sans"/>
              </a:rPr>
              <a:t>With Dynamo: Disaggregated Serving, Context: EP4DP16, Generation: EP64DP3. Projected performance subject to change. </a:t>
            </a:r>
            <a:endParaRPr lang="zh-CN" altLang="en-US" sz="900" dirty="0"/>
          </a:p>
        </p:txBody>
      </p:sp>
      <p:sp>
        <p:nvSpPr>
          <p:cNvPr id="9" name="文本框 8">
            <a:extLst>
              <a:ext uri="{FF2B5EF4-FFF2-40B4-BE49-F238E27FC236}">
                <a16:creationId xmlns:a16="http://schemas.microsoft.com/office/drawing/2014/main" id="{24B9C0D6-816B-288E-B052-4413C7CA4F7F}"/>
              </a:ext>
            </a:extLst>
          </p:cNvPr>
          <p:cNvSpPr txBox="1"/>
          <p:nvPr/>
        </p:nvSpPr>
        <p:spPr>
          <a:xfrm>
            <a:off x="606669" y="1125503"/>
            <a:ext cx="11144878" cy="646331"/>
          </a:xfrm>
          <a:prstGeom prst="rect">
            <a:avLst/>
          </a:prstGeom>
          <a:noFill/>
        </p:spPr>
        <p:txBody>
          <a:bodyPr wrap="square">
            <a:spAutoFit/>
          </a:bodyPr>
          <a:lstStyle/>
          <a:p>
            <a:r>
              <a:rPr lang="en-US" altLang="zh-CN" b="0" i="0" dirty="0">
                <a:solidFill>
                  <a:srgbClr val="1A1A1A"/>
                </a:solidFill>
                <a:effectLst/>
                <a:latin typeface="NVIDIA Sans"/>
              </a:rPr>
              <a:t>NVIDIA Dynamo is a high-throughput, low-latency open-source inference serving framework for deploying generative AI and reasoning models in large-scale distributed environments. </a:t>
            </a:r>
            <a:endParaRPr lang="zh-CN" altLang="en-US" dirty="0"/>
          </a:p>
        </p:txBody>
      </p:sp>
    </p:spTree>
    <p:extLst>
      <p:ext uri="{BB962C8B-B14F-4D97-AF65-F5344CB8AC3E}">
        <p14:creationId xmlns:p14="http://schemas.microsoft.com/office/powerpoint/2010/main" val="10357043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E7398-ACEC-0DD5-D6F8-AE76FEC72E7A}"/>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BC5BCAE-3B83-242B-E90F-24E0E2447230}"/>
              </a:ext>
            </a:extLst>
          </p:cNvPr>
          <p:cNvSpPr>
            <a:spLocks noGrp="1"/>
          </p:cNvSpPr>
          <p:nvPr>
            <p:ph type="body" sz="quarter" idx="32"/>
          </p:nvPr>
        </p:nvSpPr>
        <p:spPr/>
        <p:txBody>
          <a:bodyPr/>
          <a:lstStyle/>
          <a:p>
            <a:pPr indent="0">
              <a:buNone/>
            </a:pPr>
            <a:r>
              <a:rPr lang="en-US" altLang="zh-CN" b="1" dirty="0"/>
              <a:t>GPU FP4</a:t>
            </a:r>
          </a:p>
        </p:txBody>
      </p:sp>
      <p:pic>
        <p:nvPicPr>
          <p:cNvPr id="18434" name="Picture 2">
            <a:extLst>
              <a:ext uri="{FF2B5EF4-FFF2-40B4-BE49-F238E27FC236}">
                <a16:creationId xmlns:a16="http://schemas.microsoft.com/office/drawing/2014/main" id="{F36C35AE-9EEC-938A-CFF8-1307B88F67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479" y="1037929"/>
            <a:ext cx="8734809" cy="488262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06B12A82-AD2B-3976-4313-12613EE6929F}"/>
              </a:ext>
            </a:extLst>
          </p:cNvPr>
          <p:cNvSpPr txBox="1"/>
          <p:nvPr/>
        </p:nvSpPr>
        <p:spPr>
          <a:xfrm>
            <a:off x="1077406" y="5989935"/>
            <a:ext cx="8307755" cy="646331"/>
          </a:xfrm>
          <a:prstGeom prst="rect">
            <a:avLst/>
          </a:prstGeom>
          <a:noFill/>
        </p:spPr>
        <p:txBody>
          <a:bodyPr wrap="square">
            <a:spAutoFit/>
          </a:bodyPr>
          <a:lstStyle/>
          <a:p>
            <a:r>
              <a:rPr lang="zh-CN" altLang="en-US" dirty="0">
                <a:solidFill>
                  <a:schemeClr val="bg1"/>
                </a:solidFill>
              </a:rPr>
              <a:t>如果都是 </a:t>
            </a:r>
            <a:r>
              <a:rPr lang="en-US" altLang="zh-CN" dirty="0">
                <a:solidFill>
                  <a:schemeClr val="bg1"/>
                </a:solidFill>
              </a:rPr>
              <a:t>FP8</a:t>
            </a:r>
            <a:r>
              <a:rPr lang="zh-CN" altLang="en-US" dirty="0">
                <a:solidFill>
                  <a:schemeClr val="bg1"/>
                </a:solidFill>
              </a:rPr>
              <a:t>，B200 相对于 H200 提升在 2.3 倍左右。</a:t>
            </a:r>
            <a:endParaRPr lang="en-US" altLang="zh-CN" dirty="0">
              <a:solidFill>
                <a:schemeClr val="bg1"/>
              </a:solidFill>
            </a:endParaRPr>
          </a:p>
          <a:p>
            <a:r>
              <a:rPr lang="zh-CN" altLang="en-US" dirty="0">
                <a:solidFill>
                  <a:schemeClr val="bg1"/>
                </a:solidFill>
              </a:rPr>
              <a:t>如果 B200用 新支持的 FP4，而 H200 用 FP8对比，提升 3 倍左右。</a:t>
            </a:r>
          </a:p>
        </p:txBody>
      </p:sp>
    </p:spTree>
    <p:extLst>
      <p:ext uri="{BB962C8B-B14F-4D97-AF65-F5344CB8AC3E}">
        <p14:creationId xmlns:p14="http://schemas.microsoft.com/office/powerpoint/2010/main" val="1542788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092A2-4F3B-B31D-194D-78B9031869E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CB67B37-2E05-CDAA-81F1-75E04D205978}"/>
              </a:ext>
            </a:extLst>
          </p:cNvPr>
          <p:cNvSpPr>
            <a:spLocks noGrp="1"/>
          </p:cNvSpPr>
          <p:nvPr>
            <p:ph type="body" sz="quarter" idx="32"/>
          </p:nvPr>
        </p:nvSpPr>
        <p:spPr/>
        <p:txBody>
          <a:bodyPr/>
          <a:lstStyle/>
          <a:p>
            <a:pPr indent="0">
              <a:buNone/>
            </a:pPr>
            <a:r>
              <a:rPr lang="en-US" altLang="zh-CN" dirty="0"/>
              <a:t>AI Pipelines for Inference </a:t>
            </a:r>
            <a:endParaRPr lang="zh-CN" altLang="en-US" dirty="0"/>
          </a:p>
        </p:txBody>
      </p:sp>
      <p:pic>
        <p:nvPicPr>
          <p:cNvPr id="5" name="图片 4" descr="图示, 日程表&#10;&#10;描述已自动生成">
            <a:extLst>
              <a:ext uri="{FF2B5EF4-FFF2-40B4-BE49-F238E27FC236}">
                <a16:creationId xmlns:a16="http://schemas.microsoft.com/office/drawing/2014/main" id="{6527A9D1-C65E-3D4C-C48F-FC3CE0F62C04}"/>
              </a:ext>
            </a:extLst>
          </p:cNvPr>
          <p:cNvPicPr>
            <a:picLocks noChangeAspect="1"/>
          </p:cNvPicPr>
          <p:nvPr/>
        </p:nvPicPr>
        <p:blipFill>
          <a:blip r:embed="rId2">
            <a:extLst>
              <a:ext uri="{28A0092B-C50C-407E-A947-70E740481C1C}">
                <a14:useLocalDpi xmlns:a14="http://schemas.microsoft.com/office/drawing/2010/main" val="0"/>
              </a:ext>
            </a:extLst>
          </a:blip>
          <a:srcRect t="13453"/>
          <a:stretch/>
        </p:blipFill>
        <p:spPr>
          <a:xfrm>
            <a:off x="0" y="939521"/>
            <a:ext cx="12192000" cy="5895341"/>
          </a:xfrm>
          <a:prstGeom prst="rect">
            <a:avLst/>
          </a:prstGeom>
        </p:spPr>
      </p:pic>
    </p:spTree>
    <p:extLst>
      <p:ext uri="{BB962C8B-B14F-4D97-AF65-F5344CB8AC3E}">
        <p14:creationId xmlns:p14="http://schemas.microsoft.com/office/powerpoint/2010/main" val="3446290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F2069C5-7B5A-6BE3-501C-0F518337D485}"/>
              </a:ext>
            </a:extLst>
          </p:cNvPr>
          <p:cNvSpPr>
            <a:spLocks noGrp="1"/>
          </p:cNvSpPr>
          <p:nvPr>
            <p:ph type="body" sz="quarter" idx="32"/>
          </p:nvPr>
        </p:nvSpPr>
        <p:spPr/>
        <p:txBody>
          <a:bodyPr/>
          <a:lstStyle/>
          <a:p>
            <a:pPr indent="0" algn="l">
              <a:spcBef>
                <a:spcPts val="2400"/>
              </a:spcBef>
              <a:spcAft>
                <a:spcPts val="1800"/>
              </a:spcAft>
              <a:buNone/>
            </a:pPr>
            <a:r>
              <a:rPr lang="en-US" altLang="zh-CN" b="1" i="0" dirty="0">
                <a:solidFill>
                  <a:srgbClr val="1E1E1E"/>
                </a:solidFill>
                <a:effectLst/>
                <a:latin typeface="-apple-system"/>
              </a:rPr>
              <a:t>Performance of LLM Inference</a:t>
            </a:r>
            <a:r>
              <a:rPr lang="zh-CN" altLang="en-US" b="1" i="0" dirty="0">
                <a:solidFill>
                  <a:srgbClr val="1E1E1E"/>
                </a:solidFill>
                <a:effectLst/>
                <a:latin typeface="-apple-system"/>
              </a:rPr>
              <a:t>（</a:t>
            </a:r>
            <a:r>
              <a:rPr lang="en-US" altLang="zh-CN" b="1" i="0" dirty="0">
                <a:solidFill>
                  <a:srgbClr val="1E1E1E"/>
                </a:solidFill>
                <a:effectLst/>
                <a:latin typeface="-apple-system"/>
              </a:rPr>
              <a:t>Software</a:t>
            </a:r>
            <a:r>
              <a:rPr lang="zh-CN" altLang="en-US" b="1" i="0" dirty="0">
                <a:solidFill>
                  <a:srgbClr val="1E1E1E"/>
                </a:solidFill>
                <a:effectLst/>
                <a:latin typeface="-apple-system"/>
              </a:rPr>
              <a:t>）</a:t>
            </a:r>
            <a:r>
              <a:rPr lang="en-US" altLang="zh-CN" b="1" i="0" dirty="0">
                <a:solidFill>
                  <a:srgbClr val="1E1E1E"/>
                </a:solidFill>
                <a:effectLst/>
                <a:latin typeface="-apple-system"/>
              </a:rPr>
              <a:t>: Three-Layer Approach</a:t>
            </a:r>
          </a:p>
        </p:txBody>
      </p:sp>
      <p:sp>
        <p:nvSpPr>
          <p:cNvPr id="6" name="文本框 5">
            <a:extLst>
              <a:ext uri="{FF2B5EF4-FFF2-40B4-BE49-F238E27FC236}">
                <a16:creationId xmlns:a16="http://schemas.microsoft.com/office/drawing/2014/main" id="{E61A4D34-E9D3-DC95-6150-EE852A9032B2}"/>
              </a:ext>
            </a:extLst>
          </p:cNvPr>
          <p:cNvSpPr txBox="1"/>
          <p:nvPr/>
        </p:nvSpPr>
        <p:spPr>
          <a:xfrm>
            <a:off x="547635" y="1446406"/>
            <a:ext cx="10580914" cy="3657411"/>
          </a:xfrm>
          <a:prstGeom prst="rect">
            <a:avLst/>
          </a:prstGeom>
          <a:noFill/>
        </p:spPr>
        <p:txBody>
          <a:bodyPr wrap="square">
            <a:spAutoFit/>
          </a:bodyPr>
          <a:lstStyle/>
          <a:p>
            <a:pPr algn="l">
              <a:spcBef>
                <a:spcPts val="375"/>
              </a:spcBef>
              <a:spcAft>
                <a:spcPts val="1500"/>
              </a:spcAft>
            </a:pPr>
            <a:r>
              <a:rPr lang="en-US" altLang="zh-CN" sz="2000" b="1" i="0" dirty="0">
                <a:solidFill>
                  <a:srgbClr val="1F1F1F"/>
                </a:solidFill>
                <a:effectLst/>
                <a:latin typeface="-apple-system"/>
              </a:rPr>
              <a:t>Open-Source Models</a:t>
            </a:r>
            <a:r>
              <a:rPr lang="en-US" altLang="zh-CN" sz="2000" b="0" i="0" dirty="0">
                <a:solidFill>
                  <a:srgbClr val="1F1F1F"/>
                </a:solidFill>
                <a:effectLst/>
                <a:latin typeface="-apple-system"/>
              </a:rPr>
              <a:t>: The foundation of AI applications, where model optimizations such as model architecture, Grouped Query Attention (GQA), distillation and adapter finetuning techniques improvements enhance performance and adaptability. </a:t>
            </a:r>
            <a:r>
              <a:rPr lang="en-US" altLang="zh-CN" sz="2000" dirty="0">
                <a:solidFill>
                  <a:srgbClr val="1F1F1F"/>
                </a:solidFill>
                <a:latin typeface="-apple-system"/>
              </a:rPr>
              <a:t>e.g. </a:t>
            </a:r>
            <a:r>
              <a:rPr lang="en-US" altLang="zh-CN" sz="2000" b="1" i="0" dirty="0" err="1">
                <a:solidFill>
                  <a:schemeClr val="accent1"/>
                </a:solidFill>
                <a:effectLst/>
                <a:latin typeface="-apple-system"/>
              </a:rPr>
              <a:t>DeepSeek</a:t>
            </a:r>
            <a:r>
              <a:rPr lang="en-US" altLang="zh-CN" sz="2000" b="1" i="0" dirty="0">
                <a:solidFill>
                  <a:schemeClr val="accent1"/>
                </a:solidFill>
                <a:effectLst/>
                <a:latin typeface="-apple-system"/>
              </a:rPr>
              <a:t>, Qwen, Llama</a:t>
            </a:r>
          </a:p>
          <a:p>
            <a:pPr algn="l">
              <a:spcBef>
                <a:spcPts val="375"/>
              </a:spcBef>
              <a:spcAft>
                <a:spcPts val="1500"/>
              </a:spcAft>
            </a:pPr>
            <a:r>
              <a:rPr lang="en-US" altLang="zh-CN" sz="2000" b="1" i="0" dirty="0">
                <a:solidFill>
                  <a:srgbClr val="1F1F1F"/>
                </a:solidFill>
                <a:effectLst/>
                <a:latin typeface="-apple-system"/>
              </a:rPr>
              <a:t>Inference Engines: </a:t>
            </a:r>
            <a:r>
              <a:rPr lang="en-US" altLang="zh-CN" sz="2000" b="0" i="0" dirty="0">
                <a:solidFill>
                  <a:srgbClr val="1F1F1F"/>
                </a:solidFill>
                <a:effectLst/>
                <a:latin typeface="-apple-system"/>
              </a:rPr>
              <a:t>These provide efficient execution, KV cache management, model parallelism, attention optimization, and other optimizations that improve model serving performance</a:t>
            </a:r>
            <a:r>
              <a:rPr lang="en-US" altLang="zh-CN" sz="2000" dirty="0">
                <a:solidFill>
                  <a:srgbClr val="1F1F1F"/>
                </a:solidFill>
                <a:latin typeface="-apple-system"/>
              </a:rPr>
              <a:t>. e.g. </a:t>
            </a:r>
            <a:r>
              <a:rPr lang="en-US" altLang="zh-CN" sz="2000" b="1" i="0" dirty="0" err="1">
                <a:solidFill>
                  <a:schemeClr val="accent1"/>
                </a:solidFill>
                <a:effectLst/>
                <a:latin typeface="-apple-system"/>
              </a:rPr>
              <a:t>vLLM</a:t>
            </a:r>
            <a:r>
              <a:rPr lang="en-US" altLang="zh-CN" sz="2000" b="1" i="0" dirty="0">
                <a:solidFill>
                  <a:schemeClr val="accent1"/>
                </a:solidFill>
                <a:effectLst/>
                <a:latin typeface="-apple-system"/>
              </a:rPr>
              <a:t>, </a:t>
            </a:r>
            <a:r>
              <a:rPr lang="en-US" altLang="zh-CN" sz="2000" b="1" i="0" dirty="0" err="1">
                <a:solidFill>
                  <a:schemeClr val="accent1"/>
                </a:solidFill>
                <a:effectLst/>
                <a:latin typeface="-apple-system"/>
              </a:rPr>
              <a:t>Sglang</a:t>
            </a:r>
            <a:endParaRPr lang="en-US" altLang="zh-CN" sz="2000" b="1" i="0" dirty="0">
              <a:solidFill>
                <a:schemeClr val="accent1"/>
              </a:solidFill>
              <a:effectLst/>
              <a:latin typeface="-apple-system"/>
            </a:endParaRPr>
          </a:p>
          <a:p>
            <a:pPr>
              <a:spcBef>
                <a:spcPts val="375"/>
              </a:spcBef>
              <a:spcAft>
                <a:spcPts val="1500"/>
              </a:spcAft>
            </a:pPr>
            <a:r>
              <a:rPr lang="en-US" altLang="zh-CN" sz="2000" b="1" i="0" dirty="0">
                <a:solidFill>
                  <a:srgbClr val="1F1F1F"/>
                </a:solidFill>
                <a:effectLst/>
                <a:latin typeface="-apple-system"/>
              </a:rPr>
              <a:t>System-Level Orchestration </a:t>
            </a:r>
            <a:r>
              <a:rPr lang="en-US" altLang="zh-CN" sz="2000" b="0" i="0" dirty="0">
                <a:solidFill>
                  <a:srgbClr val="1F1F1F"/>
                </a:solidFill>
                <a:effectLst/>
                <a:latin typeface="-apple-system"/>
              </a:rPr>
              <a:t>: The often-overlooked layer that determines real-world cost efficiency and scalability by handling resource scheduling, autoscaling, cache-aware routing, heterogeneity management, and multi-cluster or region resource </a:t>
            </a:r>
            <a:r>
              <a:rPr lang="en-US" altLang="zh-CN" sz="2000" dirty="0">
                <a:solidFill>
                  <a:srgbClr val="1F1F1F"/>
                </a:solidFill>
                <a:latin typeface="-apple-system"/>
              </a:rPr>
              <a:t>optimization. e.g. </a:t>
            </a:r>
            <a:r>
              <a:rPr lang="en-US" altLang="zh-CN" sz="2000" b="1" i="0" dirty="0" err="1">
                <a:solidFill>
                  <a:schemeClr val="accent1"/>
                </a:solidFill>
                <a:effectLst/>
                <a:latin typeface="-apple-system"/>
              </a:rPr>
              <a:t>nvidia</a:t>
            </a:r>
            <a:r>
              <a:rPr lang="en-US" altLang="zh-CN" sz="2000" b="1" i="0" dirty="0">
                <a:solidFill>
                  <a:schemeClr val="accent1"/>
                </a:solidFill>
                <a:effectLst/>
                <a:latin typeface="-apple-system"/>
              </a:rPr>
              <a:t> dynamo, </a:t>
            </a:r>
            <a:r>
              <a:rPr lang="en-US" altLang="zh-CN" sz="2000" b="1" i="0" dirty="0" err="1">
                <a:solidFill>
                  <a:schemeClr val="accent1"/>
                </a:solidFill>
                <a:effectLst/>
                <a:latin typeface="-apple-system"/>
              </a:rPr>
              <a:t>vllm</a:t>
            </a:r>
            <a:r>
              <a:rPr lang="en-US" altLang="zh-CN" sz="2000" b="1" i="0" dirty="0">
                <a:solidFill>
                  <a:schemeClr val="accent1"/>
                </a:solidFill>
                <a:effectLst/>
                <a:latin typeface="-apple-system"/>
              </a:rPr>
              <a:t> production stack, </a:t>
            </a:r>
            <a:r>
              <a:rPr lang="en-US" altLang="zh-CN" sz="2000" b="1" i="0" dirty="0" err="1">
                <a:solidFill>
                  <a:schemeClr val="accent1"/>
                </a:solidFill>
                <a:effectLst/>
                <a:latin typeface="-apple-system"/>
              </a:rPr>
              <a:t>vllm</a:t>
            </a:r>
            <a:r>
              <a:rPr lang="en-US" altLang="zh-CN" sz="2000" b="1" i="0" dirty="0">
                <a:solidFill>
                  <a:schemeClr val="accent1"/>
                </a:solidFill>
                <a:effectLst/>
                <a:latin typeface="-apple-system"/>
              </a:rPr>
              <a:t> </a:t>
            </a:r>
            <a:r>
              <a:rPr lang="en-US" altLang="zh-CN" sz="2000" b="1" i="0" dirty="0" err="1">
                <a:solidFill>
                  <a:schemeClr val="accent1"/>
                </a:solidFill>
                <a:effectLst/>
                <a:latin typeface="-apple-system"/>
              </a:rPr>
              <a:t>aibrix</a:t>
            </a:r>
            <a:r>
              <a:rPr lang="en-US" altLang="zh-CN" sz="2000" b="1" i="0" dirty="0">
                <a:solidFill>
                  <a:schemeClr val="accent1"/>
                </a:solidFill>
                <a:effectLst/>
                <a:latin typeface="-apple-system"/>
              </a:rPr>
              <a:t>, </a:t>
            </a:r>
            <a:r>
              <a:rPr lang="en-US" altLang="zh-CN" sz="2000" b="1" dirty="0" err="1">
                <a:solidFill>
                  <a:schemeClr val="accent1"/>
                </a:solidFill>
                <a:latin typeface="-apple-system"/>
              </a:rPr>
              <a:t>llmaz</a:t>
            </a:r>
            <a:r>
              <a:rPr lang="en-US" altLang="zh-CN" sz="2000" b="1" dirty="0">
                <a:solidFill>
                  <a:schemeClr val="accent1"/>
                </a:solidFill>
                <a:latin typeface="-apple-system"/>
              </a:rPr>
              <a:t> </a:t>
            </a:r>
          </a:p>
        </p:txBody>
      </p:sp>
      <p:sp>
        <p:nvSpPr>
          <p:cNvPr id="8" name="文本框 7">
            <a:extLst>
              <a:ext uri="{FF2B5EF4-FFF2-40B4-BE49-F238E27FC236}">
                <a16:creationId xmlns:a16="http://schemas.microsoft.com/office/drawing/2014/main" id="{64EE97BE-AA9D-214E-14C3-3D8C85FD5449}"/>
              </a:ext>
            </a:extLst>
          </p:cNvPr>
          <p:cNvSpPr txBox="1"/>
          <p:nvPr/>
        </p:nvSpPr>
        <p:spPr>
          <a:xfrm>
            <a:off x="607924" y="6383774"/>
            <a:ext cx="9004579" cy="261610"/>
          </a:xfrm>
          <a:prstGeom prst="rect">
            <a:avLst/>
          </a:prstGeom>
          <a:noFill/>
        </p:spPr>
        <p:txBody>
          <a:bodyPr wrap="square">
            <a:spAutoFit/>
          </a:bodyPr>
          <a:lstStyle/>
          <a:p>
            <a:r>
              <a:rPr lang="zh-CN" altLang="en-US" sz="1100" dirty="0">
                <a:solidFill>
                  <a:schemeClr val="bg1"/>
                </a:solidFill>
              </a:rPr>
              <a:t>https://aibrix.github.io/posts/2025-02-20-vllm-control-plane/#three-layer-approach-open-source-model-vllm-and-aibrix</a:t>
            </a:r>
          </a:p>
        </p:txBody>
      </p:sp>
    </p:spTree>
    <p:extLst>
      <p:ext uri="{BB962C8B-B14F-4D97-AF65-F5344CB8AC3E}">
        <p14:creationId xmlns:p14="http://schemas.microsoft.com/office/powerpoint/2010/main" val="55044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占位符 32">
            <a:extLst>
              <a:ext uri="{FF2B5EF4-FFF2-40B4-BE49-F238E27FC236}">
                <a16:creationId xmlns:a16="http://schemas.microsoft.com/office/drawing/2014/main" id="{FB643E7A-F839-5DB6-9089-47FB5A5D2F16}"/>
              </a:ext>
            </a:extLst>
          </p:cNvPr>
          <p:cNvSpPr>
            <a:spLocks noGrp="1"/>
          </p:cNvSpPr>
          <p:nvPr>
            <p:ph type="body" sz="quarter" idx="13"/>
          </p:nvPr>
        </p:nvSpPr>
        <p:spPr/>
        <p:txBody>
          <a:bodyPr/>
          <a:lstStyle/>
          <a:p>
            <a:r>
              <a:rPr lang="en-GB" altLang="zh-CN">
                <a:ea typeface="+mn-ea"/>
                <a:cs typeface="+mn-ea"/>
                <a:sym typeface="+mn-lt"/>
              </a:rPr>
              <a:t>Thanks.</a:t>
            </a:r>
          </a:p>
        </p:txBody>
      </p:sp>
    </p:spTree>
    <p:custDataLst>
      <p:tags r:id="rId1"/>
    </p:custDataLst>
    <p:extLst>
      <p:ext uri="{BB962C8B-B14F-4D97-AF65-F5344CB8AC3E}">
        <p14:creationId xmlns:p14="http://schemas.microsoft.com/office/powerpoint/2010/main" val="24465438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3f3e0f00-c2ec-49b9-8b3e-8f2bdc042e4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heme/theme1.xml><?xml version="1.0" encoding="utf-8"?>
<a:theme xmlns:a="http://schemas.openxmlformats.org/drawingml/2006/main" name="Dark_default">
  <a:themeElements>
    <a:clrScheme name="DC_Color">
      <a:dk1>
        <a:srgbClr val="000000"/>
      </a:dk1>
      <a:lt1>
        <a:srgbClr val="FFFFFF"/>
      </a:lt1>
      <a:dk2>
        <a:srgbClr val="000000"/>
      </a:dk2>
      <a:lt2>
        <a:srgbClr val="BBBBBB"/>
      </a:lt2>
      <a:accent1>
        <a:srgbClr val="0FD05D"/>
      </a:accent1>
      <a:accent2>
        <a:srgbClr val="168DC1"/>
      </a:accent2>
      <a:accent3>
        <a:srgbClr val="548857"/>
      </a:accent3>
      <a:accent4>
        <a:srgbClr val="FFD858"/>
      </a:accent4>
      <a:accent5>
        <a:srgbClr val="FFA358"/>
      </a:accent5>
      <a:accent6>
        <a:srgbClr val="FF5858"/>
      </a:accent6>
      <a:hlink>
        <a:srgbClr val="0FD05D"/>
      </a:hlink>
      <a:folHlink>
        <a:srgbClr val="087033"/>
      </a:folHlink>
    </a:clrScheme>
    <a:fontScheme name="jtlklqiu">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7934b4b-eba6-486d-bfc1-4b8e3fe39092" xsi:nil="true"/>
    <lcf76f155ced4ddcb4097134ff3c332f xmlns="0a5c0dea-e5d7-4228-9256-3793bb42faa5">
      <Terms xmlns="http://schemas.microsoft.com/office/infopath/2007/PartnerControls"/>
    </lcf76f155ced4ddcb4097134ff3c332f>
    <OneNoteFluid_FileOrder xmlns="0a5c0dea-e5d7-4228-9256-3793bb42fa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443A8EF62DE444B1FF07917E22EF72" ma:contentTypeVersion="15" ma:contentTypeDescription="Create a new document." ma:contentTypeScope="" ma:versionID="93a012c9a81027335424ba9f7b4858de">
  <xsd:schema xmlns:xsd="http://www.w3.org/2001/XMLSchema" xmlns:xs="http://www.w3.org/2001/XMLSchema" xmlns:p="http://schemas.microsoft.com/office/2006/metadata/properties" xmlns:ns2="0a5c0dea-e5d7-4228-9256-3793bb42faa5" xmlns:ns3="97934b4b-eba6-486d-bfc1-4b8e3fe39092" targetNamespace="http://schemas.microsoft.com/office/2006/metadata/properties" ma:root="true" ma:fieldsID="9a709ec72f4fcd18515a248f36769751" ns2:_="" ns3:_="">
    <xsd:import namespace="0a5c0dea-e5d7-4228-9256-3793bb42faa5"/>
    <xsd:import namespace="97934b4b-eba6-486d-bfc1-4b8e3fe39092"/>
    <xsd:element name="properties">
      <xsd:complexType>
        <xsd:sequence>
          <xsd:element name="documentManagement">
            <xsd:complexType>
              <xsd:all>
                <xsd:element ref="ns2:OneNoteFluid_FileOrder" minOccurs="0"/>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5c0dea-e5d7-4228-9256-3793bb42faa5" elementFormDefault="qualified">
    <xsd:import namespace="http://schemas.microsoft.com/office/2006/documentManagement/types"/>
    <xsd:import namespace="http://schemas.microsoft.com/office/infopath/2007/PartnerControls"/>
    <xsd:element name="OneNoteFluid_FileOrder" ma:index="8" nillable="true" ma:displayName="OneNoteFluid_FileOrder" ma:internalName="OneNoteFluid_FileOrder">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1" nillable="true" ma:displayName="MediaServiceDateTaken" ma:hidden="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7934b4b-eba6-486d-bfc1-4b8e3fe3909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a885aa0b-334b-483f-9125-6409c6335a4b}" ma:internalName="TaxCatchAll" ma:showField="CatchAllData" ma:web="97934b4b-eba6-486d-bfc1-4b8e3fe390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5CEE16-194D-4816-A17B-B0DBA9F186AD}">
  <ds:schemaRefs>
    <ds:schemaRef ds:uri="http://schemas.microsoft.com/sharepoint/v3/contenttype/forms"/>
  </ds:schemaRefs>
</ds:datastoreItem>
</file>

<file path=customXml/itemProps2.xml><?xml version="1.0" encoding="utf-8"?>
<ds:datastoreItem xmlns:ds="http://schemas.openxmlformats.org/officeDocument/2006/customXml" ds:itemID="{B5982EC3-A18D-414E-8354-23ECFA715EF3}">
  <ds:schemaRefs>
    <ds:schemaRef ds:uri="0a5c0dea-e5d7-4228-9256-3793bb42faa5"/>
    <ds:schemaRef ds:uri="97934b4b-eba6-486d-bfc1-4b8e3fe3909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1FD02C7-79D6-4D4A-A21F-2D06C1A7B947}">
  <ds:schemaRefs>
    <ds:schemaRef ds:uri="0a5c0dea-e5d7-4228-9256-3793bb42faa5"/>
    <ds:schemaRef ds:uri="97934b4b-eba6-486d-bfc1-4b8e3fe3909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iSlide</Template>
  <TotalTime>3147</TotalTime>
  <Words>2849</Words>
  <Application>Microsoft Office PowerPoint</Application>
  <PresentationFormat>宽屏</PresentationFormat>
  <Paragraphs>455</Paragraphs>
  <Slides>36</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-apple-system</vt:lpstr>
      <vt:lpstr>Google Sans</vt:lpstr>
      <vt:lpstr>Google Sans Text</vt:lpstr>
      <vt:lpstr>inherit</vt:lpstr>
      <vt:lpstr>NVIDIA Sans</vt:lpstr>
      <vt:lpstr>PingFang SC</vt:lpstr>
      <vt:lpstr>ui-monospace</vt:lpstr>
      <vt:lpstr>微软雅黑</vt:lpstr>
      <vt:lpstr>微软雅黑</vt:lpstr>
      <vt:lpstr>Arial</vt:lpstr>
      <vt:lpstr>Open Sans</vt:lpstr>
      <vt:lpstr>Roboto</vt:lpstr>
      <vt:lpstr>Dark_default</vt:lpstr>
      <vt:lpstr>深入浅出讲解 DeepSeek + K8S 分布式推理</vt:lpstr>
      <vt:lpstr>目录</vt:lpstr>
      <vt:lpstr>Kubernetes 分布式推理</vt:lpstr>
      <vt:lpstr>PowerPoint 演示文稿</vt:lpstr>
      <vt:lpstr>PowerPoint 演示文稿</vt:lpstr>
      <vt:lpstr>Kubernetes 是高效管理 AI 基础设施的行业标准</vt:lpstr>
      <vt:lpstr>PowerPoint 演示文稿</vt:lpstr>
      <vt:lpstr>K8S WG-Serving 工作组核心贡献</vt:lpstr>
      <vt:lpstr>PowerPoint 演示文稿</vt:lpstr>
      <vt:lpstr>Gen-AI inference aware Kubernetes</vt:lpstr>
      <vt:lpstr>LeaderWorkerSet (LWS)</vt:lpstr>
      <vt:lpstr>Dynamic Resource Allocation (DRA) - Challenge</vt:lpstr>
      <vt:lpstr>Dynamic Resource Allocation (DRA) - Solution</vt:lpstr>
      <vt:lpstr>Gateway API Inference Extension</vt:lpstr>
      <vt:lpstr>Others Works</vt:lpstr>
      <vt:lpstr>LeaderWorkerSet (LWS) 深度解析</vt:lpstr>
      <vt:lpstr>LWS - 分布式 DeepSeek 推理 最广泛 的 实践</vt:lpstr>
      <vt:lpstr>使用 LWS 创建一个 分布式 DeepSeek 推理</vt:lpstr>
      <vt:lpstr>LeaderWorkerSet Features</vt:lpstr>
      <vt:lpstr>Unique pod identity</vt:lpstr>
      <vt:lpstr>Auto Scale with HPA</vt:lpstr>
      <vt:lpstr>LLM autoscaling: GPU Metrics vs LLM Merics </vt:lpstr>
      <vt:lpstr>Failure Handling </vt:lpstr>
      <vt:lpstr>Topology aware scheduling</vt:lpstr>
      <vt:lpstr>Rolling update</vt:lpstr>
      <vt:lpstr>SubGroup</vt:lpstr>
      <vt:lpstr>Kueue + LWS</vt:lpstr>
      <vt:lpstr>RoadMap</vt:lpstr>
      <vt:lpstr>技术演进和未来展望</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iSlide</dc:creator>
  <cp:lastModifiedBy>Kay Yan</cp:lastModifiedBy>
  <cp:revision>909</cp:revision>
  <cp:lastPrinted>2022-06-19T16:00:00Z</cp:lastPrinted>
  <dcterms:created xsi:type="dcterms:W3CDTF">2022-06-19T16:00:00Z</dcterms:created>
  <dcterms:modified xsi:type="dcterms:W3CDTF">2025-07-18T02:13:03Z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3f3e0f00-c2ec-49b9-8b3e-8f2bdc042e41</vt:lpwstr>
  </property>
  <property fmtid="{D5CDD505-2E9C-101B-9397-08002B2CF9AE}" pid="3" name="ContentTypeId">
    <vt:lpwstr>0x010100D1443A8EF62DE444B1FF07917E22EF72</vt:lpwstr>
  </property>
</Properties>
</file>